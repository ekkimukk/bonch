
<file path=[Content_Types].xml><?xml version="1.0" encoding="utf-8"?>
<Types xmlns="http://schemas.openxmlformats.org/package/2006/content-types">
  <Default Extension="xml" ContentType="application/xml"/>
  <Default Extension="wmf" ContentType="image/x-wmf"/>
  <Default Extension="bin" ContentType="application/vnd.openxmlformats-officedocument.oleObject"/>
  <Default Extension="rels" ContentType="application/vnd.openxmlformats-package.relationships+xml"/>
  <Default Extension="jpeg" ContentType="image/jpeg"/>
  <Default Extension="png" ContentType="image/png"/>
  <Override PartName="/ppt/notesSlides/notesSlide17.xml" ContentType="application/vnd.openxmlformats-officedocument.presentationml.notesSlide+xml"/>
  <Override PartName="/ppt/notesSlides/notesSlide1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2.xml" ContentType="application/vnd.openxmlformats-officedocument.presentationml.notesSlide+xml"/>
  <Override PartName="/ppt/notesSlides/notesSlide14.xml" ContentType="application/vnd.openxmlformats-officedocument.presentationml.notesSlide+xml"/>
  <Override PartName="/ppt/slides/slide5.xml" ContentType="application/vnd.openxmlformats-officedocument.presentationml.slide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5.xml" ContentType="application/vnd.openxmlformats-officedocument.presentationml.notesSlide+xml"/>
  <Override PartName="/ppt/slideLayouts/slideLayout1.xml" ContentType="application/vnd.openxmlformats-officedocument.presentationml.slideLayout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slides/slide17.xml" ContentType="application/vnd.openxmlformats-officedocument.presentationml.slide+xml"/>
  <Override PartName="/ppt/viewProps.xml" ContentType="application/vnd.openxmlformats-officedocument.presentationml.viewProps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3.xml" ContentType="application/vnd.openxmlformats-officedocument.presentationml.slide+xml"/>
  <Override PartName="/ppt/theme/theme1.xml" ContentType="application/vnd.openxmlformats-officedocument.theme+xml"/>
  <Override PartName="/ppt/slides/slide2.xml" ContentType="application/vnd.openxmlformats-officedocument.presentationml.slide+xml"/>
  <Override PartName="/ppt/slideMasters/slideMaster1.xml" ContentType="application/vnd.openxmlformats-officedocument.presentationml.slideMaster+xml"/>
  <Override PartName="/docProps/core.xml" ContentType="application/vnd.openxmlformats-package.core-properties+xml"/>
  <Override PartName="/ppt/slideLayouts/slideLayout2.xml" ContentType="application/vnd.openxmlformats-officedocument.presentationml.slideLayout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slides/slide13.xml" ContentType="application/vnd.openxmlformats-officedocument.presentationml.slide+xml"/>
  <Override PartName="/ppt/slides/slide1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notesSlides/notesSlide13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ableStyles.xml" ContentType="application/vnd.openxmlformats-officedocument.presentationml.tableStyles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6.xml" ContentType="application/vnd.openxmlformats-officedocument.presentationml.notesSlide+xml"/>
  <Override PartName="/ppt/presentation.xml" ContentType="application/vnd.openxmlformats-officedocument.presentationml.presentation.main+xml"/>
  <Override PartName="/ppt/notesSlides/notesSlide7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autoCompressPictures="0" showSpecialPlsOnTitleSld="0" strictFirstAndLastChars="0">
  <p:sldMasterIdLst>
    <p:sldMasterId id="2147483648" r:id="rId1"/>
  </p:sldMasterIdLst>
  <p:notesMasterIdLst>
    <p:notesMasterId r:id="rId21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>
              <a:solidFill>
                <a:schemeClr val="lt1"/>
              </a:solidFill>
            </a:ln>
          </a:left>
          <a:right>
            <a:ln w="12700">
              <a:solidFill>
                <a:schemeClr val="lt1"/>
              </a:solidFill>
            </a:ln>
          </a:right>
          <a:top>
            <a:ln w="12700">
              <a:solidFill>
                <a:schemeClr val="lt1"/>
              </a:solidFill>
            </a:ln>
          </a:top>
          <a:bottom>
            <a:ln w="12700">
              <a:solidFill>
                <a:schemeClr val="lt1"/>
              </a:solidFill>
            </a:ln>
          </a:bottom>
          <a:insideH>
            <a:ln w="12700">
              <a:solidFill>
                <a:schemeClr val="lt1"/>
              </a:solidFill>
            </a:ln>
          </a:insideH>
          <a:insideV>
            <a:ln w="12700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  <a:fill>
          <a:solidFill>
            <a:schemeClr val="accent1">
              <a:tint val="40000"/>
            </a:schemeClr>
          </a:solidFill>
        </a:fill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seCell>
      <a:tcStyle>
        <a:tcBdr/>
      </a:tcStyle>
    </a:seCell>
    <a:swCell>
      <a:tcStyle>
        <a:tcBdr/>
      </a:tcStyle>
    </a:swCell>
    <a:firstRow>
      <a:tcTxStyle b="on">
        <a:fontRef idx="minor">
          <a:prstClr val="black"/>
        </a:fontRef>
        <a:schemeClr val="lt1"/>
      </a:tcTxStyle>
      <a:tcStyle>
        <a:tcBdr>
          <a:bottom>
            <a:ln w="38100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  <a:neCell>
      <a:tcStyle>
        <a:tcBdr/>
      </a:tcStyle>
    </a:neCell>
    <a:nwCell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howGuides="1" snapToGrid="0">
      <p:cViewPr varScale="1">
        <p:scale>
          <a:sx n="110" d="100"/>
          <a:sy n="110" d="100"/>
        </p:scale>
        <p:origin x="78" y="78"/>
      </p:cViewPr>
      <p:guideLst>
        <p:guide pos="1652" orient="horz"/>
        <p:guide pos="2856"/>
      </p:guideLst>
    </p:cSldViewPr>
  </p:slideViewPr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 /><Relationship Id="rId23" Type="http://schemas.openxmlformats.org/officeDocument/2006/relationships/tableStyles" Target="tableStyles.xml" /><Relationship Id="rId24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51689371" name="Google Shape;3;n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381309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40219938" name="Google Shape;4;n"/>
          <p:cNvSpPr txBox="1">
            <a:spLocks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pPr>
              <a:defRPr/>
            </a:pPr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 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 ?>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 ?>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 ?>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 ?>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 ?>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49625922" name="Google Shape;24;gc4718ee165_0_36:notes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8637010" name="Google Shape;25;gc4718ee165_0_36:notes"/>
          <p:cNvSpPr txBox="1">
            <a:spLocks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08216242" name="Google Shape;31;ga236f8d042_0_0:notes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2837024" name="Google Shape;32;ga236f8d042_0_0:notes"/>
          <p:cNvSpPr txBox="1">
            <a:spLocks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29486941" name="Google Shape;31;ga236f8d042_0_0:notes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4032491" name="Google Shape;32;ga236f8d042_0_0:notes"/>
          <p:cNvSpPr txBox="1">
            <a:spLocks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87913186" name="Google Shape;31;ga236f8d042_0_0:notes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2627519" name="Google Shape;32;ga236f8d042_0_0:notes"/>
          <p:cNvSpPr txBox="1">
            <a:spLocks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46687240" name="Google Shape;31;ga236f8d042_0_0:notes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5740083" name="Google Shape;32;ga236f8d042_0_0:notes"/>
          <p:cNvSpPr txBox="1">
            <a:spLocks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3523267" name="Google Shape;31;ga236f8d042_0_0:notes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0072547" name="Google Shape;32;ga236f8d042_0_0:notes"/>
          <p:cNvSpPr txBox="1">
            <a:spLocks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42454769" name="Google Shape;31;ga236f8d042_0_0:notes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8002563" name="Google Shape;32;ga236f8d042_0_0:notes"/>
          <p:cNvSpPr txBox="1">
            <a:spLocks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4099488" name="Google Shape;31;ga236f8d042_0_0:notes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1010725" name="Google Shape;32;ga236f8d042_0_0:notes"/>
          <p:cNvSpPr txBox="1">
            <a:spLocks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01611602" name="Google Shape;31;ga236f8d042_0_0:notes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6381016" name="Google Shape;32;ga236f8d042_0_0:notes"/>
          <p:cNvSpPr txBox="1">
            <a:spLocks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24891947" name="Rectangle 8"/>
          <p:cNvSpPr>
            <a:spLocks noChangeArrowheads="1" noGrp="1"/>
          </p:cNvSpPr>
          <p:nvPr>
            <p:ph type="sldNum" sz="quarter"/>
          </p:nvPr>
        </p:nvSpPr>
        <p:spPr bwMode="auto">
          <a:prstGeom prst="rect">
            <a:avLst/>
          </a:prstGeom>
          <a:noFill/>
        </p:spPr>
        <p:txBody>
          <a:bodyPr/>
          <a:lstStyle>
            <a:lvl1pPr>
              <a:buClr>
                <a:srgbClr val="000000"/>
              </a:buClr>
              <a:buSzPct val="100000"/>
              <a:buFont typeface="Times New Roman"/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69" algn="l"/>
                <a:tab pos="6737350" algn="l"/>
                <a:tab pos="7186294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chemeClr val="bg1"/>
                </a:solidFill>
                <a:latin typeface="Arial"/>
                <a:ea typeface="Microsoft YaHei"/>
              </a:defRPr>
            </a:lvl1pPr>
            <a:lvl2pPr>
              <a:buClr>
                <a:srgbClr val="000000"/>
              </a:buClr>
              <a:buSzPct val="100000"/>
              <a:buFont typeface="Times New Roman"/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69" algn="l"/>
                <a:tab pos="6737350" algn="l"/>
                <a:tab pos="7186294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chemeClr val="bg1"/>
                </a:solidFill>
                <a:latin typeface="Arial"/>
                <a:ea typeface="Microsoft YaHei"/>
              </a:defRPr>
            </a:lvl2pPr>
            <a:lvl3pPr>
              <a:buClr>
                <a:srgbClr val="000000"/>
              </a:buClr>
              <a:buSzPct val="100000"/>
              <a:buFont typeface="Times New Roman"/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69" algn="l"/>
                <a:tab pos="6737350" algn="l"/>
                <a:tab pos="7186294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chemeClr val="bg1"/>
                </a:solidFill>
                <a:latin typeface="Arial"/>
                <a:ea typeface="Microsoft YaHei"/>
              </a:defRPr>
            </a:lvl3pPr>
            <a:lvl4pPr>
              <a:buClr>
                <a:srgbClr val="000000"/>
              </a:buClr>
              <a:buSzPct val="100000"/>
              <a:buFont typeface="Times New Roman"/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69" algn="l"/>
                <a:tab pos="6737350" algn="l"/>
                <a:tab pos="7186294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chemeClr val="bg1"/>
                </a:solidFill>
                <a:latin typeface="Arial"/>
                <a:ea typeface="Microsoft YaHei"/>
              </a:defRPr>
            </a:lvl4pPr>
            <a:lvl5pPr>
              <a:buClr>
                <a:srgbClr val="000000"/>
              </a:buClr>
              <a:buSzPct val="100000"/>
              <a:buFont typeface="Times New Roman"/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69" algn="l"/>
                <a:tab pos="6737350" algn="l"/>
                <a:tab pos="7186294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chemeClr val="bg1"/>
                </a:solidFill>
                <a:latin typeface="Arial"/>
                <a:ea typeface="Microsoft YaHei"/>
              </a:defRPr>
            </a:lvl5pPr>
            <a:lvl6pPr marL="2514600" indent="-228600" defTabSz="44958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Times New Roman"/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69" algn="l"/>
                <a:tab pos="6737350" algn="l"/>
                <a:tab pos="7186294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chemeClr val="bg1"/>
                </a:solidFill>
                <a:latin typeface="Arial"/>
                <a:ea typeface="Microsoft YaHei"/>
              </a:defRPr>
            </a:lvl6pPr>
            <a:lvl7pPr marL="2971800" indent="-228600" defTabSz="44958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Times New Roman"/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69" algn="l"/>
                <a:tab pos="6737350" algn="l"/>
                <a:tab pos="7186294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chemeClr val="bg1"/>
                </a:solidFill>
                <a:latin typeface="Arial"/>
                <a:ea typeface="Microsoft YaHei"/>
              </a:defRPr>
            </a:lvl7pPr>
            <a:lvl8pPr marL="3429000" indent="-228600" defTabSz="44958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Times New Roman"/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69" algn="l"/>
                <a:tab pos="6737350" algn="l"/>
                <a:tab pos="7186294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chemeClr val="bg1"/>
                </a:solidFill>
                <a:latin typeface="Arial"/>
                <a:ea typeface="Microsoft YaHei"/>
              </a:defRPr>
            </a:lvl8pPr>
            <a:lvl9pPr marL="3886200" indent="-228600" defTabSz="44958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Times New Roman"/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69" algn="l"/>
                <a:tab pos="6737350" algn="l"/>
                <a:tab pos="7186294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chemeClr val="bg1"/>
                </a:solidFill>
                <a:latin typeface="Arial"/>
                <a:ea typeface="Microsoft YaHei"/>
              </a:defRPr>
            </a:lvl9pPr>
          </a:lstStyle>
          <a:p>
            <a:pPr>
              <a:buClrTx/>
              <a:buFontTx/>
              <a:buNone/>
              <a:defRPr/>
            </a:pPr>
            <a:fld id="{C793D795-71B8-44C4-A7E3-2C6ACFD74DB8}" type="slidenum">
              <a:rPr lang="ru-RU">
                <a:solidFill>
                  <a:srgbClr val="000000"/>
                </a:solidFill>
              </a:rPr>
              <a:t>10</a:t>
            </a:fld>
            <a:endParaRPr lang="ru-RU">
              <a:solidFill>
                <a:srgbClr val="000000"/>
              </a:solidFill>
            </a:endParaRPr>
          </a:p>
        </p:txBody>
      </p:sp>
      <p:sp>
        <p:nvSpPr>
          <p:cNvPr id="1593342980" name="Rectangle 1"/>
          <p:cNvSpPr>
            <a:spLocks noChangeArrowheads="1" noChangeAspect="1" noGrp="1" noRo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269888073" name="Rectangle 2"/>
          <p:cNvSpPr>
            <a:spLocks noChangeArrowheads="1"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</p:spPr>
        <p:txBody>
          <a:bodyPr wrap="none" anchor="ctr"/>
          <a:lstStyle/>
          <a:p>
            <a:pPr>
              <a:defRPr/>
            </a:pPr>
            <a:endParaRPr lang="ru-RU">
              <a:latin typeface="Times New Roman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67238051" name="Google Shape;31;ga236f8d042_0_0:notes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0489311" name="Google Shape;32;ga236f8d042_0_0:notes"/>
          <p:cNvSpPr txBox="1">
            <a:spLocks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86169416" name="Google Shape;31;ga236f8d042_0_0:notes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3552201" name="Google Shape;32;ga236f8d042_0_0:notes"/>
          <p:cNvSpPr txBox="1">
            <a:spLocks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64168237" name="Google Shape;31;ga236f8d042_0_0:notes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7428960" name="Google Shape;32;ga236f8d042_0_0:notes"/>
          <p:cNvSpPr txBox="1">
            <a:spLocks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52458074" name="Google Shape;31;ga236f8d042_0_0:notes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7258891" name="Google Shape;32;ga236f8d042_0_0:notes"/>
          <p:cNvSpPr txBox="1">
            <a:spLocks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02983658" name="Google Shape;31;ga236f8d042_0_0:notes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5336451" name="Google Shape;32;ga236f8d042_0_0:notes"/>
          <p:cNvSpPr txBox="1">
            <a:spLocks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0025515" name="Google Shape;31;ga236f8d042_0_0:notes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7752169" name="Google Shape;32;ga236f8d042_0_0:notes"/>
          <p:cNvSpPr txBox="1">
            <a:spLocks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55674047" name="Google Shape;24;gc4718ee165_0_36:notes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1010342" name="Google Shape;25;gc4718ee165_0_36:notes"/>
          <p:cNvSpPr txBox="1">
            <a:spLocks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Title Orange" preserve="0" showMasterPhAnim="0" showMasterSp="0" type="tx" userDrawn="1">
  <p:cSld name="TITLE_AND_BODY">
    <p:bg>
      <p:bgPr shadeToTitle="0">
        <a:gradFill>
          <a:gsLst>
            <a:gs pos="0">
              <a:srgbClr val="F67F00"/>
            </a:gs>
            <a:gs pos="100000">
              <a:srgbClr val="FFAE3B"/>
            </a:gs>
          </a:gsLst>
          <a:lin ang="7465411" scaled="0"/>
        </a:gra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798448863" name="Google Shape;12;p2"/>
          <p:cNvPicPr/>
          <p:nvPr/>
        </p:nvPicPr>
        <p:blipFill rotWithShape="1">
          <a:blip r:embed="rId2"/>
          <a:srcRect l="0" t="59" r="0" b="58"/>
          <a:stretch/>
        </p:blipFill>
        <p:spPr bwMode="auto">
          <a:xfrm>
            <a:off x="333137" y="1118462"/>
            <a:ext cx="11934523" cy="4445077"/>
          </a:xfrm>
          <a:prstGeom prst="rect">
            <a:avLst/>
          </a:prstGeom>
          <a:noFill/>
          <a:ln>
            <a:noFill/>
          </a:ln>
        </p:spPr>
      </p:pic>
      <p:sp>
        <p:nvSpPr>
          <p:cNvPr id="1611633186" name="Google Shape;13;p2"/>
          <p:cNvSpPr txBox="1">
            <a:spLocks noGrp="1"/>
          </p:cNvSpPr>
          <p:nvPr>
            <p:ph type="title"/>
          </p:nvPr>
        </p:nvSpPr>
        <p:spPr bwMode="auto">
          <a:xfrm>
            <a:off x="448925" y="118500"/>
            <a:ext cx="5631300" cy="130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25" tIns="19025" rIns="19025" bIns="190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200"/>
              <a:buFont typeface="Arial"/>
              <a:buNone/>
              <a:defRPr sz="4200" b="0">
                <a:solidFill>
                  <a:srgbClr val="FFFFFF"/>
                </a:solidFill>
              </a:defRPr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E8913D"/>
              </a:buClr>
              <a:buSzPts val="100"/>
              <a:buNone/>
              <a:defRPr sz="800"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E8913D"/>
              </a:buClr>
              <a:buSzPts val="100"/>
              <a:buNone/>
              <a:defRPr sz="800"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E8913D"/>
              </a:buClr>
              <a:buSzPts val="100"/>
              <a:buNone/>
              <a:defRPr sz="800"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E8913D"/>
              </a:buClr>
              <a:buSzPts val="100"/>
              <a:buNone/>
              <a:defRPr sz="800"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E8913D"/>
              </a:buClr>
              <a:buSzPts val="100"/>
              <a:buNone/>
              <a:defRPr sz="800"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E8913D"/>
              </a:buClr>
              <a:buSzPts val="100"/>
              <a:buNone/>
              <a:defRPr sz="800"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E8913D"/>
              </a:buClr>
              <a:buSzPts val="100"/>
              <a:buNone/>
              <a:defRPr sz="800"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E8913D"/>
              </a:buClr>
              <a:buSzPts val="100"/>
              <a:buNone/>
              <a:defRPr sz="800"/>
            </a:lvl9pPr>
          </a:lstStyle>
          <a:p>
            <a:pPr>
              <a:defRPr/>
            </a:pPr>
            <a:endParaRPr/>
          </a:p>
        </p:txBody>
      </p:sp>
      <p:sp>
        <p:nvSpPr>
          <p:cNvPr id="1372512787" name="Google Shape;14;p2"/>
          <p:cNvSpPr txBox="1">
            <a:spLocks noGrp="1"/>
          </p:cNvSpPr>
          <p:nvPr>
            <p:ph type="body" idx="1"/>
          </p:nvPr>
        </p:nvSpPr>
        <p:spPr bwMode="auto">
          <a:xfrm>
            <a:off x="448922" y="1840706"/>
            <a:ext cx="78105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25" tIns="19025" rIns="19025" bIns="19025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Arial"/>
              <a:buNone/>
              <a:defRPr sz="2700">
                <a:solidFill>
                  <a:srgbClr val="FFFFFF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Arial"/>
              <a:buNone/>
              <a:defRPr sz="2700">
                <a:solidFill>
                  <a:srgbClr val="FFFFFF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Arial"/>
              <a:buNone/>
              <a:defRPr sz="2700">
                <a:solidFill>
                  <a:srgbClr val="FFFFFF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Arial"/>
              <a:buNone/>
              <a:defRPr sz="2700">
                <a:solidFill>
                  <a:srgbClr val="FFFFFF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Arial"/>
              <a:buNone/>
              <a:defRPr sz="2700">
                <a:solidFill>
                  <a:srgbClr val="FFFFFF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4D4E4F"/>
              </a:buClr>
              <a:buSzPts val="13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4D4E4F"/>
              </a:buClr>
              <a:buSzPts val="13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4D4E4F"/>
              </a:buClr>
              <a:buSzPts val="13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4D4E4F"/>
              </a:buClr>
              <a:buSzPts val="1300"/>
              <a:buNone/>
              <a:defRPr/>
            </a:lvl9pPr>
          </a:lstStyle>
          <a:p>
            <a:pPr>
              <a:defRPr/>
            </a:pPr>
            <a:endParaRPr/>
          </a:p>
        </p:txBody>
      </p:sp>
      <p:pic>
        <p:nvPicPr>
          <p:cNvPr id="1801851904" name="Google Shape;15;p2" descr="Image"/>
          <p:cNvPicPr/>
          <p:nvPr/>
        </p:nvPicPr>
        <p:blipFill rotWithShape="1">
          <a:blip r:embed="rId3"/>
          <a:stretch/>
        </p:blipFill>
        <p:spPr bwMode="auto">
          <a:xfrm>
            <a:off x="7072071" y="359811"/>
            <a:ext cx="1637378" cy="421928"/>
          </a:xfrm>
          <a:prstGeom prst="rect">
            <a:avLst/>
          </a:prstGeom>
          <a:noFill/>
          <a:ln>
            <a:noFill/>
          </a:ln>
        </p:spPr>
      </p:pic>
      <p:sp>
        <p:nvSpPr>
          <p:cNvPr id="218853555" name="Google Shape;16;p2"/>
          <p:cNvSpPr txBox="1">
            <a:spLocks noGrp="1"/>
          </p:cNvSpPr>
          <p:nvPr>
            <p:ph type="sldNum" idx="12"/>
          </p:nvPr>
        </p:nvSpPr>
        <p:spPr bwMode="auto">
          <a:xfrm>
            <a:off x="8709450" y="4822031"/>
            <a:ext cx="206100" cy="14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25" tIns="19025" rIns="19025" bIns="19025" anchor="t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E4F"/>
              </a:buClr>
              <a:buSzPts val="1100"/>
              <a:buFont typeface="Arial"/>
              <a:buNone/>
              <a:defRPr sz="1100" b="0">
                <a:solidFill>
                  <a:srgbClr val="4D4E4F"/>
                </a:solidFill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E4F"/>
              </a:buClr>
              <a:buSzPts val="1100"/>
              <a:buFont typeface="Arial"/>
              <a:buNone/>
              <a:defRPr sz="1100" b="0">
                <a:solidFill>
                  <a:srgbClr val="4D4E4F"/>
                </a:solidFill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E4F"/>
              </a:buClr>
              <a:buSzPts val="1100"/>
              <a:buFont typeface="Arial"/>
              <a:buNone/>
              <a:defRPr sz="1100" b="0">
                <a:solidFill>
                  <a:srgbClr val="4D4E4F"/>
                </a:solidFill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E4F"/>
              </a:buClr>
              <a:buSzPts val="1100"/>
              <a:buFont typeface="Arial"/>
              <a:buNone/>
              <a:defRPr sz="1100" b="0">
                <a:solidFill>
                  <a:srgbClr val="4D4E4F"/>
                </a:solidFill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E4F"/>
              </a:buClr>
              <a:buSzPts val="1100"/>
              <a:buFont typeface="Arial"/>
              <a:buNone/>
              <a:defRPr sz="1100" b="0">
                <a:solidFill>
                  <a:srgbClr val="4D4E4F"/>
                </a:solidFill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E4F"/>
              </a:buClr>
              <a:buSzPts val="1100"/>
              <a:buFont typeface="Arial"/>
              <a:buNone/>
              <a:defRPr sz="1100" b="0">
                <a:solidFill>
                  <a:srgbClr val="4D4E4F"/>
                </a:solidFill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E4F"/>
              </a:buClr>
              <a:buSzPts val="1100"/>
              <a:buFont typeface="Arial"/>
              <a:buNone/>
              <a:defRPr sz="1100" b="0">
                <a:solidFill>
                  <a:srgbClr val="4D4E4F"/>
                </a:solidFill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E4F"/>
              </a:buClr>
              <a:buSzPts val="1100"/>
              <a:buFont typeface="Arial"/>
              <a:buNone/>
              <a:defRPr sz="1100" b="0">
                <a:solidFill>
                  <a:srgbClr val="4D4E4F"/>
                </a:solidFill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E4F"/>
              </a:buClr>
              <a:buSzPts val="1100"/>
              <a:buFont typeface="Arial"/>
              <a:buNone/>
              <a:defRPr sz="1100" b="0">
                <a:solidFill>
                  <a:srgbClr val="4D4E4F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Content" preserve="0" showMasterPhAnim="0" showMasterSp="1" userDrawn="1">
  <p:cSld name="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46391170" name="Google Shape;18;p3"/>
          <p:cNvSpPr txBox="1">
            <a:spLocks noGrp="1"/>
          </p:cNvSpPr>
          <p:nvPr>
            <p:ph type="title"/>
          </p:nvPr>
        </p:nvSpPr>
        <p:spPr bwMode="auto">
          <a:xfrm>
            <a:off x="442927" y="337700"/>
            <a:ext cx="6256200" cy="44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25" tIns="19025" rIns="19025" bIns="190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F9400"/>
              </a:buClr>
              <a:buSzPts val="1300"/>
              <a:buNone/>
              <a:defRPr sz="2400">
                <a:solidFill>
                  <a:srgbClr val="FF9400"/>
                </a:solidFill>
              </a:defRPr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E8913D"/>
              </a:buClr>
              <a:buSzPts val="1300"/>
              <a:buNone/>
              <a:defRPr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E8913D"/>
              </a:buClr>
              <a:buSzPts val="1300"/>
              <a:buNone/>
              <a:defRPr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E8913D"/>
              </a:buClr>
              <a:buSzPts val="1300"/>
              <a:buNone/>
              <a:defRPr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E8913D"/>
              </a:buClr>
              <a:buSzPts val="1300"/>
              <a:buNone/>
              <a:defRPr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E8913D"/>
              </a:buClr>
              <a:buSzPts val="1300"/>
              <a:buNone/>
              <a:defRPr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E8913D"/>
              </a:buClr>
              <a:buSzPts val="1300"/>
              <a:buNone/>
              <a:defRPr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E8913D"/>
              </a:buClr>
              <a:buSzPts val="1300"/>
              <a:buNone/>
              <a:defRPr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E8913D"/>
              </a:buClr>
              <a:buSzPts val="13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402057267" name="Google Shape;19;p3"/>
          <p:cNvSpPr txBox="1">
            <a:spLocks noGrp="1"/>
          </p:cNvSpPr>
          <p:nvPr>
            <p:ph type="sldNum" idx="12"/>
          </p:nvPr>
        </p:nvSpPr>
        <p:spPr bwMode="auto">
          <a:xfrm>
            <a:off x="8704250" y="4816581"/>
            <a:ext cx="206100" cy="14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25" tIns="19025" rIns="19025" bIns="19025" anchor="t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E4F"/>
              </a:buClr>
              <a:buSzPts val="1100"/>
              <a:buFont typeface="Arial"/>
              <a:buNone/>
              <a:defRPr sz="1100" b="0">
                <a:solidFill>
                  <a:srgbClr val="4D4E4F"/>
                </a:solidFill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E4F"/>
              </a:buClr>
              <a:buSzPts val="1100"/>
              <a:buFont typeface="Arial"/>
              <a:buNone/>
              <a:defRPr sz="1100" b="0">
                <a:solidFill>
                  <a:srgbClr val="4D4E4F"/>
                </a:solidFill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E4F"/>
              </a:buClr>
              <a:buSzPts val="1100"/>
              <a:buFont typeface="Arial"/>
              <a:buNone/>
              <a:defRPr sz="1100" b="0">
                <a:solidFill>
                  <a:srgbClr val="4D4E4F"/>
                </a:solidFill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E4F"/>
              </a:buClr>
              <a:buSzPts val="1100"/>
              <a:buFont typeface="Arial"/>
              <a:buNone/>
              <a:defRPr sz="1100" b="0">
                <a:solidFill>
                  <a:srgbClr val="4D4E4F"/>
                </a:solidFill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E4F"/>
              </a:buClr>
              <a:buSzPts val="1100"/>
              <a:buFont typeface="Arial"/>
              <a:buNone/>
              <a:defRPr sz="1100" b="0">
                <a:solidFill>
                  <a:srgbClr val="4D4E4F"/>
                </a:solidFill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E4F"/>
              </a:buClr>
              <a:buSzPts val="1100"/>
              <a:buFont typeface="Arial"/>
              <a:buNone/>
              <a:defRPr sz="1100" b="0">
                <a:solidFill>
                  <a:srgbClr val="4D4E4F"/>
                </a:solidFill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E4F"/>
              </a:buClr>
              <a:buSzPts val="1100"/>
              <a:buFont typeface="Arial"/>
              <a:buNone/>
              <a:defRPr sz="1100" b="0">
                <a:solidFill>
                  <a:srgbClr val="4D4E4F"/>
                </a:solidFill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E4F"/>
              </a:buClr>
              <a:buSzPts val="1100"/>
              <a:buFont typeface="Arial"/>
              <a:buNone/>
              <a:defRPr sz="1100" b="0">
                <a:solidFill>
                  <a:srgbClr val="4D4E4F"/>
                </a:solidFill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E4F"/>
              </a:buClr>
              <a:buSzPts val="1100"/>
              <a:buFont typeface="Arial"/>
              <a:buNone/>
              <a:defRPr sz="1100" b="0">
                <a:solidFill>
                  <a:srgbClr val="4D4E4F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</a:endParaRPr>
          </a:p>
        </p:txBody>
      </p:sp>
      <p:sp>
        <p:nvSpPr>
          <p:cNvPr id="1493337184" name="Google Shape;20;p3"/>
          <p:cNvSpPr txBox="1">
            <a:spLocks noGrp="1"/>
          </p:cNvSpPr>
          <p:nvPr>
            <p:ph type="body" idx="1"/>
          </p:nvPr>
        </p:nvSpPr>
        <p:spPr bwMode="auto">
          <a:xfrm>
            <a:off x="439845" y="1066280"/>
            <a:ext cx="8264400" cy="375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25" tIns="19025" rIns="19025" bIns="19025" anchor="t" anchorCtr="0">
            <a:noAutofit/>
          </a:bodyPr>
          <a:lstStyle>
            <a:lvl1pPr marL="457200" lvl="0" indent="-311150" algn="l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Clr>
                <a:srgbClr val="4D4E4F"/>
              </a:buClr>
              <a:buSzPts val="1300"/>
              <a:buChar char="●"/>
              <a:defRPr/>
            </a:lvl1pPr>
            <a:lvl2pPr marL="914400" lvl="1" indent="-311150" algn="l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Clr>
                <a:srgbClr val="4D4E4F"/>
              </a:buClr>
              <a:buSzPts val="1300"/>
              <a:buChar char="○"/>
              <a:defRPr/>
            </a:lvl2pPr>
            <a:lvl3pPr marL="1371600" lvl="2" indent="-311150" algn="l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Clr>
                <a:srgbClr val="4D4E4F"/>
              </a:buClr>
              <a:buSzPts val="1300"/>
              <a:buChar char="■"/>
              <a:defRPr/>
            </a:lvl3pPr>
            <a:lvl4pPr marL="1828800" lvl="3" indent="-311150" algn="l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Clr>
                <a:srgbClr val="4D4E4F"/>
              </a:buClr>
              <a:buSzPts val="1300"/>
              <a:buChar char="●"/>
              <a:defRPr/>
            </a:lvl4pPr>
            <a:lvl5pPr marL="2286000" lvl="4" indent="-311150" algn="l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Clr>
                <a:srgbClr val="4D4E4F"/>
              </a:buClr>
              <a:buSzPts val="1300"/>
              <a:buChar char="○"/>
              <a:defRPr/>
            </a:lvl5pPr>
            <a:lvl6pPr marL="2743200" lvl="5" indent="-311150" algn="l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Clr>
                <a:srgbClr val="4D4E4F"/>
              </a:buClr>
              <a:buSzPts val="1300"/>
              <a:buChar char="■"/>
              <a:defRPr/>
            </a:lvl6pPr>
            <a:lvl7pPr marL="3200400" lvl="6" indent="-311150" algn="l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Clr>
                <a:srgbClr val="4D4E4F"/>
              </a:buClr>
              <a:buSzPts val="1300"/>
              <a:buChar char="●"/>
              <a:defRPr/>
            </a:lvl7pPr>
            <a:lvl8pPr marL="3657600" lvl="7" indent="-311150" algn="l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Clr>
                <a:srgbClr val="4D4E4F"/>
              </a:buClr>
              <a:buSzPts val="1300"/>
              <a:buChar char="○"/>
              <a:defRPr/>
            </a:lvl8pPr>
            <a:lvl9pPr marL="4114800" lvl="8" indent="-311150" algn="l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Clr>
                <a:srgbClr val="4D4E4F"/>
              </a:buClr>
              <a:buSzPts val="1300"/>
              <a:buChar char="■"/>
              <a:defRPr/>
            </a:lvl9pPr>
          </a:lstStyle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Blank" preserve="0" showMasterPhAnim="0" showMasterSp="0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25824142" name="Google Shape;22;p4"/>
          <p:cNvSpPr txBox="1">
            <a:spLocks noGrp="1"/>
          </p:cNvSpPr>
          <p:nvPr>
            <p:ph type="sldNum" idx="12"/>
          </p:nvPr>
        </p:nvSpPr>
        <p:spPr bwMode="auto">
          <a:xfrm>
            <a:off x="4363668" y="4321968"/>
            <a:ext cx="206100" cy="14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25" tIns="19025" rIns="19025" bIns="19025" anchor="t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E4F"/>
              </a:buClr>
              <a:buSzPts val="1100"/>
              <a:buFont typeface="Arial"/>
              <a:buNone/>
              <a:defRPr sz="1100" b="0">
                <a:solidFill>
                  <a:srgbClr val="4D4E4F"/>
                </a:solidFill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E4F"/>
              </a:buClr>
              <a:buSzPts val="1100"/>
              <a:buFont typeface="Arial"/>
              <a:buNone/>
              <a:defRPr sz="1100" b="0">
                <a:solidFill>
                  <a:srgbClr val="4D4E4F"/>
                </a:solidFill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E4F"/>
              </a:buClr>
              <a:buSzPts val="1100"/>
              <a:buFont typeface="Arial"/>
              <a:buNone/>
              <a:defRPr sz="1100" b="0">
                <a:solidFill>
                  <a:srgbClr val="4D4E4F"/>
                </a:solidFill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E4F"/>
              </a:buClr>
              <a:buSzPts val="1100"/>
              <a:buFont typeface="Arial"/>
              <a:buNone/>
              <a:defRPr sz="1100" b="0">
                <a:solidFill>
                  <a:srgbClr val="4D4E4F"/>
                </a:solidFill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E4F"/>
              </a:buClr>
              <a:buSzPts val="1100"/>
              <a:buFont typeface="Arial"/>
              <a:buNone/>
              <a:defRPr sz="1100" b="0">
                <a:solidFill>
                  <a:srgbClr val="4D4E4F"/>
                </a:solidFill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E4F"/>
              </a:buClr>
              <a:buSzPts val="1100"/>
              <a:buFont typeface="Arial"/>
              <a:buNone/>
              <a:defRPr sz="1100" b="0">
                <a:solidFill>
                  <a:srgbClr val="4D4E4F"/>
                </a:solidFill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E4F"/>
              </a:buClr>
              <a:buSzPts val="1100"/>
              <a:buFont typeface="Arial"/>
              <a:buNone/>
              <a:defRPr sz="1100" b="0">
                <a:solidFill>
                  <a:srgbClr val="4D4E4F"/>
                </a:solidFill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E4F"/>
              </a:buClr>
              <a:buSzPts val="1100"/>
              <a:buFont typeface="Arial"/>
              <a:buNone/>
              <a:defRPr sz="1100" b="0">
                <a:solidFill>
                  <a:srgbClr val="4D4E4F"/>
                </a:solidFill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E4F"/>
              </a:buClr>
              <a:buSzPts val="1100"/>
              <a:buFont typeface="Arial"/>
              <a:buNone/>
              <a:defRPr sz="1100" b="0">
                <a:solidFill>
                  <a:srgbClr val="4D4E4F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showMasterSp="1" type="blank" userDrawn="1">
  <p:cSld name="Пустой слайд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83812321" name="Rectangle 5"/>
          <p:cNvSpPr>
            <a:spLocks noChangeArrowheads="1" noGrp="1"/>
          </p:cNvSpPr>
          <p:nvPr>
            <p:ph type="sldNum" idx="10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fld id="{89498F59-BA0C-47CB-9C3C-0E673DEB4FDE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Relationship Id="rId6" Type="http://schemas.openxmlformats.org/officeDocument/2006/relationships/image" Target="../media/image1.png"/><Relationship Id="rId7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85090938" name="Google Shape;6;p1"/>
          <p:cNvPicPr/>
          <p:nvPr/>
        </p:nvPicPr>
        <p:blipFill rotWithShape="1">
          <a:blip r:embed="rId6"/>
          <a:srcRect l="0" t="59" r="0" b="58"/>
          <a:stretch/>
        </p:blipFill>
        <p:spPr bwMode="auto">
          <a:xfrm>
            <a:off x="333137" y="1118462"/>
            <a:ext cx="11934523" cy="4445077"/>
          </a:xfrm>
          <a:prstGeom prst="rect">
            <a:avLst/>
          </a:prstGeom>
          <a:noFill/>
          <a:ln>
            <a:noFill/>
          </a:ln>
        </p:spPr>
      </p:pic>
      <p:sp>
        <p:nvSpPr>
          <p:cNvPr id="529694911" name="Google Shape;7;p1"/>
          <p:cNvSpPr txBox="1">
            <a:spLocks noGrp="1"/>
          </p:cNvSpPr>
          <p:nvPr>
            <p:ph type="title"/>
          </p:nvPr>
        </p:nvSpPr>
        <p:spPr bwMode="auto">
          <a:xfrm>
            <a:off x="442927" y="337700"/>
            <a:ext cx="6256200" cy="44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25" tIns="19025" rIns="19025" bIns="19025" anchor="t" anchorCtr="0">
            <a:noAutofit/>
          </a:bodyPr>
          <a:lstStyle>
            <a:lvl1pPr marR="0" lvl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9400"/>
              </a:buClr>
              <a:buSzPts val="2400"/>
              <a:buFont typeface="Arial"/>
              <a:buNone/>
              <a:defRPr sz="2400" b="1" i="0" u="none" strike="noStrike" cap="none">
                <a:solidFill>
                  <a:srgbClr val="FF9400"/>
                </a:solidFill>
                <a:latin typeface="Arial"/>
                <a:ea typeface="Arial"/>
                <a:cs typeface="Arial"/>
              </a:defRPr>
            </a:lvl1pPr>
            <a:lvl2pPr marR="0" lvl="1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9400"/>
              </a:buClr>
              <a:buSzPts val="2100"/>
              <a:buFont typeface="Arial"/>
              <a:buNone/>
              <a:defRPr sz="2100" b="1" i="0" u="none" strike="noStrike" cap="none">
                <a:solidFill>
                  <a:srgbClr val="FF9400"/>
                </a:solidFill>
                <a:latin typeface="Arial"/>
                <a:ea typeface="Arial"/>
                <a:cs typeface="Arial"/>
              </a:defRPr>
            </a:lvl2pPr>
            <a:lvl3pPr marR="0" lvl="2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9400"/>
              </a:buClr>
              <a:buSzPts val="2100"/>
              <a:buFont typeface="Arial"/>
              <a:buNone/>
              <a:defRPr sz="2100" b="1" i="0" u="none" strike="noStrike" cap="none">
                <a:solidFill>
                  <a:srgbClr val="FF9400"/>
                </a:solidFill>
                <a:latin typeface="Arial"/>
                <a:ea typeface="Arial"/>
                <a:cs typeface="Arial"/>
              </a:defRPr>
            </a:lvl3pPr>
            <a:lvl4pPr marR="0" lvl="3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9400"/>
              </a:buClr>
              <a:buSzPts val="2100"/>
              <a:buFont typeface="Arial"/>
              <a:buNone/>
              <a:defRPr sz="2100" b="1" i="0" u="none" strike="noStrike" cap="none">
                <a:solidFill>
                  <a:srgbClr val="FF9400"/>
                </a:solidFill>
                <a:latin typeface="Arial"/>
                <a:ea typeface="Arial"/>
                <a:cs typeface="Arial"/>
              </a:defRPr>
            </a:lvl4pPr>
            <a:lvl5pPr marR="0" lvl="4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9400"/>
              </a:buClr>
              <a:buSzPts val="2100"/>
              <a:buFont typeface="Arial"/>
              <a:buNone/>
              <a:defRPr sz="2100" b="1" i="0" u="none" strike="noStrike" cap="none">
                <a:solidFill>
                  <a:srgbClr val="FF9400"/>
                </a:solidFill>
                <a:latin typeface="Arial"/>
                <a:ea typeface="Arial"/>
                <a:cs typeface="Arial"/>
              </a:defRPr>
            </a:lvl5pPr>
            <a:lvl6pPr marR="0" lvl="5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9400"/>
              </a:buClr>
              <a:buSzPts val="2100"/>
              <a:buFont typeface="Arial"/>
              <a:buNone/>
              <a:defRPr sz="2100" b="1" i="0" u="none" strike="noStrike" cap="none">
                <a:solidFill>
                  <a:srgbClr val="FF9400"/>
                </a:solidFill>
                <a:latin typeface="Arial"/>
                <a:ea typeface="Arial"/>
                <a:cs typeface="Arial"/>
              </a:defRPr>
            </a:lvl6pPr>
            <a:lvl7pPr marR="0" lvl="6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9400"/>
              </a:buClr>
              <a:buSzPts val="2100"/>
              <a:buFont typeface="Arial"/>
              <a:buNone/>
              <a:defRPr sz="2100" b="1" i="0" u="none" strike="noStrike" cap="none">
                <a:solidFill>
                  <a:srgbClr val="FF9400"/>
                </a:solidFill>
                <a:latin typeface="Arial"/>
                <a:ea typeface="Arial"/>
                <a:cs typeface="Arial"/>
              </a:defRPr>
            </a:lvl7pPr>
            <a:lvl8pPr marR="0" lvl="7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9400"/>
              </a:buClr>
              <a:buSzPts val="2100"/>
              <a:buFont typeface="Arial"/>
              <a:buNone/>
              <a:defRPr sz="2100" b="1" i="0" u="none" strike="noStrike" cap="none">
                <a:solidFill>
                  <a:srgbClr val="FF9400"/>
                </a:solidFill>
                <a:latin typeface="Arial"/>
                <a:ea typeface="Arial"/>
                <a:cs typeface="Arial"/>
              </a:defRPr>
            </a:lvl8pPr>
            <a:lvl9pPr marR="0" lvl="8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9400"/>
              </a:buClr>
              <a:buSzPts val="2100"/>
              <a:buFont typeface="Arial"/>
              <a:buNone/>
              <a:defRPr sz="2100" b="1" i="0" u="none" strike="noStrike" cap="none">
                <a:solidFill>
                  <a:srgbClr val="FF9400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/>
            </a:pPr>
            <a:endParaRPr/>
          </a:p>
        </p:txBody>
      </p:sp>
      <p:pic>
        <p:nvPicPr>
          <p:cNvPr id="917879678" name="Google Shape;8;p1" descr="Image"/>
          <p:cNvPicPr/>
          <p:nvPr/>
        </p:nvPicPr>
        <p:blipFill rotWithShape="1">
          <a:blip r:embed="rId7"/>
          <a:stretch/>
        </p:blipFill>
        <p:spPr bwMode="auto">
          <a:xfrm>
            <a:off x="7068462" y="359810"/>
            <a:ext cx="1635792" cy="421522"/>
          </a:xfrm>
          <a:prstGeom prst="rect">
            <a:avLst/>
          </a:prstGeom>
          <a:noFill/>
          <a:ln>
            <a:noFill/>
          </a:ln>
        </p:spPr>
      </p:pic>
      <p:sp>
        <p:nvSpPr>
          <p:cNvPr id="669778361" name="Google Shape;9;p1"/>
          <p:cNvSpPr txBox="1">
            <a:spLocks noGrp="1"/>
          </p:cNvSpPr>
          <p:nvPr>
            <p:ph type="body" idx="1"/>
          </p:nvPr>
        </p:nvSpPr>
        <p:spPr bwMode="auto">
          <a:xfrm>
            <a:off x="439845" y="1066280"/>
            <a:ext cx="8264400" cy="375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25" tIns="19025" rIns="19025" bIns="19025" anchor="t" anchorCtr="0">
            <a:noAutofit/>
          </a:bodyPr>
          <a:lstStyle>
            <a:lvl1pPr marL="457200" marR="0" lvl="0" indent="-228600" algn="l" rtl="0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Clr>
                <a:srgbClr val="4D4E4F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4D4E4F"/>
                </a:solidFill>
                <a:latin typeface="Arial"/>
                <a:ea typeface="Arial"/>
                <a:cs typeface="Arial"/>
              </a:defRPr>
            </a:lvl1pPr>
            <a:lvl2pPr marL="914400" marR="0" lvl="1" indent="-228600" algn="l" rtl="0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Clr>
                <a:srgbClr val="4D4E4F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4D4E4F"/>
                </a:solidFill>
                <a:latin typeface="Arial"/>
                <a:ea typeface="Arial"/>
                <a:cs typeface="Arial"/>
              </a:defRPr>
            </a:lvl2pPr>
            <a:lvl3pPr marL="1371600" marR="0" lvl="2" indent="-228600" algn="l" rtl="0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Clr>
                <a:srgbClr val="4D4E4F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4D4E4F"/>
                </a:solidFill>
                <a:latin typeface="Arial"/>
                <a:ea typeface="Arial"/>
                <a:cs typeface="Arial"/>
              </a:defRPr>
            </a:lvl3pPr>
            <a:lvl4pPr marL="1828800" marR="0" lvl="3" indent="-228600" algn="l" rtl="0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Clr>
                <a:srgbClr val="4D4E4F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4D4E4F"/>
                </a:solidFill>
                <a:latin typeface="Arial"/>
                <a:ea typeface="Arial"/>
                <a:cs typeface="Arial"/>
              </a:defRPr>
            </a:lvl4pPr>
            <a:lvl5pPr marL="2286000" marR="0" lvl="4" indent="-228600" algn="l" rtl="0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Clr>
                <a:srgbClr val="4D4E4F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4D4E4F"/>
                </a:solidFill>
                <a:latin typeface="Arial"/>
                <a:ea typeface="Arial"/>
                <a:cs typeface="Arial"/>
              </a:defRPr>
            </a:lvl5pPr>
            <a:lvl6pPr marL="2743200" marR="0" lvl="5" indent="-228600" algn="l" rtl="0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Clr>
                <a:srgbClr val="4D4E4F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4D4E4F"/>
                </a:solidFill>
                <a:latin typeface="Arial"/>
                <a:ea typeface="Arial"/>
                <a:cs typeface="Arial"/>
              </a:defRPr>
            </a:lvl6pPr>
            <a:lvl7pPr marL="3200400" marR="0" lvl="6" indent="-228600" algn="l" rtl="0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Clr>
                <a:srgbClr val="4D4E4F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4D4E4F"/>
                </a:solidFill>
                <a:latin typeface="Arial"/>
                <a:ea typeface="Arial"/>
                <a:cs typeface="Arial"/>
              </a:defRPr>
            </a:lvl7pPr>
            <a:lvl8pPr marL="3657600" marR="0" lvl="7" indent="-228600" algn="l" rtl="0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Clr>
                <a:srgbClr val="4D4E4F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4D4E4F"/>
                </a:solidFill>
                <a:latin typeface="Arial"/>
                <a:ea typeface="Arial"/>
                <a:cs typeface="Arial"/>
              </a:defRPr>
            </a:lvl8pPr>
            <a:lvl9pPr marL="4114800" marR="0" lvl="8" indent="-228600" algn="l" rtl="0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Clr>
                <a:srgbClr val="4D4E4F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4D4E4F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1857005157" name="Google Shape;10;p1"/>
          <p:cNvSpPr txBox="1">
            <a:spLocks noGrp="1"/>
          </p:cNvSpPr>
          <p:nvPr>
            <p:ph type="sldNum" idx="12"/>
          </p:nvPr>
        </p:nvSpPr>
        <p:spPr bwMode="auto">
          <a:xfrm>
            <a:off x="174900" y="4822031"/>
            <a:ext cx="206100" cy="14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25" tIns="19025" rIns="19025" bIns="19025" anchor="t" anchorCtr="0">
            <a:noAutofit/>
          </a:bodyPr>
          <a:lstStyle>
            <a:lvl1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E4F"/>
              </a:buClr>
              <a:buSzPts val="1100"/>
              <a:buFont typeface="Arial"/>
              <a:buNone/>
              <a:defRPr sz="1100" b="0">
                <a:solidFill>
                  <a:srgbClr val="4D4E4F"/>
                </a:solidFill>
              </a:defRPr>
            </a:lvl1pPr>
            <a:lvl2pPr marL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E4F"/>
              </a:buClr>
              <a:buSzPts val="1100"/>
              <a:buFont typeface="Arial"/>
              <a:buNone/>
              <a:defRPr sz="1100" b="0">
                <a:solidFill>
                  <a:srgbClr val="4D4E4F"/>
                </a:solidFill>
              </a:defRPr>
            </a:lvl2pPr>
            <a:lvl3pPr marL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E4F"/>
              </a:buClr>
              <a:buSzPts val="1100"/>
              <a:buFont typeface="Arial"/>
              <a:buNone/>
              <a:defRPr sz="1100" b="0">
                <a:solidFill>
                  <a:srgbClr val="4D4E4F"/>
                </a:solidFill>
              </a:defRPr>
            </a:lvl3pPr>
            <a:lvl4pPr marL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E4F"/>
              </a:buClr>
              <a:buSzPts val="1100"/>
              <a:buFont typeface="Arial"/>
              <a:buNone/>
              <a:defRPr sz="1100" b="0">
                <a:solidFill>
                  <a:srgbClr val="4D4E4F"/>
                </a:solidFill>
              </a:defRPr>
            </a:lvl4pPr>
            <a:lvl5pPr marL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E4F"/>
              </a:buClr>
              <a:buSzPts val="1100"/>
              <a:buFont typeface="Arial"/>
              <a:buNone/>
              <a:defRPr sz="1100" b="0">
                <a:solidFill>
                  <a:srgbClr val="4D4E4F"/>
                </a:solidFill>
              </a:defRPr>
            </a:lvl5pPr>
            <a:lvl6pPr marL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E4F"/>
              </a:buClr>
              <a:buSzPts val="1100"/>
              <a:buFont typeface="Arial"/>
              <a:buNone/>
              <a:defRPr sz="1100" b="0">
                <a:solidFill>
                  <a:srgbClr val="4D4E4F"/>
                </a:solidFill>
              </a:defRPr>
            </a:lvl6pPr>
            <a:lvl7pPr marL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E4F"/>
              </a:buClr>
              <a:buSzPts val="1100"/>
              <a:buFont typeface="Arial"/>
              <a:buNone/>
              <a:defRPr sz="1100" b="0">
                <a:solidFill>
                  <a:srgbClr val="4D4E4F"/>
                </a:solidFill>
              </a:defRPr>
            </a:lvl7pPr>
            <a:lvl8pPr marL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E4F"/>
              </a:buClr>
              <a:buSzPts val="1100"/>
              <a:buFont typeface="Arial"/>
              <a:buNone/>
              <a:defRPr sz="1100" b="0">
                <a:solidFill>
                  <a:srgbClr val="4D4E4F"/>
                </a:solidFill>
              </a:defRPr>
            </a:lvl8pPr>
            <a:lvl9pPr marL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E4F"/>
              </a:buClr>
              <a:buSzPts val="1100"/>
              <a:buFont typeface="Arial"/>
              <a:buNone/>
              <a:defRPr sz="1100" b="0">
                <a:solidFill>
                  <a:srgbClr val="4D4E4F"/>
                </a:solidFill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dt="0" ftr="0" hdr="0" sldNum="1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Relationship Id="rId4" Type="http://schemas.openxmlformats.org/officeDocument/2006/relationships/image" Target="../media/image9.png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0.png"/><Relationship Id="rId4" Type="http://schemas.openxmlformats.org/officeDocument/2006/relationships/image" Target="../media/image11.png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2.png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99516672" name="Google Shape;29;p5"/>
          <p:cNvSpPr txBox="1">
            <a:spLocks noGrp="1"/>
          </p:cNvSpPr>
          <p:nvPr>
            <p:ph type="sldNum" idx="12"/>
          </p:nvPr>
        </p:nvSpPr>
        <p:spPr bwMode="auto">
          <a:xfrm>
            <a:off x="8709450" y="4822031"/>
            <a:ext cx="206100" cy="145500"/>
          </a:xfrm>
          <a:prstGeom prst="rect">
            <a:avLst/>
          </a:prstGeom>
        </p:spPr>
        <p:txBody>
          <a:bodyPr spcFirstLastPara="1" wrap="square" lIns="19025" tIns="19025" rIns="19025" bIns="190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4D4E4F"/>
              </a:buClr>
              <a:buSzPts val="1100"/>
              <a:buFont typeface="Arial"/>
              <a:buNone/>
              <a:defRPr/>
            </a:pPr>
            <a:fld id="{00000000-1234-1234-1234-123412341234}" type="slidenum">
              <a:rPr lang="en-US"/>
              <a:t>1</a:t>
            </a:fld>
            <a:endParaRPr sz="1400">
              <a:solidFill>
                <a:srgbClr val="000000"/>
              </a:solidFill>
            </a:endParaRPr>
          </a:p>
        </p:txBody>
      </p:sp>
      <p:sp>
        <p:nvSpPr>
          <p:cNvPr id="1573883282" name="Текст 5"/>
          <p:cNvSpPr txBox="1"/>
          <p:nvPr/>
        </p:nvSpPr>
        <p:spPr bwMode="auto">
          <a:xfrm>
            <a:off x="0" y="16990"/>
            <a:ext cx="7144775" cy="45402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rtlCol="0" anchor="ctr" anchorCtr="0" compatLnSpc="1">
            <a:normAutofit/>
          </a:bodyPr>
          <a:lstStyle>
            <a:lvl1pPr marL="0" indent="0" algn="l" rtl="0">
              <a:spcBef>
                <a:spcPts val="0"/>
              </a:spcBef>
              <a:spcAft>
                <a:spcPts val="0"/>
              </a:spcAft>
              <a:buClr>
                <a:srgbClr val="DD7E0E"/>
              </a:buClr>
              <a:buSzPct val="80000"/>
              <a:buFont typeface="Wingdings"/>
              <a:buNone/>
              <a:defRPr sz="2800" b="1">
                <a:solidFill>
                  <a:schemeClr val="accent2">
                    <a:lumMod val="75000"/>
                  </a:schemeClr>
                </a:solidFill>
                <a:latin typeface="Arial"/>
                <a:ea typeface="+mn-ea"/>
                <a:cs typeface="Arial"/>
              </a:defRPr>
            </a:lvl1pPr>
            <a:lvl2pPr marL="538480" indent="-273050" algn="l" rtl="0">
              <a:spcBef>
                <a:spcPts val="0"/>
              </a:spcBef>
              <a:spcAft>
                <a:spcPts val="0"/>
              </a:spcAft>
              <a:buClr>
                <a:srgbClr val="DD7E0E"/>
              </a:buClr>
              <a:buFont typeface="Arial"/>
              <a:buChar char="–"/>
              <a:defRPr sz="2800">
                <a:solidFill>
                  <a:srgbClr val="404040"/>
                </a:solidFill>
                <a:latin typeface="Arial"/>
                <a:ea typeface="+mn-ea"/>
                <a:cs typeface="Arial"/>
              </a:defRPr>
            </a:lvl2pPr>
            <a:lvl3pPr marL="717550" indent="-179705" algn="l" rtl="0">
              <a:spcBef>
                <a:spcPts val="0"/>
              </a:spcBef>
              <a:spcAft>
                <a:spcPts val="0"/>
              </a:spcAft>
              <a:buClr>
                <a:srgbClr val="DD7E0E"/>
              </a:buClr>
              <a:buFont typeface="Arial"/>
              <a:buChar char="•"/>
              <a:defRPr sz="1600">
                <a:solidFill>
                  <a:srgbClr val="595959"/>
                </a:solidFill>
                <a:latin typeface="Arial"/>
                <a:ea typeface="+mn-ea"/>
                <a:cs typeface="Arial"/>
              </a:defRPr>
            </a:lvl3pPr>
            <a:lvl4pPr marL="897254" indent="-179705" algn="l" rtl="0">
              <a:spcBef>
                <a:spcPts val="0"/>
              </a:spcBef>
              <a:spcAft>
                <a:spcPts val="0"/>
              </a:spcAft>
              <a:buFont typeface="Arial"/>
              <a:buChar char="–"/>
              <a:defRPr sz="1400">
                <a:solidFill>
                  <a:srgbClr val="595959"/>
                </a:solidFill>
                <a:latin typeface="Arial"/>
                <a:ea typeface="+mn-ea"/>
                <a:cs typeface="Arial"/>
              </a:defRPr>
            </a:lvl4pPr>
            <a:lvl5pPr marL="1076325" indent="-273050" algn="l" rtl="0">
              <a:spcBef>
                <a:spcPts val="0"/>
              </a:spcBef>
              <a:spcAft>
                <a:spcPts val="0"/>
              </a:spcAft>
              <a:buFont typeface="Arial"/>
              <a:buChar char="»"/>
              <a:defRPr sz="1200">
                <a:solidFill>
                  <a:srgbClr val="595959"/>
                </a:solidFill>
                <a:latin typeface="Arial"/>
                <a:ea typeface="+mn-ea"/>
                <a:cs typeface="Arial"/>
              </a:defRPr>
            </a:lvl5pPr>
            <a:lvl6pPr marL="2514600" indent="-228600" algn="l" defTabSz="914400" rtl="0">
              <a:spcBef>
                <a:spcPts val="0"/>
              </a:spcBef>
              <a:buFont typeface="Arial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>
              <a:spcBef>
                <a:spcPts val="0"/>
              </a:spcBef>
              <a:buFont typeface="Arial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>
              <a:spcBef>
                <a:spcPts val="0"/>
              </a:spcBef>
              <a:buFont typeface="Arial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>
              <a:spcBef>
                <a:spcPts val="0"/>
              </a:spcBef>
              <a:buFont typeface="Arial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Aft>
                <a:spcPts val="0"/>
              </a:spcAft>
              <a:buClr>
                <a:schemeClr val="accent2">
                  <a:lumMod val="75000"/>
                </a:schemeClr>
              </a:buClr>
              <a:defRPr/>
            </a:pPr>
            <a:r>
              <a:rPr lang="ru-RU" sz="2000" b="0">
                <a:solidFill>
                  <a:schemeClr val="bg1"/>
                </a:solidFill>
                <a:latin typeface="+mn-lt"/>
              </a:rPr>
              <a:t>Кафедра</a:t>
            </a:r>
            <a:r>
              <a:rPr lang="ru-RU" sz="2000" b="0">
                <a:solidFill>
                  <a:schemeClr val="bg1"/>
                </a:solidFill>
              </a:rPr>
              <a:t> </a:t>
            </a:r>
            <a:r>
              <a:rPr lang="ru-RU" sz="2000" b="0">
                <a:solidFill>
                  <a:schemeClr val="bg1"/>
                </a:solidFill>
                <a:latin typeface="+mn-lt"/>
              </a:rPr>
              <a:t>экологической безопасности телекоммуникаций </a:t>
            </a:r>
            <a:endParaRPr/>
          </a:p>
        </p:txBody>
      </p:sp>
      <p:sp>
        <p:nvSpPr>
          <p:cNvPr id="1837915059" name="Текст 5"/>
          <p:cNvSpPr txBox="1"/>
          <p:nvPr/>
        </p:nvSpPr>
        <p:spPr bwMode="auto">
          <a:xfrm>
            <a:off x="-164823" y="343922"/>
            <a:ext cx="7339013" cy="455613"/>
          </a:xfrm>
          <a:prstGeom prst="rect">
            <a:avLst/>
          </a:prstGeom>
          <a:noFill/>
          <a:ln>
            <a:noFill/>
          </a:ln>
        </p:spPr>
        <p:txBody>
          <a:bodyPr anchor="ctr">
            <a:normAutofit/>
          </a:bodyPr>
          <a:lstStyle>
            <a:lvl1pPr>
              <a:spcBef>
                <a:spcPts val="0"/>
              </a:spcBef>
              <a:buClr>
                <a:srgbClr val="DD7E0E"/>
              </a:buClr>
              <a:buSzPct val="80000"/>
              <a:buFont typeface="Wingdings"/>
              <a:buChar char="§"/>
              <a:tabLst>
                <a:tab pos="179070" algn="l"/>
              </a:tabLst>
              <a:defRPr sz="2200">
                <a:solidFill>
                  <a:schemeClr val="tx1"/>
                </a:solidFill>
                <a:latin typeface="Arial"/>
                <a:cs typeface="Arial"/>
              </a:defRPr>
            </a:lvl1pPr>
            <a:lvl2pPr indent="-273050">
              <a:spcBef>
                <a:spcPts val="0"/>
              </a:spcBef>
              <a:buClr>
                <a:srgbClr val="DD7E0E"/>
              </a:buClr>
              <a:buFont typeface="Arial"/>
              <a:buChar char="–"/>
              <a:defRPr sz="2800">
                <a:solidFill>
                  <a:srgbClr val="404040"/>
                </a:solidFill>
                <a:latin typeface="Arial"/>
                <a:cs typeface="Arial"/>
              </a:defRPr>
            </a:lvl2pPr>
            <a:lvl3pPr indent="-179705">
              <a:spcBef>
                <a:spcPts val="0"/>
              </a:spcBef>
              <a:buClr>
                <a:srgbClr val="DD7E0E"/>
              </a:buClr>
              <a:buFont typeface="Arial"/>
              <a:buChar char="•"/>
              <a:defRPr sz="1600">
                <a:solidFill>
                  <a:srgbClr val="595959"/>
                </a:solidFill>
                <a:latin typeface="Arial"/>
                <a:cs typeface="Arial"/>
              </a:defRPr>
            </a:lvl3pPr>
            <a:lvl4pPr indent="-179705">
              <a:spcBef>
                <a:spcPts val="0"/>
              </a:spcBef>
              <a:buFont typeface="Arial"/>
              <a:buChar char="–"/>
              <a:defRPr sz="1400">
                <a:solidFill>
                  <a:srgbClr val="595959"/>
                </a:solidFill>
                <a:latin typeface="Arial"/>
                <a:cs typeface="Arial"/>
              </a:defRPr>
            </a:lvl4pPr>
            <a:lvl5pPr indent="-273050">
              <a:spcBef>
                <a:spcPts val="0"/>
              </a:spcBef>
              <a:buFont typeface="Arial"/>
              <a:buChar char="»"/>
              <a:defRPr sz="1200">
                <a:solidFill>
                  <a:srgbClr val="595959"/>
                </a:solidFill>
                <a:latin typeface="Arial"/>
                <a:cs typeface="Arial"/>
              </a:defRPr>
            </a:lvl5pPr>
            <a:lvl6pPr indent="-273050">
              <a:spcBef>
                <a:spcPts val="0"/>
              </a:spcBef>
              <a:spcAft>
                <a:spcPts val="0"/>
              </a:spcAft>
              <a:buFont typeface="Arial"/>
              <a:buChar char="»"/>
              <a:defRPr sz="1200">
                <a:solidFill>
                  <a:srgbClr val="595959"/>
                </a:solidFill>
                <a:latin typeface="Arial"/>
                <a:cs typeface="Arial"/>
              </a:defRPr>
            </a:lvl6pPr>
            <a:lvl7pPr indent="-273050">
              <a:spcBef>
                <a:spcPts val="0"/>
              </a:spcBef>
              <a:spcAft>
                <a:spcPts val="0"/>
              </a:spcAft>
              <a:buFont typeface="Arial"/>
              <a:buChar char="»"/>
              <a:defRPr sz="1200">
                <a:solidFill>
                  <a:srgbClr val="595959"/>
                </a:solidFill>
                <a:latin typeface="Arial"/>
                <a:cs typeface="Arial"/>
              </a:defRPr>
            </a:lvl7pPr>
            <a:lvl8pPr indent="-273050">
              <a:spcBef>
                <a:spcPts val="0"/>
              </a:spcBef>
              <a:spcAft>
                <a:spcPts val="0"/>
              </a:spcAft>
              <a:buFont typeface="Arial"/>
              <a:buChar char="»"/>
              <a:defRPr sz="1200">
                <a:solidFill>
                  <a:srgbClr val="595959"/>
                </a:solidFill>
                <a:latin typeface="Arial"/>
                <a:cs typeface="Arial"/>
              </a:defRPr>
            </a:lvl8pPr>
            <a:lvl9pPr indent="-273050">
              <a:spcBef>
                <a:spcPts val="0"/>
              </a:spcBef>
              <a:spcAft>
                <a:spcPts val="0"/>
              </a:spcAft>
              <a:buFont typeface="Arial"/>
              <a:buChar char="»"/>
              <a:defRPr sz="1200">
                <a:solidFill>
                  <a:srgbClr val="595959"/>
                </a:solidFill>
                <a:latin typeface="Arial"/>
                <a:cs typeface="Arial"/>
              </a:defRPr>
            </a:lvl9pPr>
          </a:lstStyle>
          <a:p>
            <a:pPr algn="ctr">
              <a:lnSpc>
                <a:spcPct val="80000"/>
              </a:lnSpc>
              <a:spcBef>
                <a:spcPts val="0"/>
              </a:spcBef>
              <a:buSzTx/>
              <a:buFontTx/>
              <a:buNone/>
              <a:defRPr/>
            </a:pPr>
            <a:r>
              <a:rPr lang="ru-RU" sz="2000">
                <a:solidFill>
                  <a:schemeClr val="bg1"/>
                </a:solidFill>
                <a:latin typeface="+mn-lt"/>
                <a:ea typeface="+mn-ea"/>
              </a:rPr>
              <a:t>Дисциплина «Безопасность жизнедеятельности»</a:t>
            </a:r>
            <a:endParaRPr/>
          </a:p>
        </p:txBody>
      </p:sp>
      <p:sp>
        <p:nvSpPr>
          <p:cNvPr id="1436777115" name="Текст 5"/>
          <p:cNvSpPr txBox="1"/>
          <p:nvPr/>
        </p:nvSpPr>
        <p:spPr bwMode="auto">
          <a:xfrm>
            <a:off x="238551" y="1036739"/>
            <a:ext cx="8799580" cy="1102872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marL="0" indent="0" algn="l" rtl="0">
              <a:spcBef>
                <a:spcPts val="0"/>
              </a:spcBef>
              <a:spcAft>
                <a:spcPts val="0"/>
              </a:spcAft>
              <a:buClr>
                <a:srgbClr val="DD7E0E"/>
              </a:buClr>
              <a:buSzPct val="80000"/>
              <a:buFont typeface="Wingdings"/>
              <a:buNone/>
              <a:defRPr sz="2800" b="1">
                <a:solidFill>
                  <a:schemeClr val="accent2">
                    <a:lumMod val="75000"/>
                  </a:schemeClr>
                </a:solidFill>
                <a:latin typeface="Arial"/>
                <a:ea typeface="+mn-ea"/>
                <a:cs typeface="Arial"/>
              </a:defRPr>
            </a:lvl1pPr>
            <a:lvl2pPr marL="538480" indent="-273050" algn="l" rtl="0">
              <a:spcBef>
                <a:spcPts val="0"/>
              </a:spcBef>
              <a:spcAft>
                <a:spcPts val="0"/>
              </a:spcAft>
              <a:buClr>
                <a:srgbClr val="DD7E0E"/>
              </a:buClr>
              <a:buFont typeface="Arial"/>
              <a:buChar char="–"/>
              <a:defRPr sz="2800">
                <a:solidFill>
                  <a:srgbClr val="404040"/>
                </a:solidFill>
                <a:latin typeface="Arial"/>
                <a:ea typeface="+mn-ea"/>
                <a:cs typeface="Arial"/>
              </a:defRPr>
            </a:lvl2pPr>
            <a:lvl3pPr marL="717550" indent="-179705" algn="l" rtl="0">
              <a:spcBef>
                <a:spcPts val="0"/>
              </a:spcBef>
              <a:spcAft>
                <a:spcPts val="0"/>
              </a:spcAft>
              <a:buClr>
                <a:srgbClr val="DD7E0E"/>
              </a:buClr>
              <a:buFont typeface="Arial"/>
              <a:buChar char="•"/>
              <a:defRPr sz="1600">
                <a:solidFill>
                  <a:srgbClr val="595959"/>
                </a:solidFill>
                <a:latin typeface="Arial"/>
                <a:ea typeface="+mn-ea"/>
                <a:cs typeface="Arial"/>
              </a:defRPr>
            </a:lvl3pPr>
            <a:lvl4pPr marL="897254" indent="-179705" algn="l" rtl="0">
              <a:spcBef>
                <a:spcPts val="0"/>
              </a:spcBef>
              <a:spcAft>
                <a:spcPts val="0"/>
              </a:spcAft>
              <a:buFont typeface="Arial"/>
              <a:buChar char="–"/>
              <a:defRPr sz="1400">
                <a:solidFill>
                  <a:srgbClr val="595959"/>
                </a:solidFill>
                <a:latin typeface="Arial"/>
                <a:ea typeface="+mn-ea"/>
                <a:cs typeface="Arial"/>
              </a:defRPr>
            </a:lvl4pPr>
            <a:lvl5pPr marL="1076325" indent="-273050" algn="l" rtl="0">
              <a:spcBef>
                <a:spcPts val="0"/>
              </a:spcBef>
              <a:spcAft>
                <a:spcPts val="0"/>
              </a:spcAft>
              <a:buFont typeface="Arial"/>
              <a:buChar char="»"/>
              <a:defRPr sz="1200">
                <a:solidFill>
                  <a:srgbClr val="595959"/>
                </a:solidFill>
                <a:latin typeface="Arial"/>
                <a:ea typeface="+mn-ea"/>
                <a:cs typeface="Arial"/>
              </a:defRPr>
            </a:lvl5pPr>
            <a:lvl6pPr marL="2514600" indent="-228600" algn="l" defTabSz="914400" rtl="0">
              <a:spcBef>
                <a:spcPts val="0"/>
              </a:spcBef>
              <a:buFont typeface="Arial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>
              <a:spcBef>
                <a:spcPts val="0"/>
              </a:spcBef>
              <a:buFont typeface="Arial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>
              <a:spcBef>
                <a:spcPts val="0"/>
              </a:spcBef>
              <a:buFont typeface="Arial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>
              <a:spcBef>
                <a:spcPts val="0"/>
              </a:spcBef>
              <a:buFont typeface="Arial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Aft>
                <a:spcPts val="0"/>
              </a:spcAft>
              <a:buClr>
                <a:schemeClr val="accent2">
                  <a:lumMod val="75000"/>
                </a:schemeClr>
              </a:buClr>
              <a:defRPr/>
            </a:pPr>
            <a:r>
              <a:rPr lang="ru-RU" sz="1800" b="0">
                <a:solidFill>
                  <a:schemeClr val="bg1"/>
                </a:solidFill>
              </a:rPr>
              <a:t>Тема : Оценка устойчивости функционирования объектов экономики и безопасности жизнедеятельности населения и персонала в прогнозируемых условиях  чрезвычайных ситуаций: поражающие факторы, возникающие в результате взрыва.</a:t>
            </a:r>
            <a:endParaRPr lang="ru-RU" sz="1800">
              <a:solidFill>
                <a:schemeClr val="bg1"/>
              </a:solidFill>
            </a:endParaRPr>
          </a:p>
        </p:txBody>
      </p:sp>
      <p:sp>
        <p:nvSpPr>
          <p:cNvPr id="409326418" name="TextBox 1"/>
          <p:cNvSpPr txBox="1">
            <a:spLocks noChangeArrowheads="1"/>
          </p:cNvSpPr>
          <p:nvPr/>
        </p:nvSpPr>
        <p:spPr bwMode="auto">
          <a:xfrm>
            <a:off x="371752" y="3448721"/>
            <a:ext cx="6808196" cy="1128119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t">
            <a:spAutoFit/>
          </a:bodyPr>
          <a:lstStyle>
            <a:lvl1pPr>
              <a:defRPr>
                <a:solidFill>
                  <a:schemeClr val="tx1"/>
                </a:solidFill>
                <a:latin typeface="Arial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/>
              </a:defRPr>
            </a:lvl5pPr>
            <a:lvl6pPr marL="2514600" indent="-228600">
              <a:spcBef>
                <a:spcPts val="0"/>
              </a:spcBef>
              <a:spcAft>
                <a:spcPts val="0"/>
              </a:spcAft>
              <a:defRPr>
                <a:solidFill>
                  <a:schemeClr val="tx1"/>
                </a:solidFill>
                <a:latin typeface="Arial"/>
              </a:defRPr>
            </a:lvl6pPr>
            <a:lvl7pPr marL="2971800" indent="-228600">
              <a:spcBef>
                <a:spcPts val="0"/>
              </a:spcBef>
              <a:spcAft>
                <a:spcPts val="0"/>
              </a:spcAft>
              <a:defRPr>
                <a:solidFill>
                  <a:schemeClr val="tx1"/>
                </a:solidFill>
                <a:latin typeface="Arial"/>
              </a:defRPr>
            </a:lvl7pPr>
            <a:lvl8pPr marL="3429000" indent="-228600">
              <a:spcBef>
                <a:spcPts val="0"/>
              </a:spcBef>
              <a:spcAft>
                <a:spcPts val="0"/>
              </a:spcAft>
              <a:defRPr>
                <a:solidFill>
                  <a:schemeClr val="tx1"/>
                </a:solidFill>
                <a:latin typeface="Arial"/>
              </a:defRPr>
            </a:lvl8pPr>
            <a:lvl9pPr marL="3886200" indent="-228600">
              <a:spcBef>
                <a:spcPts val="0"/>
              </a:spcBef>
              <a:spcAft>
                <a:spcPts val="0"/>
              </a:spcAft>
              <a:defRPr>
                <a:solidFill>
                  <a:schemeClr val="tx1"/>
                </a:solidFill>
                <a:latin typeface="Arial"/>
              </a:defRPr>
            </a:lvl9pPr>
          </a:lstStyle>
          <a:p>
            <a:pPr>
              <a:defRPr/>
            </a:pPr>
            <a:endParaRPr lang="ru-RU">
              <a:solidFill>
                <a:schemeClr val="bg2">
                  <a:lumMod val="50000"/>
                </a:schemeClr>
              </a:solidFill>
            </a:endParaRPr>
          </a:p>
          <a:p>
            <a:pPr>
              <a:buClr>
                <a:schemeClr val="accent2">
                  <a:lumMod val="75000"/>
                </a:schemeClr>
              </a:buClr>
              <a:buSzPct val="80000"/>
              <a:defRPr/>
            </a:pPr>
            <a:r>
              <a:rPr lang="ru-RU" sz="1800">
                <a:solidFill>
                  <a:schemeClr val="bg1"/>
                </a:solidFill>
                <a:latin typeface="+mn-lt"/>
                <a:ea typeface="+mn-ea"/>
                <a:cs typeface="Arial"/>
              </a:rPr>
              <a:t>Группа: ИКПИ-23</a:t>
            </a:r>
            <a:endParaRPr/>
          </a:p>
          <a:p>
            <a:pPr>
              <a:buClr>
                <a:schemeClr val="accent2">
                  <a:lumMod val="75000"/>
                </a:schemeClr>
              </a:buClr>
              <a:buSzPct val="80000"/>
              <a:defRPr/>
            </a:pPr>
            <a:r>
              <a:rPr lang="ru-RU" sz="1800">
                <a:solidFill>
                  <a:schemeClr val="bg1"/>
                </a:solidFill>
                <a:latin typeface="+mn-lt"/>
                <a:ea typeface="+mn-ea"/>
              </a:rPr>
              <a:t>Выполнил: студент Даненко </a:t>
            </a:r>
            <a:r>
              <a:rPr lang="ru-RU" sz="1800">
                <a:solidFill>
                  <a:schemeClr val="bg1"/>
                </a:solidFill>
                <a:latin typeface="Arial"/>
                <a:ea typeface="Arial"/>
              </a:rPr>
              <a:t>А.А.</a:t>
            </a:r>
            <a:endParaRPr/>
          </a:p>
          <a:p>
            <a:pPr>
              <a:buClr>
                <a:schemeClr val="accent2">
                  <a:lumMod val="75000"/>
                </a:schemeClr>
              </a:buClr>
              <a:buSzPct val="80000"/>
              <a:defRPr/>
            </a:pPr>
            <a:r>
              <a:rPr lang="ru-RU" sz="1800">
                <a:solidFill>
                  <a:schemeClr val="bg1"/>
                </a:solidFill>
                <a:latin typeface="+mn-lt"/>
                <a:ea typeface="+mn-ea"/>
                <a:cs typeface="Arial"/>
              </a:rPr>
              <a:t>Преподаватель: к. воен. н., доц. О.Л. Мальцева</a:t>
            </a:r>
            <a:endParaRPr/>
          </a:p>
        </p:txBody>
      </p:sp>
      <p:sp>
        <p:nvSpPr>
          <p:cNvPr id="710385695" name="Текст 5"/>
          <p:cNvSpPr txBox="1"/>
          <p:nvPr/>
        </p:nvSpPr>
        <p:spPr bwMode="auto">
          <a:xfrm>
            <a:off x="2548038" y="4569388"/>
            <a:ext cx="3532187" cy="455612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marL="0" indent="0" algn="l" rtl="0">
              <a:spcBef>
                <a:spcPts val="0"/>
              </a:spcBef>
              <a:spcAft>
                <a:spcPts val="0"/>
              </a:spcAft>
              <a:buClr>
                <a:srgbClr val="DD7E0E"/>
              </a:buClr>
              <a:buSzPct val="80000"/>
              <a:buFont typeface="Wingdings"/>
              <a:buNone/>
              <a:defRPr sz="2800" b="1">
                <a:solidFill>
                  <a:schemeClr val="accent2">
                    <a:lumMod val="75000"/>
                  </a:schemeClr>
                </a:solidFill>
                <a:latin typeface="Arial"/>
                <a:ea typeface="+mn-ea"/>
                <a:cs typeface="Arial"/>
              </a:defRPr>
            </a:lvl1pPr>
            <a:lvl2pPr marL="538480" indent="-273050" algn="l" rtl="0">
              <a:spcBef>
                <a:spcPts val="0"/>
              </a:spcBef>
              <a:spcAft>
                <a:spcPts val="0"/>
              </a:spcAft>
              <a:buClr>
                <a:srgbClr val="DD7E0E"/>
              </a:buClr>
              <a:buFont typeface="Arial"/>
              <a:buChar char="–"/>
              <a:defRPr sz="2800">
                <a:solidFill>
                  <a:srgbClr val="404040"/>
                </a:solidFill>
                <a:latin typeface="Arial"/>
                <a:ea typeface="+mn-ea"/>
                <a:cs typeface="Arial"/>
              </a:defRPr>
            </a:lvl2pPr>
            <a:lvl3pPr marL="717550" indent="-179705" algn="l" rtl="0">
              <a:spcBef>
                <a:spcPts val="0"/>
              </a:spcBef>
              <a:spcAft>
                <a:spcPts val="0"/>
              </a:spcAft>
              <a:buClr>
                <a:srgbClr val="DD7E0E"/>
              </a:buClr>
              <a:buFont typeface="Arial"/>
              <a:buChar char="•"/>
              <a:defRPr sz="1600">
                <a:solidFill>
                  <a:srgbClr val="595959"/>
                </a:solidFill>
                <a:latin typeface="Arial"/>
                <a:ea typeface="+mn-ea"/>
                <a:cs typeface="Arial"/>
              </a:defRPr>
            </a:lvl3pPr>
            <a:lvl4pPr marL="897254" indent="-179705" algn="l" rtl="0">
              <a:spcBef>
                <a:spcPts val="0"/>
              </a:spcBef>
              <a:spcAft>
                <a:spcPts val="0"/>
              </a:spcAft>
              <a:buFont typeface="Arial"/>
              <a:buChar char="–"/>
              <a:defRPr sz="1400">
                <a:solidFill>
                  <a:srgbClr val="595959"/>
                </a:solidFill>
                <a:latin typeface="Arial"/>
                <a:ea typeface="+mn-ea"/>
                <a:cs typeface="Arial"/>
              </a:defRPr>
            </a:lvl4pPr>
            <a:lvl5pPr marL="1076325" indent="-273050" algn="l" rtl="0">
              <a:spcBef>
                <a:spcPts val="0"/>
              </a:spcBef>
              <a:spcAft>
                <a:spcPts val="0"/>
              </a:spcAft>
              <a:buFont typeface="Arial"/>
              <a:buChar char="»"/>
              <a:defRPr sz="1200">
                <a:solidFill>
                  <a:srgbClr val="595959"/>
                </a:solidFill>
                <a:latin typeface="Arial"/>
                <a:ea typeface="+mn-ea"/>
                <a:cs typeface="Arial"/>
              </a:defRPr>
            </a:lvl5pPr>
            <a:lvl6pPr marL="2514600" indent="-228600" algn="l" defTabSz="914400" rtl="0">
              <a:spcBef>
                <a:spcPts val="0"/>
              </a:spcBef>
              <a:buFont typeface="Arial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>
              <a:spcBef>
                <a:spcPts val="0"/>
              </a:spcBef>
              <a:buFont typeface="Arial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>
              <a:spcBef>
                <a:spcPts val="0"/>
              </a:spcBef>
              <a:buFont typeface="Arial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>
              <a:spcBef>
                <a:spcPts val="0"/>
              </a:spcBef>
              <a:buFont typeface="Arial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Bef>
                <a:spcPts val="0"/>
              </a:spcBef>
              <a:spcAft>
                <a:spcPts val="0"/>
              </a:spcAft>
              <a:buClr>
                <a:schemeClr val="accent2">
                  <a:lumMod val="75000"/>
                </a:schemeClr>
              </a:buClr>
              <a:defRPr/>
            </a:pPr>
            <a:r>
              <a:rPr lang="ru-RU" sz="1400" b="0">
                <a:solidFill>
                  <a:schemeClr val="bg1"/>
                </a:solidFill>
                <a:latin typeface="+mn-lt"/>
              </a:rPr>
              <a:t>Санкт-Петербург </a:t>
            </a:r>
            <a:endParaRPr/>
          </a:p>
          <a:p>
            <a:pPr algn="ctr">
              <a:spcBef>
                <a:spcPts val="0"/>
              </a:spcBef>
              <a:spcAft>
                <a:spcPts val="0"/>
              </a:spcAft>
              <a:buClr>
                <a:schemeClr val="accent2">
                  <a:lumMod val="75000"/>
                </a:schemeClr>
              </a:buClr>
              <a:defRPr/>
            </a:pPr>
            <a:r>
              <a:rPr lang="ru-RU" sz="1400" b="0">
                <a:solidFill>
                  <a:schemeClr val="bg1"/>
                </a:solidFill>
                <a:latin typeface="+mn-lt"/>
              </a:rPr>
              <a:t>2025</a:t>
            </a:r>
            <a:endParaRPr lang="ru-RU" sz="1400">
              <a:solidFill>
                <a:schemeClr val="bg1"/>
              </a:solidFill>
              <a:latin typeface="+mn-lt"/>
              <a:cs typeface="Times New Roman"/>
            </a:endParaRPr>
          </a:p>
        </p:txBody>
      </p:sp>
      <p:sp>
        <p:nvSpPr>
          <p:cNvPr id="404018977" name="Текст 5"/>
          <p:cNvSpPr txBox="1"/>
          <p:nvPr/>
        </p:nvSpPr>
        <p:spPr bwMode="auto">
          <a:xfrm>
            <a:off x="238551" y="2377949"/>
            <a:ext cx="8799580" cy="565485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marL="0" indent="0" algn="l" rtl="0">
              <a:spcBef>
                <a:spcPts val="0"/>
              </a:spcBef>
              <a:spcAft>
                <a:spcPts val="0"/>
              </a:spcAft>
              <a:buClr>
                <a:srgbClr val="DD7E0E"/>
              </a:buClr>
              <a:buSzPct val="80000"/>
              <a:buFont typeface="Wingdings"/>
              <a:buNone/>
              <a:defRPr sz="2800" b="1">
                <a:solidFill>
                  <a:schemeClr val="accent2">
                    <a:lumMod val="75000"/>
                  </a:schemeClr>
                </a:solidFill>
                <a:latin typeface="Arial"/>
                <a:ea typeface="+mn-ea"/>
                <a:cs typeface="Arial"/>
              </a:defRPr>
            </a:lvl1pPr>
            <a:lvl2pPr marL="538480" indent="-273050" algn="l" rtl="0">
              <a:spcBef>
                <a:spcPts val="0"/>
              </a:spcBef>
              <a:spcAft>
                <a:spcPts val="0"/>
              </a:spcAft>
              <a:buClr>
                <a:srgbClr val="DD7E0E"/>
              </a:buClr>
              <a:buFont typeface="Arial"/>
              <a:buChar char="–"/>
              <a:defRPr sz="2800">
                <a:solidFill>
                  <a:srgbClr val="404040"/>
                </a:solidFill>
                <a:latin typeface="Arial"/>
                <a:ea typeface="+mn-ea"/>
                <a:cs typeface="Arial"/>
              </a:defRPr>
            </a:lvl2pPr>
            <a:lvl3pPr marL="717550" indent="-179705" algn="l" rtl="0">
              <a:spcBef>
                <a:spcPts val="0"/>
              </a:spcBef>
              <a:spcAft>
                <a:spcPts val="0"/>
              </a:spcAft>
              <a:buClr>
                <a:srgbClr val="DD7E0E"/>
              </a:buClr>
              <a:buFont typeface="Arial"/>
              <a:buChar char="•"/>
              <a:defRPr sz="1600">
                <a:solidFill>
                  <a:srgbClr val="595959"/>
                </a:solidFill>
                <a:latin typeface="Arial"/>
                <a:ea typeface="+mn-ea"/>
                <a:cs typeface="Arial"/>
              </a:defRPr>
            </a:lvl3pPr>
            <a:lvl4pPr marL="897254" indent="-179705" algn="l" rtl="0">
              <a:spcBef>
                <a:spcPts val="0"/>
              </a:spcBef>
              <a:spcAft>
                <a:spcPts val="0"/>
              </a:spcAft>
              <a:buFont typeface="Arial"/>
              <a:buChar char="–"/>
              <a:defRPr sz="1400">
                <a:solidFill>
                  <a:srgbClr val="595959"/>
                </a:solidFill>
                <a:latin typeface="Arial"/>
                <a:ea typeface="+mn-ea"/>
                <a:cs typeface="Arial"/>
              </a:defRPr>
            </a:lvl4pPr>
            <a:lvl5pPr marL="1076325" indent="-273050" algn="l" rtl="0">
              <a:spcBef>
                <a:spcPts val="0"/>
              </a:spcBef>
              <a:spcAft>
                <a:spcPts val="0"/>
              </a:spcAft>
              <a:buFont typeface="Arial"/>
              <a:buChar char="»"/>
              <a:defRPr sz="1200">
                <a:solidFill>
                  <a:srgbClr val="595959"/>
                </a:solidFill>
                <a:latin typeface="Arial"/>
                <a:ea typeface="+mn-ea"/>
                <a:cs typeface="Arial"/>
              </a:defRPr>
            </a:lvl5pPr>
            <a:lvl6pPr marL="2514600" indent="-228600" algn="l" defTabSz="914400" rtl="0">
              <a:spcBef>
                <a:spcPts val="0"/>
              </a:spcBef>
              <a:buFont typeface="Arial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>
              <a:spcBef>
                <a:spcPts val="0"/>
              </a:spcBef>
              <a:buFont typeface="Arial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>
              <a:spcBef>
                <a:spcPts val="0"/>
              </a:spcBef>
              <a:buFont typeface="Arial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>
              <a:spcBef>
                <a:spcPts val="0"/>
              </a:spcBef>
              <a:buFont typeface="Arial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Aft>
                <a:spcPts val="0"/>
              </a:spcAft>
              <a:buClr>
                <a:schemeClr val="accent2">
                  <a:lumMod val="75000"/>
                </a:schemeClr>
              </a:buClr>
              <a:defRPr/>
            </a:pPr>
            <a:r>
              <a:rPr lang="ru-RU" sz="1800" b="0">
                <a:solidFill>
                  <a:schemeClr val="bg1"/>
                </a:solidFill>
              </a:rPr>
              <a:t>Задача 1 : Оценка БЖД людей и устойчивости функционирования объекта в случаях воздействия УВ, СИ и сейсмической волны.</a:t>
            </a:r>
            <a:endParaRPr lang="ru-RU" sz="1800">
              <a:solidFill>
                <a:schemeClr val="bg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med" p14:dur="1000" advClick="1">
        <p:fade thruBlk="0"/>
      </p:transition>
    </mc:Choice>
    <mc:Fallback>
      <p:transition spd="med" advClick="1">
        <p:fade thruBlk="0"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91279447" name="Google Shape;34;p6"/>
          <p:cNvSpPr txBox="1">
            <a:spLocks noGrp="1"/>
          </p:cNvSpPr>
          <p:nvPr>
            <p:ph type="title"/>
          </p:nvPr>
        </p:nvSpPr>
        <p:spPr bwMode="auto">
          <a:xfrm>
            <a:off x="442927" y="337700"/>
            <a:ext cx="6256200" cy="440700"/>
          </a:xfrm>
          <a:prstGeom prst="rect">
            <a:avLst/>
          </a:prstGeom>
        </p:spPr>
        <p:txBody>
          <a:bodyPr spcFirstLastPara="1" wrap="square" lIns="19025" tIns="19025" rIns="19025" bIns="190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ru-RU"/>
              <a:t>Содержание </a:t>
            </a:r>
            <a:endParaRPr/>
          </a:p>
        </p:txBody>
      </p:sp>
      <p:sp>
        <p:nvSpPr>
          <p:cNvPr id="1296981345" name="Google Shape;35;p6"/>
          <p:cNvSpPr txBox="1">
            <a:spLocks noGrp="1"/>
          </p:cNvSpPr>
          <p:nvPr>
            <p:ph type="sldNum" idx="12"/>
          </p:nvPr>
        </p:nvSpPr>
        <p:spPr bwMode="auto">
          <a:xfrm>
            <a:off x="8704250" y="4816581"/>
            <a:ext cx="206100" cy="145500"/>
          </a:xfrm>
          <a:prstGeom prst="rect">
            <a:avLst/>
          </a:prstGeom>
        </p:spPr>
        <p:txBody>
          <a:bodyPr spcFirstLastPara="1" wrap="square" lIns="19025" tIns="19025" rIns="19025" bIns="190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4D4E4F"/>
              </a:buClr>
              <a:buSzPts val="1100"/>
              <a:buFont typeface="Arial"/>
              <a:buNone/>
              <a:defRPr/>
            </a:pPr>
            <a:fld id="{00000000-1234-1234-1234-123412341234}" type="slidenum">
              <a:rPr lang="en-US"/>
              <a:t>2</a:t>
            </a:fld>
            <a:endParaRPr sz="1400">
              <a:solidFill>
                <a:srgbClr val="000000"/>
              </a:solidFill>
            </a:endParaRPr>
          </a:p>
        </p:txBody>
      </p:sp>
      <p:sp>
        <p:nvSpPr>
          <p:cNvPr id="1704573332" name="Google Shape;36;p6"/>
          <p:cNvSpPr txBox="1">
            <a:spLocks noGrp="1"/>
          </p:cNvSpPr>
          <p:nvPr>
            <p:ph type="body" idx="1"/>
          </p:nvPr>
        </p:nvSpPr>
        <p:spPr bwMode="auto">
          <a:xfrm>
            <a:off x="439800" y="910163"/>
            <a:ext cx="8264400" cy="3750300"/>
          </a:xfrm>
          <a:prstGeom prst="rect">
            <a:avLst/>
          </a:prstGeom>
        </p:spPr>
        <p:txBody>
          <a:bodyPr spcFirstLastPara="1" wrap="square" lIns="19025" tIns="19025" rIns="19025" bIns="19025" anchor="t" anchorCtr="0">
            <a:noAutofit/>
          </a:bodyPr>
          <a:lstStyle/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ru-RU" sz="2000" b="1"/>
              <a:t>Введение </a:t>
            </a:r>
            <a:endParaRPr/>
          </a:p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ru-RU" sz="2000" b="1"/>
              <a:t>1. Общая характеристика объекта связи</a:t>
            </a:r>
            <a:endParaRPr/>
          </a:p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ru-RU" sz="2000" b="1"/>
              <a:t>2. Исходные данные для расчета</a:t>
            </a:r>
            <a:endParaRPr/>
          </a:p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ru-RU" sz="2000" b="1"/>
              <a:t>3. Оценка общей обстановки на объекте связи в случае ЧС</a:t>
            </a:r>
            <a:endParaRPr sz="2000" b="1"/>
          </a:p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2000" b="1"/>
              <a:t>4. Задачи</a:t>
            </a:r>
            <a:endParaRPr/>
          </a:p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2000" b="1"/>
              <a:t>5. Расчеты</a:t>
            </a:r>
            <a:endParaRPr/>
          </a:p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2000" b="1"/>
              <a:t>6. Результаты расчетов</a:t>
            </a:r>
            <a:endParaRPr/>
          </a:p>
          <a:p>
            <a:pPr marL="0" lvl="0" indent="0">
              <a:lnSpc>
                <a:spcPct val="120000"/>
              </a:lnSpc>
              <a:spcBef>
                <a:spcPts val="0"/>
              </a:spcBef>
              <a:buNone/>
              <a:defRPr/>
            </a:pPr>
            <a:r>
              <a:rPr lang="ru-RU" sz="2000" b="1"/>
              <a:t>Выводы</a:t>
            </a:r>
            <a:endParaRPr/>
          </a:p>
          <a:p>
            <a:pPr marL="0" lvl="0" indent="0">
              <a:lnSpc>
                <a:spcPct val="120000"/>
              </a:lnSpc>
              <a:spcBef>
                <a:spcPts val="0"/>
              </a:spcBef>
              <a:buNone/>
              <a:defRPr/>
            </a:pPr>
            <a:r>
              <a:rPr lang="ru-RU" sz="2000" b="1"/>
              <a:t>Инженерно-технические мероприятия</a:t>
            </a:r>
            <a:endParaRPr/>
          </a:p>
          <a:p>
            <a:pPr marL="0" lvl="0" indent="0">
              <a:lnSpc>
                <a:spcPct val="120000"/>
              </a:lnSpc>
              <a:spcBef>
                <a:spcPts val="0"/>
              </a:spcBef>
              <a:buNone/>
              <a:defRPr/>
            </a:pPr>
            <a:r>
              <a:rPr lang="ru-RU" sz="2000" b="1"/>
              <a:t>Литература </a:t>
            </a:r>
            <a:endParaRPr sz="2000" b="1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med" p14:dur="1000" advClick="1">
        <p:fade thruBlk="0"/>
      </p:transition>
    </mc:Choice>
    <mc:Fallback>
      <p:transition spd="med" advClick="1">
        <p:fade thruBlk="0"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11207358" name="Google Shape;34;p6"/>
          <p:cNvSpPr txBox="1">
            <a:spLocks noGrp="1"/>
          </p:cNvSpPr>
          <p:nvPr>
            <p:ph type="title"/>
          </p:nvPr>
        </p:nvSpPr>
        <p:spPr bwMode="auto">
          <a:xfrm>
            <a:off x="442927" y="337700"/>
            <a:ext cx="6256200" cy="440700"/>
          </a:xfrm>
          <a:prstGeom prst="rect">
            <a:avLst/>
          </a:prstGeom>
        </p:spPr>
        <p:txBody>
          <a:bodyPr spcFirstLastPara="1" wrap="square" lIns="19025" tIns="19025" rIns="19025" bIns="190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/>
              <a:t>Введение</a:t>
            </a:r>
            <a:endParaRPr/>
          </a:p>
        </p:txBody>
      </p:sp>
      <p:sp>
        <p:nvSpPr>
          <p:cNvPr id="126722035" name="Google Shape;35;p6"/>
          <p:cNvSpPr txBox="1">
            <a:spLocks noGrp="1"/>
          </p:cNvSpPr>
          <p:nvPr>
            <p:ph type="sldNum" idx="12"/>
          </p:nvPr>
        </p:nvSpPr>
        <p:spPr bwMode="auto">
          <a:xfrm>
            <a:off x="8704250" y="4816581"/>
            <a:ext cx="206100" cy="145500"/>
          </a:xfrm>
          <a:prstGeom prst="rect">
            <a:avLst/>
          </a:prstGeom>
        </p:spPr>
        <p:txBody>
          <a:bodyPr spcFirstLastPara="1" wrap="square" lIns="19025" tIns="19025" rIns="19025" bIns="190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4D4E4F"/>
              </a:buClr>
              <a:buSzPts val="1100"/>
              <a:buFont typeface="Arial"/>
              <a:buNone/>
              <a:defRPr/>
            </a:pPr>
            <a:fld id="{00000000-1234-1234-1234-123412341234}" type="slidenum">
              <a:rPr lang="en-US"/>
              <a:t>3</a:t>
            </a:fld>
            <a:endParaRPr sz="1400">
              <a:solidFill>
                <a:srgbClr val="000000"/>
              </a:solidFill>
            </a:endParaRPr>
          </a:p>
        </p:txBody>
      </p:sp>
      <p:sp>
        <p:nvSpPr>
          <p:cNvPr id="815114255" name="TextBox 3"/>
          <p:cNvSpPr txBox="1"/>
          <p:nvPr/>
        </p:nvSpPr>
        <p:spPr bwMode="auto">
          <a:xfrm>
            <a:off x="484764" y="816426"/>
            <a:ext cx="8449802" cy="228635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/>
            <a:spAutoFit/>
          </a:bodyPr>
          <a:lstStyle/>
          <a:p>
            <a:pPr>
              <a:defRPr/>
            </a:pPr>
            <a:r>
              <a:rPr lang="ru-RU" sz="1800"/>
              <a:t>Товарищ преподаватель, главным инженером СУС </a:t>
            </a:r>
            <a:r>
              <a:rPr lang="ru-RU" sz="1800"/>
              <a:t>н.п</a:t>
            </a:r>
            <a:r>
              <a:rPr lang="ru-RU" sz="1800"/>
              <a:t>. </a:t>
            </a:r>
            <a:r>
              <a:rPr lang="ru-RU" sz="1800" b="0" i="1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Даненко Данилой Андреевичем</a:t>
            </a:r>
            <a:r>
              <a:rPr lang="ru-RU" sz="1800"/>
              <a:t> при уяснении задачи и оценки обстановки </a:t>
            </a:r>
            <a:r>
              <a:rPr lang="ru-RU" sz="1800" b="1"/>
              <a:t>варианта №</a:t>
            </a:r>
            <a:r>
              <a:rPr lang="en-US" sz="1800" b="1"/>
              <a:t>0</a:t>
            </a:r>
            <a:r>
              <a:rPr lang="ru-RU" sz="1800" b="1"/>
              <a:t>5</a:t>
            </a:r>
            <a:r>
              <a:rPr lang="ru-RU" sz="1800"/>
              <a:t> было выявлено:</a:t>
            </a:r>
            <a:br>
              <a:rPr lang="ru-RU" sz="1800"/>
            </a:br>
            <a:r>
              <a:rPr lang="ru-RU" sz="1800"/>
              <a:t>  в результате нарушения правил хранения взрывчатых веществ(ВВ) на   складе произошел взрыв тринитротолуола(ТНТ).</a:t>
            </a:r>
            <a:endParaRPr/>
          </a:p>
          <a:p>
            <a:pPr>
              <a:defRPr/>
            </a:pPr>
            <a:endParaRPr lang="ru-RU" sz="1800"/>
          </a:p>
          <a:p>
            <a:pPr>
              <a:defRPr/>
            </a:pPr>
            <a:r>
              <a:rPr lang="ru-RU" sz="1800"/>
              <a:t> R1 = </a:t>
            </a:r>
            <a:r>
              <a:rPr lang="ru-RU" sz="1800" b="1"/>
              <a:t>1.8</a:t>
            </a:r>
            <a:r>
              <a:rPr lang="en-US" sz="1800" b="1"/>
              <a:t>2</a:t>
            </a:r>
            <a:r>
              <a:rPr lang="ru-RU" sz="1800"/>
              <a:t> км - расстояние до места взрыва</a:t>
            </a:r>
            <a:endParaRPr/>
          </a:p>
          <a:p>
            <a:pPr>
              <a:defRPr/>
            </a:pPr>
            <a:r>
              <a:rPr lang="ru-RU" sz="1800"/>
              <a:t> q = </a:t>
            </a:r>
            <a:r>
              <a:rPr lang="ru-RU" sz="1800" b="1"/>
              <a:t>45</a:t>
            </a:r>
            <a:r>
              <a:rPr lang="ru-RU" sz="1800"/>
              <a:t> </a:t>
            </a:r>
            <a:r>
              <a:rPr lang="ru-RU" sz="1800"/>
              <a:t>кт</a:t>
            </a:r>
            <a:r>
              <a:rPr lang="ru-RU" sz="1800"/>
              <a:t> - количество ТНТ на складе промышленных ВВ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med" p14:dur="1000" advClick="1">
        <p:fade thruBlk="0"/>
      </p:transition>
    </mc:Choice>
    <mc:Fallback>
      <p:transition spd="med" advClick="1">
        <p:fade thruBlk="0"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28408647" name="Google Shape;34;p6"/>
          <p:cNvSpPr txBox="1">
            <a:spLocks noGrp="1"/>
          </p:cNvSpPr>
          <p:nvPr>
            <p:ph type="title"/>
          </p:nvPr>
        </p:nvSpPr>
        <p:spPr bwMode="auto">
          <a:xfrm>
            <a:off x="442927" y="337700"/>
            <a:ext cx="6256200" cy="440700"/>
          </a:xfrm>
          <a:prstGeom prst="rect">
            <a:avLst/>
          </a:prstGeom>
        </p:spPr>
        <p:txBody>
          <a:bodyPr spcFirstLastPara="1" wrap="square" lIns="19025" tIns="19025" rIns="19025" bIns="19025" anchor="t" anchorCtr="0">
            <a:noAutofit/>
          </a:bodyPr>
          <a:lstStyle/>
          <a:p>
            <a:pPr>
              <a:defRPr/>
            </a:pPr>
            <a:r>
              <a:rPr lang="en-US"/>
              <a:t>1. </a:t>
            </a:r>
            <a:r>
              <a:rPr lang="ru-RU"/>
              <a:t>Общая характеристика объекта связи</a:t>
            </a:r>
            <a:br>
              <a:rPr lang="ru-RU"/>
            </a:br>
            <a:endParaRPr/>
          </a:p>
        </p:txBody>
      </p:sp>
      <p:sp>
        <p:nvSpPr>
          <p:cNvPr id="2056639091" name="Google Shape;35;p6"/>
          <p:cNvSpPr txBox="1">
            <a:spLocks noGrp="1"/>
          </p:cNvSpPr>
          <p:nvPr>
            <p:ph type="sldNum" idx="12"/>
          </p:nvPr>
        </p:nvSpPr>
        <p:spPr bwMode="auto">
          <a:xfrm>
            <a:off x="8704250" y="4816581"/>
            <a:ext cx="206100" cy="145500"/>
          </a:xfrm>
          <a:prstGeom prst="rect">
            <a:avLst/>
          </a:prstGeom>
        </p:spPr>
        <p:txBody>
          <a:bodyPr spcFirstLastPara="1" wrap="square" lIns="19025" tIns="19025" rIns="19025" bIns="190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4D4E4F"/>
              </a:buClr>
              <a:buSzPts val="1100"/>
              <a:buFont typeface="Arial"/>
              <a:buNone/>
              <a:defRPr/>
            </a:pPr>
            <a:fld id="{00000000-1234-1234-1234-123412341234}" type="slidenum">
              <a:rPr lang="en-US"/>
              <a:t>4</a:t>
            </a:fld>
            <a:endParaRPr sz="1400">
              <a:solidFill>
                <a:srgbClr val="000000"/>
              </a:solidFill>
            </a:endParaRPr>
          </a:p>
        </p:txBody>
      </p:sp>
      <p:sp>
        <p:nvSpPr>
          <p:cNvPr id="767406504" name="Google Shape;36;p6"/>
          <p:cNvSpPr txBox="1">
            <a:spLocks noGrp="1"/>
          </p:cNvSpPr>
          <p:nvPr>
            <p:ph type="body" idx="1"/>
          </p:nvPr>
        </p:nvSpPr>
        <p:spPr bwMode="auto">
          <a:xfrm>
            <a:off x="442927" y="904130"/>
            <a:ext cx="8264400" cy="3732639"/>
          </a:xfrm>
          <a:prstGeom prst="rect">
            <a:avLst/>
          </a:prstGeom>
        </p:spPr>
        <p:txBody>
          <a:bodyPr spcFirstLastPara="1" wrap="square" lIns="19025" tIns="19025" rIns="19025" bIns="19025" anchor="t" anchorCtr="0">
            <a:noAutofit/>
          </a:bodyPr>
          <a:lstStyle/>
          <a:p>
            <a:pPr marL="0" indent="457200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None/>
              <a:defRPr/>
            </a:pPr>
            <a:r>
              <a:rPr lang="ru-RU" sz="1400"/>
              <a:t>1. Объект связи (СУС) размещается на окраине </a:t>
            </a:r>
            <a:r>
              <a:rPr lang="ru-RU" sz="1400" b="1" i="1"/>
              <a:t>н.п</a:t>
            </a:r>
            <a:r>
              <a:rPr lang="ru-RU" sz="1400" b="1" i="1"/>
              <a:t>. Перекаты</a:t>
            </a:r>
            <a:r>
              <a:rPr lang="ru-RU" sz="1400"/>
              <a:t>, в котором проживают</a:t>
            </a:r>
            <a:r>
              <a:rPr lang="en-US" sz="1400"/>
              <a:t> </a:t>
            </a:r>
            <a:r>
              <a:rPr lang="ru-RU" sz="1400" b="1" i="1"/>
              <a:t>Nнп</a:t>
            </a:r>
            <a:r>
              <a:rPr lang="ru-RU" sz="1400" b="1" i="1"/>
              <a:t> = 500 </a:t>
            </a:r>
            <a:r>
              <a:rPr lang="ru-RU" sz="1400"/>
              <a:t>человек. Жители </a:t>
            </a:r>
            <a:r>
              <a:rPr lang="ru-RU" sz="1400"/>
              <a:t>н.п</a:t>
            </a:r>
            <a:r>
              <a:rPr lang="ru-RU" sz="1400"/>
              <a:t>. обеспечены  противогазами на</a:t>
            </a:r>
            <a:r>
              <a:rPr lang="ru-RU" sz="1400" b="1"/>
              <a:t> 7</a:t>
            </a:r>
            <a:r>
              <a:rPr lang="ru-RU" sz="1400" b="1" i="1"/>
              <a:t>5%</a:t>
            </a:r>
            <a:r>
              <a:rPr lang="ru-RU" sz="1400"/>
              <a:t> .</a:t>
            </a:r>
            <a:endParaRPr/>
          </a:p>
          <a:p>
            <a:pPr marL="0" indent="457200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None/>
              <a:defRPr/>
            </a:pPr>
            <a:r>
              <a:rPr lang="ru-RU" sz="1400"/>
              <a:t>2. </a:t>
            </a:r>
            <a:r>
              <a:rPr lang="ru-RU" sz="1400"/>
              <a:t>Жилые дома в </a:t>
            </a:r>
            <a:r>
              <a:rPr lang="ru-RU" sz="1400" b="1" i="1"/>
              <a:t>н.п</a:t>
            </a:r>
            <a:r>
              <a:rPr lang="ru-RU" sz="1400" b="1" i="1"/>
              <a:t>. Перекаты </a:t>
            </a:r>
            <a:r>
              <a:rPr lang="ru-RU" sz="1400"/>
              <a:t>одноэтажные деревянные</a:t>
            </a:r>
            <a:r>
              <a:rPr lang="ru-RU" sz="1400" b="1" i="1"/>
              <a:t>,  </a:t>
            </a:r>
            <a:r>
              <a:rPr lang="ru-RU" sz="1400"/>
              <a:t>2- и 4-  этажные из кирпича с</a:t>
            </a:r>
            <a:r>
              <a:rPr lang="ru-RU" sz="1400"/>
              <a:t> </a:t>
            </a:r>
            <a:r>
              <a:rPr lang="en-US" sz="1400"/>
              <a:t>	</a:t>
            </a:r>
            <a:r>
              <a:rPr lang="ru-RU" sz="1400" b="1" i="1"/>
              <a:t>Косл</a:t>
            </a:r>
            <a:r>
              <a:rPr lang="ru-RU" sz="1400" b="1" i="1"/>
              <a:t> =</a:t>
            </a:r>
            <a:r>
              <a:rPr lang="ru-RU" sz="1400"/>
              <a:t> 7.</a:t>
            </a:r>
            <a:endParaRPr/>
          </a:p>
          <a:p>
            <a:pPr marL="0" indent="457200"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None/>
              <a:defRPr/>
            </a:pPr>
            <a:r>
              <a:rPr lang="ru-RU" sz="1400"/>
              <a:t>3. Здания объекта связи 4</a:t>
            </a:r>
            <a:r>
              <a:rPr lang="ru-RU" sz="1400" b="1" i="1"/>
              <a:t>–этажные</a:t>
            </a:r>
            <a:r>
              <a:rPr lang="ru-RU" sz="1400"/>
              <a:t> из </a:t>
            </a:r>
            <a:r>
              <a:rPr lang="ru-RU" sz="1400" b="1" i="1"/>
              <a:t>кирпича</a:t>
            </a:r>
            <a:r>
              <a:rPr lang="ru-RU" sz="1400"/>
              <a:t> </a:t>
            </a:r>
            <a:r>
              <a:rPr lang="ru-RU" sz="1400"/>
              <a:t>с коэффициентом ослабления </a:t>
            </a:r>
            <a:r>
              <a:rPr lang="ru-RU" sz="1400" b="1" i="1"/>
              <a:t>Косл</a:t>
            </a:r>
            <a:r>
              <a:rPr lang="ru-RU" sz="1400" b="1" i="1"/>
              <a:t> =</a:t>
            </a:r>
            <a:r>
              <a:rPr lang="ru-RU" sz="1400"/>
              <a:t> 7. </a:t>
            </a:r>
            <a:endParaRPr/>
          </a:p>
          <a:p>
            <a:pPr marL="0" indent="457200"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None/>
              <a:defRPr/>
            </a:pPr>
            <a:r>
              <a:rPr lang="ru-RU" sz="1400"/>
              <a:t>4. Подвод электроэнергии к объекту связи осуществляется</a:t>
            </a:r>
            <a:r>
              <a:rPr lang="en-US" sz="1400"/>
              <a:t> </a:t>
            </a:r>
            <a:r>
              <a:rPr lang="ru-RU" sz="1400" b="1" i="1"/>
              <a:t>от 2 независимых</a:t>
            </a:r>
            <a:r>
              <a:rPr lang="en-US" sz="1400" b="1" i="1"/>
              <a:t> </a:t>
            </a:r>
            <a:r>
              <a:rPr lang="ru-RU" sz="1400" b="1" i="1"/>
              <a:t>трансформаторных подстанций на ЛЭП</a:t>
            </a:r>
            <a:r>
              <a:rPr lang="ru-RU" sz="1400"/>
              <a:t> подземным кабелем.</a:t>
            </a:r>
            <a:endParaRPr/>
          </a:p>
          <a:p>
            <a:pPr marL="0" indent="457200"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None/>
              <a:defRPr/>
            </a:pPr>
            <a:r>
              <a:rPr lang="ru-RU" sz="1400"/>
              <a:t>5. Аварийная дизель-электрическая станция (ДЭС) размещается на территории объекта в</a:t>
            </a:r>
            <a:r>
              <a:rPr lang="en-US" sz="1400"/>
              <a:t> </a:t>
            </a:r>
            <a:r>
              <a:rPr lang="ru-RU" sz="1400"/>
              <a:t>одноэтажном здании из кирпича.</a:t>
            </a:r>
            <a:endParaRPr/>
          </a:p>
          <a:p>
            <a:pPr marL="0" indent="457200"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None/>
              <a:defRPr/>
            </a:pPr>
            <a:r>
              <a:rPr lang="ru-RU" sz="1400"/>
              <a:t>6. Линии связи к СУС проложены подземным кабелем и воздушными  линиями связи на</a:t>
            </a:r>
            <a:r>
              <a:rPr lang="en-US" sz="1400"/>
              <a:t> </a:t>
            </a:r>
            <a:r>
              <a:rPr lang="ru-RU" sz="1400"/>
              <a:t>деревянных опорах (для проводных специальностей).</a:t>
            </a:r>
            <a:endParaRPr/>
          </a:p>
          <a:p>
            <a:pPr marL="0" indent="457200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None/>
              <a:defRPr/>
            </a:pPr>
            <a:r>
              <a:rPr lang="ru-RU" sz="1400"/>
              <a:t>7. Дежурная смена на объекте составляет </a:t>
            </a:r>
            <a:r>
              <a:rPr lang="ru-RU" sz="1400" b="1" i="1"/>
              <a:t>Nос</a:t>
            </a:r>
            <a:r>
              <a:rPr lang="ru-RU" sz="1400" b="1" i="1"/>
              <a:t> = 45 </a:t>
            </a:r>
            <a:r>
              <a:rPr lang="ru-RU" sz="1400"/>
              <a:t>человек. Обеспеченность противогазами </a:t>
            </a:r>
            <a:r>
              <a:rPr lang="ru-RU" sz="1400" b="1" i="1"/>
              <a:t>100%</a:t>
            </a:r>
            <a:r>
              <a:rPr lang="ru-RU" sz="1400"/>
              <a:t>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med" p14:dur="1000" advClick="1">
        <p:fade thruBlk="0"/>
      </p:transition>
    </mc:Choice>
    <mc:Fallback>
      <p:transition spd="med" advClick="1">
        <p:fade thruBlk="0"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67037816" name="Google Shape;34;p6"/>
          <p:cNvSpPr txBox="1">
            <a:spLocks noGrp="1"/>
          </p:cNvSpPr>
          <p:nvPr>
            <p:ph type="title"/>
          </p:nvPr>
        </p:nvSpPr>
        <p:spPr bwMode="auto">
          <a:xfrm>
            <a:off x="442927" y="337700"/>
            <a:ext cx="6256200" cy="440700"/>
          </a:xfrm>
          <a:prstGeom prst="rect">
            <a:avLst/>
          </a:prstGeom>
        </p:spPr>
        <p:txBody>
          <a:bodyPr spcFirstLastPara="1" wrap="square" lIns="19025" tIns="19025" rIns="19025" bIns="19025" anchor="t" anchorCtr="0">
            <a:noAutofit/>
          </a:bodyPr>
          <a:lstStyle/>
          <a:p>
            <a:pPr>
              <a:defRPr/>
            </a:pPr>
            <a:r>
              <a:rPr lang="en-US"/>
              <a:t>2. </a:t>
            </a:r>
            <a:r>
              <a:rPr lang="ru-RU"/>
              <a:t>Исходные данные для расчета</a:t>
            </a:r>
            <a:br>
              <a:rPr lang="ru-RU"/>
            </a:br>
            <a:br>
              <a:rPr lang="ru-RU"/>
            </a:br>
            <a:endParaRPr/>
          </a:p>
        </p:txBody>
      </p:sp>
      <p:sp>
        <p:nvSpPr>
          <p:cNvPr id="324311701" name="Google Shape;35;p6"/>
          <p:cNvSpPr txBox="1">
            <a:spLocks noGrp="1"/>
          </p:cNvSpPr>
          <p:nvPr>
            <p:ph type="sldNum" idx="12"/>
          </p:nvPr>
        </p:nvSpPr>
        <p:spPr bwMode="auto">
          <a:xfrm>
            <a:off x="8704250" y="4816581"/>
            <a:ext cx="206100" cy="145500"/>
          </a:xfrm>
          <a:prstGeom prst="rect">
            <a:avLst/>
          </a:prstGeom>
        </p:spPr>
        <p:txBody>
          <a:bodyPr spcFirstLastPara="1" wrap="square" lIns="19025" tIns="19025" rIns="19025" bIns="190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4D4E4F"/>
              </a:buClr>
              <a:buSzPts val="1100"/>
              <a:buFont typeface="Arial"/>
              <a:buNone/>
              <a:defRPr/>
            </a:pPr>
            <a:fld id="{00000000-1234-1234-1234-123412341234}" type="slidenum">
              <a:rPr lang="en-US"/>
              <a:t>5</a:t>
            </a:fld>
            <a:endParaRPr sz="1400">
              <a:solidFill>
                <a:srgbClr val="000000"/>
              </a:solidFill>
            </a:endParaRPr>
          </a:p>
        </p:txBody>
      </p:sp>
      <p:sp>
        <p:nvSpPr>
          <p:cNvPr id="654286424" name="Текстовое поле 1"/>
          <p:cNvSpPr txBox="1"/>
          <p:nvPr/>
        </p:nvSpPr>
        <p:spPr bwMode="auto">
          <a:xfrm>
            <a:off x="1224364" y="2806197"/>
            <a:ext cx="2583815" cy="58356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1600">
                <a:solidFill>
                  <a:srgbClr val="000000"/>
                </a:solidFill>
                <a:latin typeface="Times New Roman"/>
                <a:ea typeface="Times New Roman"/>
              </a:rPr>
              <a:t>Сторона каждого квадрата </a:t>
            </a:r>
            <a:endParaRPr/>
          </a:p>
          <a:p>
            <a:pPr algn="ctr">
              <a:defRPr/>
            </a:pPr>
            <a:r>
              <a:rPr lang="en-US" sz="1600">
                <a:solidFill>
                  <a:srgbClr val="000000"/>
                </a:solidFill>
                <a:latin typeface="Times New Roman"/>
                <a:ea typeface="Times New Roman"/>
              </a:rPr>
              <a:t>карты равна 1 километру</a:t>
            </a:r>
            <a:endParaRPr/>
          </a:p>
        </p:txBody>
      </p:sp>
      <p:sp>
        <p:nvSpPr>
          <p:cNvPr id="574692629" name="TextBox 3"/>
          <p:cNvSpPr txBox="1"/>
          <p:nvPr/>
        </p:nvSpPr>
        <p:spPr bwMode="auto">
          <a:xfrm>
            <a:off x="260812" y="782442"/>
            <a:ext cx="8645375" cy="8233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/>
            <a:spAutoFit/>
          </a:bodyPr>
          <a:lstStyle/>
          <a:p>
            <a:pPr>
              <a:defRPr/>
            </a:pPr>
            <a:r>
              <a:rPr lang="ru-RU" sz="1600"/>
              <a:t>На расстоянии R1 = </a:t>
            </a:r>
            <a:r>
              <a:rPr lang="ru-RU" sz="1600" b="1" i="1"/>
              <a:t>1,8</a:t>
            </a:r>
            <a:r>
              <a:rPr lang="en-US" sz="1600" b="1" i="1"/>
              <a:t>2</a:t>
            </a:r>
            <a:r>
              <a:rPr lang="ru-RU" sz="1600"/>
              <a:t> км (</a:t>
            </a:r>
            <a:r>
              <a:rPr lang="ru-RU" sz="1600" b="1" i="1"/>
              <a:t>18</a:t>
            </a:r>
            <a:r>
              <a:rPr lang="en-US" sz="1600" b="1" i="1"/>
              <a:t>2</a:t>
            </a:r>
            <a:r>
              <a:rPr lang="ru-RU" sz="1600" b="1" i="1"/>
              <a:t>0</a:t>
            </a:r>
            <a:r>
              <a:rPr lang="ru-RU" sz="1600"/>
              <a:t> м) от </a:t>
            </a:r>
            <a:r>
              <a:rPr lang="ru-RU" sz="1600"/>
              <a:t>н.п</a:t>
            </a:r>
            <a:r>
              <a:rPr lang="ru-RU" sz="1600"/>
              <a:t>. Перекаты размещается склад промышленных взрывчатых веществ (ТНТ) с общим эквивалентным весом q = </a:t>
            </a:r>
            <a:r>
              <a:rPr lang="ru-RU" sz="1600" b="1" i="1"/>
              <a:t>45</a:t>
            </a:r>
            <a:r>
              <a:rPr lang="ru-RU" sz="1600"/>
              <a:t> </a:t>
            </a:r>
            <a:r>
              <a:rPr lang="ru-RU" sz="1600"/>
              <a:t>кт</a:t>
            </a:r>
            <a:r>
              <a:rPr lang="ru-RU" sz="1600"/>
              <a:t> (45*10^6 кг)</a:t>
            </a:r>
            <a:endParaRPr/>
          </a:p>
        </p:txBody>
      </p:sp>
      <p:pic>
        <p:nvPicPr>
          <p:cNvPr id="1730820256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4582782" y="1442520"/>
            <a:ext cx="3543910" cy="331091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med" p14:dur="1000" advClick="1">
        <p:fade thruBlk="0"/>
      </p:transition>
    </mc:Choice>
    <mc:Fallback>
      <p:transition spd="med" advClick="1">
        <p:fade thruBlk="0"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91881921" name="Google Shape;34;p6"/>
          <p:cNvSpPr txBox="1">
            <a:spLocks noGrp="1"/>
          </p:cNvSpPr>
          <p:nvPr>
            <p:ph type="title"/>
          </p:nvPr>
        </p:nvSpPr>
        <p:spPr bwMode="auto">
          <a:xfrm>
            <a:off x="442927" y="337700"/>
            <a:ext cx="6256200" cy="440700"/>
          </a:xfrm>
          <a:prstGeom prst="rect">
            <a:avLst/>
          </a:prstGeom>
        </p:spPr>
        <p:txBody>
          <a:bodyPr spcFirstLastPara="1" wrap="square" lIns="19025" tIns="19025" rIns="19025" bIns="19025" anchor="t" anchorCtr="0">
            <a:noAutofit/>
          </a:bodyPr>
          <a:lstStyle/>
          <a:p>
            <a:pPr>
              <a:defRPr/>
            </a:pPr>
            <a:r>
              <a:rPr lang="en-US"/>
              <a:t>3. </a:t>
            </a:r>
            <a:r>
              <a:rPr lang="ru-RU"/>
              <a:t>Оценка общей обстановки на объекте СУС в случае ЧС</a:t>
            </a:r>
            <a:br>
              <a:rPr lang="ru-RU"/>
            </a:br>
            <a:br>
              <a:rPr lang="ru-RU"/>
            </a:br>
            <a:br>
              <a:rPr lang="ru-RU"/>
            </a:br>
            <a:endParaRPr/>
          </a:p>
        </p:txBody>
      </p:sp>
      <p:sp>
        <p:nvSpPr>
          <p:cNvPr id="1342592340" name="Google Shape;35;p6"/>
          <p:cNvSpPr txBox="1">
            <a:spLocks noGrp="1"/>
          </p:cNvSpPr>
          <p:nvPr>
            <p:ph type="sldNum" idx="12"/>
          </p:nvPr>
        </p:nvSpPr>
        <p:spPr bwMode="auto">
          <a:xfrm>
            <a:off x="8704250" y="4816581"/>
            <a:ext cx="206100" cy="145500"/>
          </a:xfrm>
          <a:prstGeom prst="rect">
            <a:avLst/>
          </a:prstGeom>
        </p:spPr>
        <p:txBody>
          <a:bodyPr spcFirstLastPara="1" wrap="square" lIns="19025" tIns="19025" rIns="19025" bIns="190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4D4E4F"/>
              </a:buClr>
              <a:buSzPts val="1100"/>
              <a:buFont typeface="Arial"/>
              <a:buNone/>
              <a:defRPr/>
            </a:pPr>
            <a:fld id="{00000000-1234-1234-1234-123412341234}" type="slidenum">
              <a:rPr lang="en-US"/>
              <a:t>6</a:t>
            </a:fld>
            <a:endParaRPr sz="1400">
              <a:solidFill>
                <a:srgbClr val="000000"/>
              </a:solidFill>
            </a:endParaRPr>
          </a:p>
        </p:txBody>
      </p:sp>
      <p:sp>
        <p:nvSpPr>
          <p:cNvPr id="1470133719" name="Google Shape;36;p6"/>
          <p:cNvSpPr txBox="1">
            <a:spLocks noGrp="1"/>
          </p:cNvSpPr>
          <p:nvPr>
            <p:ph type="body" idx="1"/>
          </p:nvPr>
        </p:nvSpPr>
        <p:spPr bwMode="auto">
          <a:xfrm>
            <a:off x="436672" y="1068331"/>
            <a:ext cx="8264400" cy="3146830"/>
          </a:xfrm>
          <a:prstGeom prst="rect">
            <a:avLst/>
          </a:prstGeom>
        </p:spPr>
        <p:txBody>
          <a:bodyPr spcFirstLastPara="1" wrap="square" lIns="19025" tIns="19025" rIns="19025" bIns="19025" anchor="t" anchorCtr="0">
            <a:noAutofit/>
          </a:bodyPr>
          <a:lstStyle/>
          <a:p>
            <a:pPr marL="0" indent="0">
              <a:lnSpc>
                <a:spcPct val="120000"/>
              </a:lnSpc>
              <a:spcBef>
                <a:spcPts val="0"/>
              </a:spcBef>
              <a:buNone/>
              <a:defRPr/>
            </a:pPr>
            <a:r>
              <a:rPr lang="ru-RU"/>
              <a:t>1. Методом прогнозирования определили потенциально опасные объекты на территории объекта, </a:t>
            </a:r>
            <a:r>
              <a:rPr lang="ru-RU"/>
              <a:t>н.п</a:t>
            </a:r>
            <a:r>
              <a:rPr lang="ru-RU"/>
              <a:t>. Перекаты и на территории, прилегающей к объекту. Ими являются:</a:t>
            </a:r>
            <a:endParaRPr/>
          </a:p>
          <a:p>
            <a:pPr marL="0" indent="457200">
              <a:lnSpc>
                <a:spcPct val="120000"/>
              </a:lnSpc>
              <a:spcBef>
                <a:spcPts val="0"/>
              </a:spcBef>
              <a:buNone/>
              <a:defRPr/>
            </a:pPr>
            <a:r>
              <a:rPr lang="ru-RU"/>
              <a:t>- хранилище промышленных ВВ (ТНТ).</a:t>
            </a:r>
            <a:endParaRPr/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  <a:defRPr/>
            </a:pPr>
            <a:endParaRPr lang="ru-RU"/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  <a:defRPr/>
            </a:pPr>
            <a:r>
              <a:rPr lang="ru-RU"/>
              <a:t>2. В результате ЧС могут возникнуть следующие поражающие факторы:</a:t>
            </a:r>
            <a:endParaRPr/>
          </a:p>
          <a:p>
            <a:pPr marL="285750" indent="-285750">
              <a:lnSpc>
                <a:spcPct val="120000"/>
              </a:lnSpc>
              <a:spcBef>
                <a:spcPts val="0"/>
              </a:spcBef>
              <a:buFont typeface="Arial"/>
              <a:buChar char="•"/>
              <a:defRPr/>
            </a:pPr>
            <a:r>
              <a:rPr lang="ru-RU"/>
              <a:t>УВ, СВ и СИ в случае взрыва склада промышленных ВВ (ТНТ),</a:t>
            </a:r>
            <a:endParaRPr/>
          </a:p>
          <a:p>
            <a:pPr marL="285750" indent="-285750">
              <a:lnSpc>
                <a:spcPct val="120000"/>
              </a:lnSpc>
              <a:spcBef>
                <a:spcPts val="0"/>
              </a:spcBef>
              <a:buFont typeface="Arial"/>
              <a:buChar char="•"/>
              <a:defRPr/>
            </a:pPr>
            <a:r>
              <a:rPr lang="ru-RU"/>
              <a:t>сейсмические волны в результате землетрясения интенсивностью </a:t>
            </a:r>
            <a:endParaRPr/>
          </a:p>
          <a:p>
            <a:pPr marL="0" indent="457200">
              <a:lnSpc>
                <a:spcPct val="120000"/>
              </a:lnSpc>
              <a:spcBef>
                <a:spcPts val="0"/>
              </a:spcBef>
              <a:buNone/>
              <a:defRPr/>
            </a:pPr>
            <a:r>
              <a:rPr lang="en-US" b="1" i="1"/>
              <a:t>I = 7</a:t>
            </a:r>
            <a:r>
              <a:rPr lang="ru-RU" b="1" i="1"/>
              <a:t> баллов</a:t>
            </a:r>
            <a:r>
              <a:rPr lang="ru-RU"/>
              <a:t>.</a:t>
            </a:r>
            <a:endParaRPr/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  <a:defRPr/>
            </a:pPr>
            <a:endParaRPr lang="ru-RU"/>
          </a:p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med" p14:dur="1000" advClick="1">
        <p:fade thruBlk="0"/>
      </p:transition>
    </mc:Choice>
    <mc:Fallback>
      <p:transition spd="med" advClick="1">
        <p:fade thruBlk="0"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79529288" name="Google Shape;35;p6"/>
          <p:cNvSpPr txBox="1">
            <a:spLocks noGrp="1"/>
          </p:cNvSpPr>
          <p:nvPr>
            <p:ph type="sldNum" idx="12"/>
          </p:nvPr>
        </p:nvSpPr>
        <p:spPr bwMode="auto">
          <a:xfrm>
            <a:off x="8704250" y="4816581"/>
            <a:ext cx="206100" cy="145500"/>
          </a:xfrm>
          <a:prstGeom prst="rect">
            <a:avLst/>
          </a:prstGeom>
        </p:spPr>
        <p:txBody>
          <a:bodyPr spcFirstLastPara="1" wrap="square" lIns="19025" tIns="19025" rIns="19025" bIns="190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4D4E4F"/>
              </a:buClr>
              <a:buSzPts val="1100"/>
              <a:buFont typeface="Arial"/>
              <a:buNone/>
              <a:defRPr/>
            </a:pPr>
            <a:fld id="{00000000-1234-1234-1234-123412341234}" type="slidenum">
              <a:rPr lang="en-US"/>
              <a:t>7</a:t>
            </a:fld>
            <a:endParaRPr sz="1400">
              <a:solidFill>
                <a:srgbClr val="000000"/>
              </a:solidFill>
            </a:endParaRPr>
          </a:p>
        </p:txBody>
      </p:sp>
      <p:sp>
        <p:nvSpPr>
          <p:cNvPr id="1975086448" name="Google Shape;36;p6"/>
          <p:cNvSpPr txBox="1">
            <a:spLocks noGrp="1"/>
          </p:cNvSpPr>
          <p:nvPr>
            <p:ph type="body" idx="1"/>
          </p:nvPr>
        </p:nvSpPr>
        <p:spPr bwMode="auto">
          <a:xfrm>
            <a:off x="663786" y="301311"/>
            <a:ext cx="5682169" cy="440700"/>
          </a:xfrm>
          <a:prstGeom prst="rect">
            <a:avLst/>
          </a:prstGeom>
        </p:spPr>
        <p:txBody>
          <a:bodyPr spcFirstLastPara="1" wrap="square" lIns="19025" tIns="19025" rIns="19025" bIns="19025" anchor="t" anchorCtr="0">
            <a:noAutofit/>
          </a:bodyPr>
          <a:lstStyle/>
          <a:p>
            <a:pPr marL="0" indent="0">
              <a:spcBef>
                <a:spcPts val="0"/>
              </a:spcBef>
              <a:buNone/>
              <a:defRPr/>
            </a:pPr>
            <a:r>
              <a:rPr lang="ru-RU"/>
              <a:t>3. Таблица прочностных характеристик </a:t>
            </a:r>
            <a:endParaRPr lang="ru-RU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600"/>
          </a:p>
        </p:txBody>
      </p:sp>
      <p:graphicFrame>
        <p:nvGraphicFramePr>
          <p:cNvPr id="320436745" name="Таблица 2"/>
          <p:cNvGraphicFramePr>
            <a:graphicFrameLocks xmlns:a="http://schemas.openxmlformats.org/drawingml/2006/main" noGrp="1"/>
          </p:cNvGraphicFramePr>
          <p:nvPr/>
        </p:nvGraphicFramePr>
        <p:xfrm rot="0">
          <a:off x="663575" y="850900"/>
          <a:ext cx="8079105" cy="4223950"/>
        </p:xfrm>
        <a:graphic>
          <a:graphicData uri="http://schemas.openxmlformats.org/drawingml/2006/table">
            <a:tbl>
              <a:tblPr firstRow="1" firstCol="0" lastRow="0" lastCol="0" bandRow="1" bandCol="0">
                <a:tableStyleId>{5C22544A-7EE6-4342-B048-85BDC9FD1C3A}</a:tableStyleId>
              </a:tblPr>
              <a:tblGrid>
                <a:gridCol w="4043828"/>
                <a:gridCol w="1477286"/>
                <a:gridCol w="1278995"/>
                <a:gridCol w="1278996"/>
              </a:tblGrid>
              <a:tr h="252730">
                <a:tc rowSpan="2">
                  <a:txBody>
                    <a:bodyPr/>
                    <a:p>
                      <a:pPr algn="ctr">
                        <a:defRPr/>
                      </a:pPr>
                      <a:r>
                        <a:rPr lang="en-US" sz="100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Элементы</a:t>
                      </a:r>
                      <a:r>
                        <a:rPr lang="en-US" sz="100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 </a:t>
                      </a:r>
                      <a:r>
                        <a:rPr lang="en-US" sz="100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объектов</a:t>
                      </a:r>
                      <a:r>
                        <a:rPr lang="en-US" sz="100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 </a:t>
                      </a:r>
                      <a:r>
                        <a:rPr lang="en-US" sz="100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связи</a:t>
                      </a:r>
                      <a:endParaRPr/>
                    </a:p>
                  </a:txBody>
                  <a:tcPr anchor="ctr">
                    <a:lnL w="12700" algn="ctr">
                      <a:solidFill>
                        <a:schemeClr val="tx1"/>
                      </a:solidFill>
                    </a:lnL>
                    <a:lnR w="12700" algn="ctr">
                      <a:solidFill>
                        <a:schemeClr val="tx1"/>
                      </a:solidFill>
                    </a:lnR>
                    <a:lnT w="12700" algn="ctr">
                      <a:solidFill>
                        <a:schemeClr val="tx1"/>
                      </a:solidFill>
                    </a:lnT>
                    <a:lnB w="12700" algn="ctr">
                      <a:solidFill>
                        <a:schemeClr val="tx1"/>
                      </a:solidFill>
                    </a:lnB>
                    <a:noFill/>
                  </a:tcPr>
                </a:tc>
                <a:tc gridSpan="3">
                  <a:txBody>
                    <a:bodyPr/>
                    <a:p>
                      <a:pPr algn="ctr">
                        <a:defRPr/>
                      </a:pPr>
                      <a:r>
                        <a:rPr lang="ru-RU" sz="100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Поражающие факторы</a:t>
                      </a:r>
                      <a:endParaRPr/>
                    </a:p>
                  </a:txBody>
                  <a:tcPr anchor="ctr">
                    <a:lnL w="12700" algn="ctr">
                      <a:solidFill>
                        <a:schemeClr val="tx1"/>
                      </a:solidFill>
                    </a:lnL>
                    <a:lnR w="12700" algn="ctr">
                      <a:solidFill>
                        <a:schemeClr val="tx1"/>
                      </a:solidFill>
                    </a:lnR>
                    <a:lnT w="12700" algn="ctr">
                      <a:solidFill>
                        <a:schemeClr val="tx1"/>
                      </a:solidFill>
                    </a:lnT>
                    <a:lnB w="12700" algn="ctr">
                      <a:solidFill>
                        <a:schemeClr val="tx1"/>
                      </a:solidFill>
                    </a:lnB>
                    <a:noFill/>
                  </a:tcPr>
                </a:tc>
                <a:tc hMerge="1">
                  <a:txBody>
                    <a:bodyPr/>
                    <a:p>
                      <a:endParaRPr/>
                    </a:p>
                  </a:txBody>
                </a:tc>
                <a:tc hMerge="1">
                  <a:txBody>
                    <a:bodyPr/>
                    <a:p>
                      <a:endParaRPr/>
                    </a:p>
                  </a:txBody>
                </a:tc>
              </a:tr>
              <a:tr h="281940">
                <a:tc vMerge="1">
                  <a:txBody>
                    <a:bodyPr/>
                    <a:p>
                      <a:pPr>
                        <a:defRPr/>
                      </a:pPr>
                      <a:endParaRPr lang="ru-RU"/>
                    </a:p>
                  </a:txBody>
                  <a:tcPr>
                    <a:lnL w="12700" algn="ctr">
                      <a:solidFill>
                        <a:schemeClr val="tx1"/>
                      </a:solidFill>
                    </a:lnL>
                    <a:lnR w="12700" algn="ctr">
                      <a:solidFill>
                        <a:schemeClr val="tx1"/>
                      </a:solidFill>
                    </a:lnR>
                    <a:lnB w="12700" algn="ctr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mc:AlternateContent xmlns:mc="http://schemas.openxmlformats.org/markup-compatibility/2006" xmlns:m="http://schemas.openxmlformats.org/officeDocument/2006/math">
                        <mc:Choice xmlns:a14="http://schemas.microsoft.com/office/drawing/2010/main" Requires="a14">
                          <a14:m>
                            <m:oMathPara>
                              <m:oMathParaPr/>
                              <m:oMath>
                                <m:sSubSup>
                                  <m:sSubSupPr>
                                    <m:alnScr m:val="off"/>
                                    <m:ctrlPr>
                                      <a:rPr lang="en-US" sz="1000" i="1">
                                        <a:solidFill>
                                          <a:schemeClr val="tx1">
                                            <a:lumMod val="50000"/>
                                          </a:schemeClr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sSubSupPr>
                                  <m:e>
                                    <m:r>
                                      <m:rPr/>
                                      <a:rPr lang="en-US" sz="1000">
                                        <a:solidFill>
                                          <a:schemeClr val="tx1">
                                            <a:lumMod val="50000"/>
                                          </a:schemeClr>
                                        </a:solidFill>
                                        <a:latin typeface="Cambria Math"/>
                                      </a:rPr>
                                      <m:t>∆</m:t>
                                    </m:r>
                                    <m:r>
                                      <m:rPr/>
                                      <a:rPr lang="zh-CN" sz="1000">
                                        <a:solidFill>
                                          <a:schemeClr val="tx1">
                                            <a:lumMod val="50000"/>
                                          </a:schemeClr>
                                        </a:solidFill>
                                        <a:latin typeface="Cambria Math"/>
                                      </a:rPr>
                                      <m:t>𝑃</m:t>
                                    </m:r>
                                  </m:e>
                                  <m:sub>
                                    <m:r>
                                      <m:rPr/>
                                      <a:rPr lang="en-US" sz="1000" i="1">
                                        <a:solidFill>
                                          <a:schemeClr val="tx1">
                                            <a:lumMod val="50000"/>
                                          </a:schemeClr>
                                        </a:solidFill>
                                        <a:latin typeface="Cambria Math"/>
                                        <a:cs typeface="Cambria Math"/>
                                      </a:rPr>
                                      <m:t>ф</m:t>
                                    </m:r>
                                  </m:sub>
                                  <m:sup>
                                    <m:r>
                                      <m:rPr/>
                                      <a:rPr lang="en-US" sz="1000" i="1">
                                        <a:solidFill>
                                          <a:schemeClr val="tx1">
                                            <a:lumMod val="50000"/>
                                          </a:schemeClr>
                                        </a:solidFill>
                                        <a:latin typeface="Cambria Math"/>
                                        <a:cs typeface="Cambria Math"/>
                                      </a:rPr>
                                      <m:t>ТНТ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</mc:Choice>
                        <mc:Fallback/>
                      </mc:AlternateContent>
                      <a:r>
                        <a:rPr lang="en-US" sz="100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, </a:t>
                      </a:r>
                      <a:r>
                        <a:rPr lang="en-US" sz="100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кПа</a:t>
                      </a:r>
                      <a:endParaRPr/>
                    </a:p>
                  </a:txBody>
                  <a:tcPr anchor="ctr">
                    <a:lnL w="12700" algn="ctr">
                      <a:solidFill>
                        <a:schemeClr val="tx1"/>
                      </a:solidFill>
                    </a:lnL>
                    <a:lnR w="12700" algn="ctr">
                      <a:solidFill>
                        <a:schemeClr val="tx1"/>
                      </a:solidFill>
                    </a:lnR>
                    <a:lnT w="12700" algn="ctr">
                      <a:solidFill>
                        <a:schemeClr val="tx1"/>
                      </a:solidFill>
                    </a:lnT>
                    <a:lnB w="12700" algn="ctr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mc:AlternateContent xmlns:mc="http://schemas.openxmlformats.org/markup-compatibility/2006" xmlns:m="http://schemas.openxmlformats.org/officeDocument/2006/math">
                        <mc:Choice xmlns:a14="http://schemas.microsoft.com/office/drawing/2010/main" Requires="a14">
                          <a14:m>
                            <m:oMathPara>
                              <m:oMathParaPr/>
                              <m:oMath>
                                <m:sSub>
                                  <m:sSubPr>
                                    <m:ctrlPr>
                                      <a:rPr lang="en-US" sz="1000" i="1"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nor m:val="on"/>
                                      </m:rPr>
                                      <a:rPr lang="en-US" sz="1000">
                                        <a:latin typeface="Cambria Math"/>
                                      </a:rPr>
                                      <m:t>U</m:t>
                                    </m:r>
                                  </m:e>
                                  <m:sub>
                                    <m:r>
                                      <m:rPr/>
                                      <a:rPr lang="en-US" sz="1000" i="1">
                                        <a:latin typeface="Cambria Math"/>
                                        <a:cs typeface="Cambria Math"/>
                                      </a:rPr>
                                      <m:t>тнт</m:t>
                                    </m:r>
                                  </m:sub>
                                </m:sSub>
                              </m:oMath>
                            </m:oMathPara>
                          </a14:m>
                        </mc:Choice>
                        <mc:Fallback/>
                      </mc:AlternateContent>
                      <a:r>
                        <a:rPr lang="en-US" sz="100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 , </a:t>
                      </a:r>
                      <a:r>
                        <a:rPr lang="en-US" sz="100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кДж</a:t>
                      </a:r>
                      <a:r>
                        <a:rPr lang="en-US" sz="100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/</a:t>
                      </a:r>
                      <a:r>
                        <a:rPr lang="en-US" sz="100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м</a:t>
                      </a:r>
                      <a:r>
                        <a:rPr lang="en-US" sz="100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2</a:t>
                      </a:r>
                      <a:endParaRPr/>
                    </a:p>
                  </a:txBody>
                  <a:tcPr anchor="ctr">
                    <a:lnL w="12700" algn="ctr">
                      <a:solidFill>
                        <a:schemeClr val="tx1"/>
                      </a:solidFill>
                    </a:lnL>
                    <a:lnR w="12700" algn="ctr">
                      <a:solidFill>
                        <a:schemeClr val="tx1"/>
                      </a:solidFill>
                    </a:lnR>
                    <a:lnT w="12700" algn="ctr">
                      <a:solidFill>
                        <a:schemeClr val="tx1"/>
                      </a:solidFill>
                    </a:lnT>
                    <a:lnB w="12700" algn="ctr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  <a:defRPr/>
                      </a:pPr>
                      <a:r>
                        <a:rPr lang="en-US" sz="100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I, </a:t>
                      </a:r>
                      <a:r>
                        <a:rPr lang="ru-RU" sz="100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баллы</a:t>
                      </a:r>
                      <a:endParaRPr/>
                    </a:p>
                  </a:txBody>
                  <a:tcPr anchor="ctr">
                    <a:lnL w="12700" algn="ctr">
                      <a:solidFill>
                        <a:schemeClr val="tx1"/>
                      </a:solidFill>
                    </a:lnL>
                    <a:lnR w="12700" algn="ctr">
                      <a:solidFill>
                        <a:schemeClr val="tx1"/>
                      </a:solidFill>
                    </a:lnR>
                    <a:lnT w="12700" algn="ctr">
                      <a:solidFill>
                        <a:schemeClr val="tx1"/>
                      </a:solidFill>
                    </a:lnT>
                    <a:lnB w="12700" algn="ctr">
                      <a:solidFill>
                        <a:schemeClr val="tx1"/>
                      </a:solidFill>
                    </a:lnB>
                    <a:noFill/>
                  </a:tcPr>
                </a:tc>
              </a:tr>
              <a:tr h="288000">
                <a:tc>
                  <a:txBody>
                    <a:bodyPr/>
                    <a:p>
                      <a:pPr>
                        <a:buNone/>
                        <a:defRPr/>
                      </a:pPr>
                      <a:r>
                        <a:rPr lang="en-US" sz="100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Одноэтажные</a:t>
                      </a:r>
                      <a:r>
                        <a:rPr lang="en-US" sz="100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 </a:t>
                      </a:r>
                      <a:r>
                        <a:rPr lang="en-US" sz="100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здания</a:t>
                      </a:r>
                      <a:r>
                        <a:rPr lang="en-US" sz="100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 </a:t>
                      </a:r>
                      <a:r>
                        <a:rPr lang="en-US" sz="100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из</a:t>
                      </a:r>
                      <a:r>
                        <a:rPr lang="en-US" sz="100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 </a:t>
                      </a:r>
                      <a:r>
                        <a:rPr lang="en-US" sz="100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дерева</a:t>
                      </a:r>
                      <a:endParaRPr/>
                    </a:p>
                  </a:txBody>
                  <a:tcPr>
                    <a:lnL w="12700" algn="ctr">
                      <a:solidFill>
                        <a:schemeClr val="tx1"/>
                      </a:solidFill>
                    </a:lnL>
                    <a:lnR w="12700" algn="ctr">
                      <a:solidFill>
                        <a:schemeClr val="tx1"/>
                      </a:solidFill>
                    </a:lnR>
                    <a:lnT w="12700" algn="ctr">
                      <a:solidFill>
                        <a:schemeClr val="tx1"/>
                      </a:solidFill>
                    </a:lnT>
                    <a:lnB w="12700" algn="ctr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  <a:defRPr/>
                      </a:pPr>
                      <a:r>
                        <a:rPr lang="ru-RU" sz="100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8</a:t>
                      </a:r>
                      <a:endParaRPr/>
                    </a:p>
                  </a:txBody>
                  <a:tcPr>
                    <a:lnL w="12700" algn="ctr">
                      <a:solidFill>
                        <a:schemeClr val="tx1"/>
                      </a:solidFill>
                    </a:lnL>
                    <a:lnR w="12700" algn="ctr">
                      <a:solidFill>
                        <a:schemeClr val="tx1"/>
                      </a:solidFill>
                    </a:lnR>
                    <a:lnT w="12700" algn="ctr">
                      <a:solidFill>
                        <a:schemeClr val="tx1"/>
                      </a:solidFill>
                    </a:lnT>
                    <a:lnB w="12700" algn="ctr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  <a:defRPr/>
                      </a:pPr>
                      <a:r>
                        <a:rPr lang="ru-RU" sz="100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250</a:t>
                      </a:r>
                      <a:endParaRPr/>
                    </a:p>
                  </a:txBody>
                  <a:tcPr>
                    <a:lnL w="12700" algn="ctr">
                      <a:solidFill>
                        <a:schemeClr val="tx1"/>
                      </a:solidFill>
                    </a:lnL>
                    <a:lnR w="12700" algn="ctr">
                      <a:solidFill>
                        <a:schemeClr val="tx1"/>
                      </a:solidFill>
                    </a:lnR>
                    <a:lnT w="12700" algn="ctr">
                      <a:solidFill>
                        <a:schemeClr val="tx1"/>
                      </a:solidFill>
                    </a:lnT>
                    <a:lnB w="12700" algn="ctr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  <a:defRPr/>
                      </a:pPr>
                      <a:r>
                        <a:rPr lang="ru-RU" sz="100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4,5</a:t>
                      </a:r>
                      <a:endParaRPr/>
                    </a:p>
                  </a:txBody>
                  <a:tcPr>
                    <a:lnL w="12700" algn="ctr">
                      <a:solidFill>
                        <a:schemeClr val="tx1"/>
                      </a:solidFill>
                    </a:lnL>
                    <a:lnR w="12700" algn="ctr">
                      <a:solidFill>
                        <a:schemeClr val="tx1"/>
                      </a:solidFill>
                    </a:lnR>
                    <a:lnT w="12700" algn="ctr">
                      <a:solidFill>
                        <a:schemeClr val="tx1"/>
                      </a:solidFill>
                    </a:lnT>
                    <a:lnB w="12700" algn="ctr">
                      <a:solidFill>
                        <a:schemeClr val="tx1"/>
                      </a:solidFill>
                    </a:lnB>
                    <a:noFill/>
                  </a:tcPr>
                </a:tc>
              </a:tr>
              <a:tr h="288000"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 sz="100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2-</a:t>
                      </a:r>
                      <a:r>
                        <a:rPr lang="en-US" sz="100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х</a:t>
                      </a:r>
                      <a:r>
                        <a:rPr lang="en-US" sz="100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 </a:t>
                      </a:r>
                      <a:r>
                        <a:rPr lang="en-US" sz="100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этажные</a:t>
                      </a:r>
                      <a:r>
                        <a:rPr lang="en-US" sz="100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 </a:t>
                      </a:r>
                      <a:r>
                        <a:rPr lang="en-US" sz="100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здания</a:t>
                      </a:r>
                      <a:r>
                        <a:rPr lang="en-US" sz="100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, </a:t>
                      </a:r>
                      <a:r>
                        <a:rPr lang="en-US" sz="100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кирпичные</a:t>
                      </a:r>
                      <a:endParaRPr/>
                    </a:p>
                  </a:txBody>
                  <a:tcPr>
                    <a:lnL w="12700" algn="ctr">
                      <a:solidFill>
                        <a:schemeClr val="tx1"/>
                      </a:solidFill>
                    </a:lnL>
                    <a:lnR w="12700" algn="ctr">
                      <a:solidFill>
                        <a:schemeClr val="tx1"/>
                      </a:solidFill>
                    </a:lnR>
                    <a:lnT w="12700" algn="ctr">
                      <a:solidFill>
                        <a:schemeClr val="tx1"/>
                      </a:solidFill>
                    </a:lnT>
                    <a:lnB w="12700" algn="ctr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ru-RU" sz="100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15</a:t>
                      </a:r>
                      <a:endParaRPr/>
                    </a:p>
                  </a:txBody>
                  <a:tcPr>
                    <a:lnL w="12700" algn="ctr">
                      <a:solidFill>
                        <a:schemeClr val="tx1"/>
                      </a:solidFill>
                    </a:lnL>
                    <a:lnR w="12700" algn="ctr">
                      <a:solidFill>
                        <a:schemeClr val="tx1"/>
                      </a:solidFill>
                    </a:lnR>
                    <a:lnT w="12700" algn="ctr">
                      <a:solidFill>
                        <a:schemeClr val="tx1"/>
                      </a:solidFill>
                    </a:lnT>
                    <a:lnB w="12700" algn="ctr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en-US" sz="100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2500</a:t>
                      </a:r>
                      <a:endParaRPr/>
                    </a:p>
                  </a:txBody>
                  <a:tcPr>
                    <a:lnL w="12700" algn="ctr">
                      <a:solidFill>
                        <a:schemeClr val="tx1"/>
                      </a:solidFill>
                    </a:lnL>
                    <a:lnR w="12700" algn="ctr">
                      <a:solidFill>
                        <a:schemeClr val="tx1"/>
                      </a:solidFill>
                    </a:lnR>
                    <a:lnT w="12700" algn="ctr">
                      <a:solidFill>
                        <a:schemeClr val="tx1"/>
                      </a:solidFill>
                    </a:lnT>
                    <a:lnB w="12700" algn="ctr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  <a:defRPr/>
                      </a:pPr>
                      <a:r>
                        <a:rPr lang="ru-RU" sz="100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5,5</a:t>
                      </a:r>
                      <a:endParaRPr/>
                    </a:p>
                  </a:txBody>
                  <a:tcPr>
                    <a:lnL w="12700" algn="ctr">
                      <a:solidFill>
                        <a:schemeClr val="tx1"/>
                      </a:solidFill>
                    </a:lnL>
                    <a:lnR w="12700" algn="ctr">
                      <a:solidFill>
                        <a:schemeClr val="tx1"/>
                      </a:solidFill>
                    </a:lnR>
                    <a:lnT w="12700" algn="ctr">
                      <a:solidFill>
                        <a:schemeClr val="tx1"/>
                      </a:solidFill>
                    </a:lnT>
                    <a:lnB w="12700" algn="ctr">
                      <a:solidFill>
                        <a:schemeClr val="tx1"/>
                      </a:solidFill>
                    </a:lnB>
                    <a:noFill/>
                  </a:tcPr>
                </a:tc>
              </a:tr>
              <a:tr h="288000">
                <a:tc>
                  <a:txBody>
                    <a:bodyPr/>
                    <a:p>
                      <a:pPr>
                        <a:defRPr/>
                      </a:pPr>
                      <a:r>
                        <a:rPr lang="ru-RU" sz="100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4</a:t>
                      </a:r>
                      <a:r>
                        <a:rPr lang="en-US" sz="100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-</a:t>
                      </a:r>
                      <a:r>
                        <a:rPr lang="en-US" sz="100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х</a:t>
                      </a:r>
                      <a:r>
                        <a:rPr lang="en-US" sz="100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 </a:t>
                      </a:r>
                      <a:r>
                        <a:rPr lang="en-US" sz="100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этажные</a:t>
                      </a:r>
                      <a:r>
                        <a:rPr lang="en-US" sz="100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 </a:t>
                      </a:r>
                      <a:r>
                        <a:rPr lang="en-US" sz="100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здания</a:t>
                      </a:r>
                      <a:r>
                        <a:rPr lang="en-US" sz="100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, </a:t>
                      </a:r>
                      <a:r>
                        <a:rPr lang="en-US" sz="100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кирпичные</a:t>
                      </a:r>
                      <a:endParaRPr/>
                    </a:p>
                  </a:txBody>
                  <a:tcPr>
                    <a:lnL w="12700" algn="ctr">
                      <a:solidFill>
                        <a:schemeClr val="tx1"/>
                      </a:solidFill>
                    </a:lnL>
                    <a:lnR w="12700" algn="ctr">
                      <a:solidFill>
                        <a:schemeClr val="tx1"/>
                      </a:solidFill>
                    </a:lnR>
                    <a:lnT w="12700" algn="ctr">
                      <a:solidFill>
                        <a:schemeClr val="tx1"/>
                      </a:solidFill>
                    </a:lnT>
                    <a:lnB w="12700" algn="ctr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ru-RU" sz="100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10</a:t>
                      </a:r>
                      <a:endParaRPr/>
                    </a:p>
                  </a:txBody>
                  <a:tcPr>
                    <a:lnL w="12700" algn="ctr">
                      <a:solidFill>
                        <a:schemeClr val="tx1"/>
                      </a:solidFill>
                    </a:lnL>
                    <a:lnR w="12700" algn="ctr">
                      <a:solidFill>
                        <a:schemeClr val="tx1"/>
                      </a:solidFill>
                    </a:lnR>
                    <a:lnT w="12700" algn="ctr">
                      <a:solidFill>
                        <a:schemeClr val="tx1"/>
                      </a:solidFill>
                    </a:lnT>
                    <a:lnB w="12700" algn="ctr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en-US" sz="100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2500</a:t>
                      </a:r>
                      <a:endParaRPr lang="en-US" sz="100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12700" algn="ctr">
                      <a:solidFill>
                        <a:schemeClr val="tx1"/>
                      </a:solidFill>
                    </a:lnL>
                    <a:lnR w="12700" algn="ctr">
                      <a:solidFill>
                        <a:schemeClr val="tx1"/>
                      </a:solidFill>
                    </a:lnR>
                    <a:lnT w="12700" algn="ctr">
                      <a:solidFill>
                        <a:schemeClr val="tx1"/>
                      </a:solidFill>
                    </a:lnT>
                    <a:lnB w="12700" algn="ctr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  <a:defRPr/>
                      </a:pPr>
                      <a:r>
                        <a:rPr lang="ru-RU" sz="100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5,0</a:t>
                      </a:r>
                      <a:endParaRPr/>
                    </a:p>
                  </a:txBody>
                  <a:tcPr>
                    <a:lnL w="12700" algn="ctr">
                      <a:solidFill>
                        <a:schemeClr val="tx1"/>
                      </a:solidFill>
                    </a:lnL>
                    <a:lnR w="12700" algn="ctr">
                      <a:solidFill>
                        <a:schemeClr val="tx1"/>
                      </a:solidFill>
                    </a:lnR>
                    <a:lnT w="12700" algn="ctr">
                      <a:solidFill>
                        <a:schemeClr val="tx1"/>
                      </a:solidFill>
                    </a:lnT>
                    <a:lnB w="12700" algn="ctr">
                      <a:solidFill>
                        <a:schemeClr val="tx1"/>
                      </a:solidFill>
                    </a:lnB>
                    <a:noFill/>
                  </a:tcPr>
                </a:tc>
              </a:tr>
              <a:tr h="288000"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 sz="100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2-</a:t>
                      </a:r>
                      <a:r>
                        <a:rPr lang="en-US" sz="100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х</a:t>
                      </a:r>
                      <a:r>
                        <a:rPr lang="en-US" sz="100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 </a:t>
                      </a:r>
                      <a:r>
                        <a:rPr lang="en-US" sz="100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этажные</a:t>
                      </a:r>
                      <a:r>
                        <a:rPr lang="ru-RU" sz="100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,</a:t>
                      </a:r>
                      <a:r>
                        <a:rPr lang="en-US" sz="100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 </a:t>
                      </a:r>
                      <a:r>
                        <a:rPr lang="ru-RU" sz="100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железобетонные</a:t>
                      </a:r>
                      <a:endParaRPr/>
                    </a:p>
                  </a:txBody>
                  <a:tcPr>
                    <a:lnL w="12700" algn="ctr">
                      <a:solidFill>
                        <a:schemeClr val="tx1"/>
                      </a:solidFill>
                    </a:lnL>
                    <a:lnR w="12700" algn="ctr">
                      <a:solidFill>
                        <a:schemeClr val="tx1"/>
                      </a:solidFill>
                    </a:lnR>
                    <a:lnT w="12700" algn="ctr">
                      <a:solidFill>
                        <a:schemeClr val="tx1"/>
                      </a:solidFill>
                    </a:lnT>
                    <a:lnB w="12700" algn="ctr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ru-RU" sz="100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8</a:t>
                      </a:r>
                      <a:endParaRPr/>
                    </a:p>
                  </a:txBody>
                  <a:tcPr>
                    <a:lnL w="12700" algn="ctr">
                      <a:solidFill>
                        <a:schemeClr val="tx1"/>
                      </a:solidFill>
                    </a:lnL>
                    <a:lnR w="12700" algn="ctr">
                      <a:solidFill>
                        <a:schemeClr val="tx1"/>
                      </a:solidFill>
                    </a:lnR>
                    <a:lnT w="12700" algn="ctr">
                      <a:solidFill>
                        <a:schemeClr val="tx1"/>
                      </a:solidFill>
                    </a:lnT>
                    <a:lnB w="12700" algn="ctr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en-US" sz="100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250</a:t>
                      </a:r>
                      <a:endParaRPr/>
                    </a:p>
                  </a:txBody>
                  <a:tcPr>
                    <a:lnL w="12700" algn="ctr">
                      <a:solidFill>
                        <a:schemeClr val="tx1"/>
                      </a:solidFill>
                    </a:lnL>
                    <a:lnR w="12700" algn="ctr">
                      <a:solidFill>
                        <a:schemeClr val="tx1"/>
                      </a:solidFill>
                    </a:lnR>
                    <a:lnT w="12700" algn="ctr">
                      <a:solidFill>
                        <a:schemeClr val="tx1"/>
                      </a:solidFill>
                    </a:lnT>
                    <a:lnB w="12700" algn="ctr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  <a:defRPr/>
                      </a:pPr>
                      <a:r>
                        <a:rPr lang="ru-RU" sz="100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5,0</a:t>
                      </a:r>
                      <a:endParaRPr/>
                    </a:p>
                  </a:txBody>
                  <a:tcPr>
                    <a:lnL w="12700" algn="ctr">
                      <a:solidFill>
                        <a:schemeClr val="tx1"/>
                      </a:solidFill>
                    </a:lnL>
                    <a:lnR w="12700" algn="ctr">
                      <a:solidFill>
                        <a:schemeClr val="tx1"/>
                      </a:solidFill>
                    </a:lnR>
                    <a:lnT w="12700" algn="ctr">
                      <a:solidFill>
                        <a:schemeClr val="tx1"/>
                      </a:solidFill>
                    </a:lnT>
                    <a:lnB w="12700" algn="ctr">
                      <a:solidFill>
                        <a:schemeClr val="tx1"/>
                      </a:solidFill>
                    </a:lnB>
                    <a:noFill/>
                  </a:tcPr>
                </a:tc>
              </a:tr>
              <a:tr h="701040">
                <a:tc>
                  <a:txBody>
                    <a:bodyPr/>
                    <a:p>
                      <a:pPr marL="0" marR="0" lvl="0" indent="0" algn="l" defTabSz="91440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defRPr/>
                      </a:pPr>
                      <a:r>
                        <a:rPr lang="en-US" sz="100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Антенные</a:t>
                      </a:r>
                      <a:r>
                        <a:rPr lang="en-US" sz="100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 </a:t>
                      </a:r>
                      <a:r>
                        <a:rPr lang="en-US" sz="100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опоры</a:t>
                      </a:r>
                      <a:r>
                        <a:rPr lang="en-US" sz="100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 </a:t>
                      </a:r>
                      <a:r>
                        <a:rPr lang="en-US" sz="100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для</a:t>
                      </a:r>
                      <a:r>
                        <a:rPr lang="en-US" sz="100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 </a:t>
                      </a:r>
                      <a:r>
                        <a:rPr lang="en-US" sz="100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АФУ</a:t>
                      </a:r>
                      <a:r>
                        <a:rPr lang="en-US" sz="100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:</a:t>
                      </a:r>
                      <a:endParaRPr/>
                    </a:p>
                    <a:p>
                      <a:pPr marL="0" marR="0" lvl="0" indent="0" algn="l" defTabSz="91440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defRPr/>
                      </a:pPr>
                      <a:r>
                        <a:rPr lang="en-US" sz="100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- </a:t>
                      </a:r>
                      <a:r>
                        <a:rPr lang="en-US" sz="100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деревянные</a:t>
                      </a:r>
                      <a:endParaRPr/>
                    </a:p>
                    <a:p>
                      <a:pPr marL="0" marR="0" lvl="0" indent="0" algn="l" defTabSz="91440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defRPr/>
                      </a:pPr>
                      <a:r>
                        <a:rPr lang="en-US" sz="100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- </a:t>
                      </a:r>
                      <a:r>
                        <a:rPr lang="en-US" sz="100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металлические</a:t>
                      </a:r>
                      <a:endParaRPr/>
                    </a:p>
                    <a:p>
                      <a:pPr marL="0" marR="0" lvl="0" indent="0" algn="l" defTabSz="91440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defRPr/>
                      </a:pPr>
                      <a:r>
                        <a:rPr lang="en-US" sz="100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- </a:t>
                      </a:r>
                      <a:r>
                        <a:rPr lang="en-US" sz="100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железобетонные</a:t>
                      </a:r>
                      <a:endParaRPr/>
                    </a:p>
                  </a:txBody>
                  <a:tcPr>
                    <a:lnL w="12700" algn="ctr">
                      <a:solidFill>
                        <a:schemeClr val="tx1"/>
                      </a:solidFill>
                    </a:lnL>
                    <a:lnR w="12700" algn="ctr">
                      <a:solidFill>
                        <a:schemeClr val="tx1"/>
                      </a:solidFill>
                    </a:lnR>
                    <a:lnT w="12700" algn="ctr">
                      <a:solidFill>
                        <a:schemeClr val="tx1"/>
                      </a:solidFill>
                    </a:lnT>
                    <a:lnB w="12700" algn="ctr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endParaRPr lang="en-US" sz="100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  <a:p>
                      <a:pPr algn="ctr">
                        <a:defRPr/>
                      </a:pPr>
                      <a:r>
                        <a:rPr lang="ru-RU" sz="100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20</a:t>
                      </a:r>
                      <a:endParaRPr/>
                    </a:p>
                    <a:p>
                      <a:pPr algn="ctr">
                        <a:defRPr/>
                      </a:pPr>
                      <a:r>
                        <a:rPr lang="ru-RU" sz="100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20</a:t>
                      </a:r>
                      <a:endParaRPr/>
                    </a:p>
                    <a:p>
                      <a:pPr algn="ctr">
                        <a:defRPr/>
                      </a:pPr>
                      <a:r>
                        <a:rPr lang="ru-RU" sz="100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20</a:t>
                      </a:r>
                      <a:endParaRPr/>
                    </a:p>
                  </a:txBody>
                  <a:tcPr>
                    <a:lnL w="12700" algn="ctr">
                      <a:solidFill>
                        <a:schemeClr val="tx1"/>
                      </a:solidFill>
                    </a:lnL>
                    <a:lnR w="12700" algn="ctr">
                      <a:solidFill>
                        <a:schemeClr val="tx1"/>
                      </a:solidFill>
                    </a:lnR>
                    <a:lnT w="12700" algn="ctr">
                      <a:solidFill>
                        <a:schemeClr val="tx1"/>
                      </a:solidFill>
                    </a:lnT>
                    <a:lnB w="12700" algn="ctr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endParaRPr lang="en-US" sz="100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  <a:p>
                      <a:pPr algn="ctr">
                        <a:defRPr/>
                      </a:pPr>
                      <a:r>
                        <a:rPr lang="ru-RU" sz="100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250</a:t>
                      </a:r>
                      <a:endParaRPr/>
                    </a:p>
                    <a:p>
                      <a:pPr algn="ctr">
                        <a:defRPr/>
                      </a:pPr>
                      <a:r>
                        <a:rPr lang="en-US" sz="100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&gt;2500</a:t>
                      </a:r>
                      <a:endParaRPr/>
                    </a:p>
                    <a:p>
                      <a:pPr algn="ctr">
                        <a:defRPr/>
                      </a:pPr>
                      <a:r>
                        <a:rPr lang="en-US" sz="100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&gt;2500</a:t>
                      </a:r>
                      <a:endParaRPr/>
                    </a:p>
                  </a:txBody>
                  <a:tcPr>
                    <a:lnL w="12700" algn="ctr">
                      <a:solidFill>
                        <a:schemeClr val="tx1"/>
                      </a:solidFill>
                    </a:lnL>
                    <a:lnR w="12700" algn="ctr">
                      <a:solidFill>
                        <a:schemeClr val="tx1"/>
                      </a:solidFill>
                    </a:lnR>
                    <a:lnT w="12700" algn="ctr">
                      <a:solidFill>
                        <a:schemeClr val="tx1"/>
                      </a:solidFill>
                    </a:lnT>
                    <a:lnB w="12700" algn="ctr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  <a:defRPr/>
                      </a:pPr>
                      <a:endParaRPr lang="en-US" sz="100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  <a:p>
                      <a:pPr algn="ctr">
                        <a:buNone/>
                        <a:defRPr/>
                      </a:pPr>
                      <a:r>
                        <a:rPr lang="en-US" sz="100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6,0</a:t>
                      </a:r>
                      <a:endParaRPr/>
                    </a:p>
                    <a:p>
                      <a:pPr algn="ctr">
                        <a:buNone/>
                        <a:defRPr/>
                      </a:pPr>
                      <a:r>
                        <a:rPr lang="ru-RU" sz="100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4,5</a:t>
                      </a:r>
                      <a:endParaRPr/>
                    </a:p>
                    <a:p>
                      <a:pPr algn="ctr">
                        <a:buNone/>
                        <a:defRPr/>
                      </a:pPr>
                      <a:r>
                        <a:rPr lang="ru-RU" sz="100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5,5</a:t>
                      </a:r>
                      <a:endParaRPr/>
                    </a:p>
                  </a:txBody>
                  <a:tcPr>
                    <a:lnL w="12700" algn="ctr">
                      <a:solidFill>
                        <a:schemeClr val="tx1"/>
                      </a:solidFill>
                    </a:lnL>
                    <a:lnR w="12700" algn="ctr">
                      <a:solidFill>
                        <a:schemeClr val="tx1"/>
                      </a:solidFill>
                    </a:lnR>
                    <a:lnT w="12700" algn="ctr">
                      <a:solidFill>
                        <a:schemeClr val="tx1"/>
                      </a:solidFill>
                    </a:lnT>
                    <a:lnB w="12700" algn="ctr">
                      <a:solidFill>
                        <a:schemeClr val="tx1"/>
                      </a:solidFill>
                    </a:lnB>
                    <a:noFill/>
                  </a:tcPr>
                </a:tc>
              </a:tr>
              <a:tr h="288000"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 sz="100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Кабель</a:t>
                      </a:r>
                      <a:r>
                        <a:rPr lang="en-US" sz="100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 </a:t>
                      </a:r>
                      <a:r>
                        <a:rPr lang="en-US" sz="100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подземный</a:t>
                      </a:r>
                      <a:endParaRPr/>
                    </a:p>
                  </a:txBody>
                  <a:tcPr>
                    <a:lnL w="12700" algn="ctr">
                      <a:solidFill>
                        <a:schemeClr val="tx1"/>
                      </a:solidFill>
                    </a:lnL>
                    <a:lnR w="12700" algn="ctr">
                      <a:solidFill>
                        <a:schemeClr val="tx1"/>
                      </a:solidFill>
                    </a:lnR>
                    <a:lnT w="12700" algn="ctr">
                      <a:solidFill>
                        <a:schemeClr val="tx1"/>
                      </a:solidFill>
                    </a:lnT>
                    <a:lnB w="12700" algn="ctr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ru-RU" sz="100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800</a:t>
                      </a:r>
                      <a:endParaRPr/>
                    </a:p>
                  </a:txBody>
                  <a:tcPr>
                    <a:lnL w="12700" algn="ctr">
                      <a:solidFill>
                        <a:schemeClr val="tx1"/>
                      </a:solidFill>
                    </a:lnL>
                    <a:lnR w="12700" algn="ctr">
                      <a:solidFill>
                        <a:schemeClr val="tx1"/>
                      </a:solidFill>
                    </a:lnR>
                    <a:lnT w="12700" algn="ctr">
                      <a:solidFill>
                        <a:schemeClr val="tx1"/>
                      </a:solidFill>
                    </a:lnT>
                    <a:lnB w="12700" algn="ctr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endParaRPr lang="en-US" sz="100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12700" algn="ctr">
                      <a:solidFill>
                        <a:schemeClr val="tx1"/>
                      </a:solidFill>
                    </a:lnL>
                    <a:lnR w="12700" algn="ctr">
                      <a:solidFill>
                        <a:schemeClr val="tx1"/>
                      </a:solidFill>
                    </a:lnR>
                    <a:lnT w="12700" algn="ctr">
                      <a:solidFill>
                        <a:schemeClr val="tx1"/>
                      </a:solidFill>
                    </a:lnT>
                    <a:lnB w="12700" algn="ctr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  <a:defRPr/>
                      </a:pPr>
                      <a:r>
                        <a:rPr lang="ru-RU" sz="100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2,0</a:t>
                      </a:r>
                      <a:endParaRPr/>
                    </a:p>
                  </a:txBody>
                  <a:tcPr>
                    <a:lnL w="12700" algn="ctr">
                      <a:solidFill>
                        <a:schemeClr val="tx1"/>
                      </a:solidFill>
                    </a:lnL>
                    <a:lnR w="12700" algn="ctr">
                      <a:solidFill>
                        <a:schemeClr val="tx1"/>
                      </a:solidFill>
                    </a:lnR>
                    <a:lnT w="12700" algn="ctr">
                      <a:solidFill>
                        <a:schemeClr val="tx1"/>
                      </a:solidFill>
                    </a:lnT>
                    <a:lnB w="12700" algn="ctr">
                      <a:solidFill>
                        <a:schemeClr val="tx1"/>
                      </a:solidFill>
                    </a:lnB>
                    <a:noFill/>
                  </a:tcPr>
                </a:tc>
              </a:tr>
              <a:tr h="288000">
                <a:tc>
                  <a:txBody>
                    <a:bodyPr/>
                    <a:p>
                      <a:pPr>
                        <a:defRPr/>
                      </a:pPr>
                      <a:r>
                        <a:rPr lang="ru-RU" sz="100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Подземные (надземные) кабельные линии связи</a:t>
                      </a:r>
                      <a:endParaRPr/>
                    </a:p>
                  </a:txBody>
                  <a:tcPr>
                    <a:lnL w="12700" algn="ctr">
                      <a:solidFill>
                        <a:schemeClr val="tx1"/>
                      </a:solidFill>
                    </a:lnL>
                    <a:lnR w="12700" algn="ctr">
                      <a:solidFill>
                        <a:schemeClr val="tx1"/>
                      </a:solidFill>
                    </a:lnR>
                    <a:lnT w="12700" algn="ctr">
                      <a:solidFill>
                        <a:schemeClr val="tx1"/>
                      </a:solidFill>
                    </a:lnT>
                    <a:lnB w="12700" algn="ctr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ru-RU" sz="100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30</a:t>
                      </a:r>
                      <a:endParaRPr/>
                    </a:p>
                  </a:txBody>
                  <a:tcPr>
                    <a:lnL w="12700" algn="ctr">
                      <a:solidFill>
                        <a:schemeClr val="tx1"/>
                      </a:solidFill>
                    </a:lnL>
                    <a:lnR w="12700" algn="ctr">
                      <a:solidFill>
                        <a:schemeClr val="tx1"/>
                      </a:solidFill>
                    </a:lnR>
                    <a:lnT w="12700" algn="ctr">
                      <a:solidFill>
                        <a:schemeClr val="tx1"/>
                      </a:solidFill>
                    </a:lnT>
                    <a:lnB w="12700" algn="ctr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ru-RU" sz="100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2000</a:t>
                      </a:r>
                      <a:endParaRPr/>
                    </a:p>
                  </a:txBody>
                  <a:tcPr>
                    <a:lnL w="12700" algn="ctr">
                      <a:solidFill>
                        <a:schemeClr val="tx1"/>
                      </a:solidFill>
                    </a:lnL>
                    <a:lnR w="12700" algn="ctr">
                      <a:solidFill>
                        <a:schemeClr val="tx1"/>
                      </a:solidFill>
                    </a:lnR>
                    <a:lnT w="12700" algn="ctr">
                      <a:solidFill>
                        <a:schemeClr val="tx1"/>
                      </a:solidFill>
                    </a:lnT>
                    <a:lnB w="12700" algn="ctr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  <a:defRPr/>
                      </a:pPr>
                      <a:r>
                        <a:rPr lang="ru-RU" sz="100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4,0</a:t>
                      </a:r>
                      <a:endParaRPr/>
                    </a:p>
                  </a:txBody>
                  <a:tcPr>
                    <a:lnL w="12700" algn="ctr">
                      <a:solidFill>
                        <a:schemeClr val="tx1"/>
                      </a:solidFill>
                    </a:lnL>
                    <a:lnR w="12700" algn="ctr">
                      <a:solidFill>
                        <a:schemeClr val="tx1"/>
                      </a:solidFill>
                    </a:lnR>
                    <a:lnT w="12700" algn="ctr">
                      <a:solidFill>
                        <a:schemeClr val="tx1"/>
                      </a:solidFill>
                    </a:lnT>
                    <a:lnB w="12700" algn="ctr">
                      <a:solidFill>
                        <a:schemeClr val="tx1"/>
                      </a:solidFill>
                    </a:lnB>
                    <a:noFill/>
                  </a:tcPr>
                </a:tc>
              </a:tr>
              <a:tr h="288000"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 sz="100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Кабель</a:t>
                      </a:r>
                      <a:r>
                        <a:rPr lang="en-US" sz="100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 </a:t>
                      </a:r>
                      <a:r>
                        <a:rPr lang="en-US" sz="100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наземный</a:t>
                      </a:r>
                      <a:endParaRPr/>
                    </a:p>
                  </a:txBody>
                  <a:tcPr>
                    <a:lnL w="12700" algn="ctr">
                      <a:solidFill>
                        <a:schemeClr val="tx1"/>
                      </a:solidFill>
                    </a:lnL>
                    <a:lnR w="12700" algn="ctr">
                      <a:solidFill>
                        <a:schemeClr val="tx1"/>
                      </a:solidFill>
                    </a:lnR>
                    <a:lnT w="12700" algn="ctr">
                      <a:solidFill>
                        <a:schemeClr val="tx1"/>
                      </a:solidFill>
                    </a:lnT>
                    <a:lnB w="12700" algn="ctr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endParaRPr lang="en-US" sz="100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12700" algn="ctr">
                      <a:solidFill>
                        <a:schemeClr val="tx1"/>
                      </a:solidFill>
                    </a:lnL>
                    <a:lnR w="12700" algn="ctr">
                      <a:solidFill>
                        <a:schemeClr val="tx1"/>
                      </a:solidFill>
                    </a:lnR>
                    <a:lnT w="12700" algn="ctr">
                      <a:solidFill>
                        <a:schemeClr val="tx1"/>
                      </a:solidFill>
                    </a:lnT>
                    <a:lnB w="12700" algn="ctr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ru-RU" sz="100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2000</a:t>
                      </a:r>
                      <a:endParaRPr/>
                    </a:p>
                  </a:txBody>
                  <a:tcPr>
                    <a:lnL w="12700" algn="ctr">
                      <a:solidFill>
                        <a:schemeClr val="tx1"/>
                      </a:solidFill>
                    </a:lnL>
                    <a:lnR w="12700" algn="ctr">
                      <a:solidFill>
                        <a:schemeClr val="tx1"/>
                      </a:solidFill>
                    </a:lnR>
                    <a:lnT w="12700" algn="ctr">
                      <a:solidFill>
                        <a:schemeClr val="tx1"/>
                      </a:solidFill>
                    </a:lnT>
                    <a:lnB w="12700" algn="ctr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  <a:defRPr/>
                      </a:pPr>
                      <a:r>
                        <a:rPr lang="ru-RU" sz="100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5,5</a:t>
                      </a:r>
                      <a:endParaRPr/>
                    </a:p>
                  </a:txBody>
                  <a:tcPr>
                    <a:lnL w="12700" algn="ctr">
                      <a:solidFill>
                        <a:schemeClr val="tx1"/>
                      </a:solidFill>
                    </a:lnL>
                    <a:lnR w="12700" algn="ctr">
                      <a:solidFill>
                        <a:schemeClr val="tx1"/>
                      </a:solidFill>
                    </a:lnR>
                    <a:lnT w="12700" algn="ctr">
                      <a:solidFill>
                        <a:schemeClr val="tx1"/>
                      </a:solidFill>
                    </a:lnT>
                    <a:lnB w="12700" algn="ctr">
                      <a:solidFill>
                        <a:schemeClr val="tx1"/>
                      </a:solidFill>
                    </a:lnB>
                    <a:noFill/>
                  </a:tcPr>
                </a:tc>
              </a:tr>
              <a:tr h="288000">
                <a:tc>
                  <a:txBody>
                    <a:bodyPr/>
                    <a:p>
                      <a:pPr>
                        <a:buNone/>
                        <a:defRPr/>
                      </a:pPr>
                      <a:r>
                        <a:rPr lang="en-US" sz="100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Изоляторы</a:t>
                      </a:r>
                      <a:r>
                        <a:rPr lang="en-US" sz="100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 </a:t>
                      </a:r>
                      <a:r>
                        <a:rPr lang="en-US" sz="100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керамические</a:t>
                      </a:r>
                      <a:endParaRPr/>
                    </a:p>
                  </a:txBody>
                  <a:tcPr>
                    <a:lnL w="12700" algn="ctr">
                      <a:solidFill>
                        <a:schemeClr val="tx1"/>
                      </a:solidFill>
                    </a:lnL>
                    <a:lnR w="12700" algn="ctr">
                      <a:solidFill>
                        <a:schemeClr val="tx1"/>
                      </a:solidFill>
                    </a:lnR>
                    <a:lnT w="12700" algn="ctr">
                      <a:solidFill>
                        <a:schemeClr val="tx1"/>
                      </a:solidFill>
                    </a:lnT>
                    <a:lnB w="12700" algn="ctr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  <a:defRPr/>
                      </a:pPr>
                      <a:endParaRPr lang="en-US" sz="100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12700" algn="ctr">
                      <a:solidFill>
                        <a:schemeClr val="tx1"/>
                      </a:solidFill>
                    </a:lnL>
                    <a:lnR w="12700" algn="ctr">
                      <a:solidFill>
                        <a:schemeClr val="tx1"/>
                      </a:solidFill>
                    </a:lnR>
                    <a:lnT w="12700" algn="ctr">
                      <a:solidFill>
                        <a:schemeClr val="tx1"/>
                      </a:solidFill>
                    </a:lnT>
                    <a:lnB w="12700" algn="ctr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  <a:defRPr/>
                      </a:pPr>
                      <a:r>
                        <a:rPr lang="ru-RU" sz="100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250</a:t>
                      </a:r>
                      <a:endParaRPr/>
                    </a:p>
                  </a:txBody>
                  <a:tcPr>
                    <a:lnL w="12700" algn="ctr">
                      <a:solidFill>
                        <a:schemeClr val="tx1"/>
                      </a:solidFill>
                    </a:lnL>
                    <a:lnR w="12700" algn="ctr">
                      <a:solidFill>
                        <a:schemeClr val="tx1"/>
                      </a:solidFill>
                    </a:lnR>
                    <a:lnT w="12700" algn="ctr">
                      <a:solidFill>
                        <a:schemeClr val="tx1"/>
                      </a:solidFill>
                    </a:lnT>
                    <a:lnB w="12700" algn="ctr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  <a:defRPr/>
                      </a:pPr>
                      <a:r>
                        <a:rPr lang="ru-RU" sz="100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6,5</a:t>
                      </a:r>
                      <a:endParaRPr/>
                    </a:p>
                  </a:txBody>
                  <a:tcPr>
                    <a:lnL w="12700" algn="ctr">
                      <a:solidFill>
                        <a:schemeClr val="tx1"/>
                      </a:solidFill>
                    </a:lnL>
                    <a:lnR w="12700" algn="ctr">
                      <a:solidFill>
                        <a:schemeClr val="tx1"/>
                      </a:solidFill>
                    </a:lnR>
                    <a:lnT w="12700" algn="ctr">
                      <a:solidFill>
                        <a:schemeClr val="tx1"/>
                      </a:solidFill>
                    </a:lnT>
                    <a:lnB w="12700" algn="ctr">
                      <a:solidFill>
                        <a:schemeClr val="tx1"/>
                      </a:solidFill>
                    </a:lnB>
                    <a:noFill/>
                  </a:tcPr>
                </a:tc>
              </a:tr>
              <a:tr h="288000">
                <a:tc>
                  <a:txBody>
                    <a:bodyPr/>
                    <a:p>
                      <a:pPr>
                        <a:buNone/>
                        <a:defRPr/>
                      </a:pPr>
                      <a:r>
                        <a:rPr lang="en-US" sz="100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Изоляционные</a:t>
                      </a:r>
                      <a:r>
                        <a:rPr lang="en-US" sz="100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 </a:t>
                      </a:r>
                      <a:r>
                        <a:rPr lang="en-US" sz="100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материалы</a:t>
                      </a:r>
                      <a:endParaRPr/>
                    </a:p>
                  </a:txBody>
                  <a:tcPr>
                    <a:lnL w="12700" algn="ctr">
                      <a:solidFill>
                        <a:schemeClr val="tx1"/>
                      </a:solidFill>
                    </a:lnL>
                    <a:lnR w="12700" algn="ctr">
                      <a:solidFill>
                        <a:schemeClr val="tx1"/>
                      </a:solidFill>
                    </a:lnR>
                    <a:lnT w="12700" algn="ctr">
                      <a:solidFill>
                        <a:schemeClr val="tx1"/>
                      </a:solidFill>
                    </a:lnT>
                    <a:lnB w="12700" algn="ctr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  <a:defRPr/>
                      </a:pPr>
                      <a:r>
                        <a:rPr lang="ru-RU" sz="100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10</a:t>
                      </a:r>
                      <a:endParaRPr/>
                    </a:p>
                  </a:txBody>
                  <a:tcPr>
                    <a:lnL w="12700" algn="ctr">
                      <a:solidFill>
                        <a:schemeClr val="tx1"/>
                      </a:solidFill>
                    </a:lnL>
                    <a:lnR w="12700" algn="ctr">
                      <a:solidFill>
                        <a:schemeClr val="tx1"/>
                      </a:solidFill>
                    </a:lnR>
                    <a:lnT w="12700" algn="ctr">
                      <a:solidFill>
                        <a:schemeClr val="tx1"/>
                      </a:solidFill>
                    </a:lnT>
                    <a:lnB w="12700" algn="ctr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  <a:defRPr/>
                      </a:pPr>
                      <a:r>
                        <a:rPr lang="ru-RU" sz="100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2000</a:t>
                      </a:r>
                      <a:endParaRPr/>
                    </a:p>
                  </a:txBody>
                  <a:tcPr>
                    <a:lnL w="12700" algn="ctr">
                      <a:solidFill>
                        <a:schemeClr val="tx1"/>
                      </a:solidFill>
                    </a:lnL>
                    <a:lnR w="12700" algn="ctr">
                      <a:solidFill>
                        <a:schemeClr val="tx1"/>
                      </a:solidFill>
                    </a:lnR>
                    <a:lnT w="12700" algn="ctr">
                      <a:solidFill>
                        <a:schemeClr val="tx1"/>
                      </a:solidFill>
                    </a:lnT>
                    <a:lnB w="12700" algn="ctr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  <a:defRPr/>
                      </a:pPr>
                      <a:r>
                        <a:rPr lang="ru-RU" sz="100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5,0</a:t>
                      </a:r>
                      <a:endParaRPr/>
                    </a:p>
                  </a:txBody>
                  <a:tcPr>
                    <a:lnL w="12700" algn="ctr">
                      <a:solidFill>
                        <a:schemeClr val="tx1"/>
                      </a:solidFill>
                    </a:lnL>
                    <a:lnR w="12700" algn="ctr">
                      <a:solidFill>
                        <a:schemeClr val="tx1"/>
                      </a:solidFill>
                    </a:lnR>
                    <a:lnT w="12700" algn="ctr">
                      <a:solidFill>
                        <a:schemeClr val="tx1"/>
                      </a:solidFill>
                    </a:lnT>
                    <a:lnB w="12700" algn="ctr">
                      <a:solidFill>
                        <a:schemeClr val="tx1"/>
                      </a:solidFill>
                    </a:lnB>
                    <a:noFill/>
                  </a:tcPr>
                </a:tc>
              </a:tr>
              <a:tr h="288000">
                <a:tc>
                  <a:txBody>
                    <a:bodyPr/>
                    <a:p>
                      <a:pPr>
                        <a:buNone/>
                        <a:defRPr/>
                      </a:pPr>
                      <a:r>
                        <a:rPr lang="en-US" sz="100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Оконные</a:t>
                      </a:r>
                      <a:r>
                        <a:rPr lang="en-US" sz="100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 </a:t>
                      </a:r>
                      <a:r>
                        <a:rPr lang="en-US" sz="100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переплеты</a:t>
                      </a:r>
                      <a:r>
                        <a:rPr lang="en-US" sz="100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, </a:t>
                      </a:r>
                      <a:r>
                        <a:rPr lang="en-US" sz="100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дверные</a:t>
                      </a:r>
                      <a:r>
                        <a:rPr lang="en-US" sz="100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 </a:t>
                      </a:r>
                      <a:r>
                        <a:rPr lang="en-US" sz="100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проемы</a:t>
                      </a:r>
                      <a:r>
                        <a:rPr lang="en-US" sz="100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, </a:t>
                      </a:r>
                      <a:r>
                        <a:rPr lang="en-US" sz="100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окрашенные</a:t>
                      </a:r>
                      <a:r>
                        <a:rPr lang="en-US" sz="100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 </a:t>
                      </a:r>
                      <a:r>
                        <a:rPr lang="en-US" sz="100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в</a:t>
                      </a:r>
                      <a:r>
                        <a:rPr lang="en-US" sz="100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 </a:t>
                      </a:r>
                      <a:r>
                        <a:rPr lang="en-US" sz="100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темные</a:t>
                      </a:r>
                      <a:r>
                        <a:rPr lang="en-US" sz="100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 </a:t>
                      </a:r>
                      <a:endParaRPr/>
                    </a:p>
                    <a:p>
                      <a:pPr>
                        <a:buNone/>
                        <a:defRPr/>
                      </a:pPr>
                      <a:r>
                        <a:rPr lang="en-US" sz="100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цвета</a:t>
                      </a:r>
                      <a:endParaRPr/>
                    </a:p>
                  </a:txBody>
                  <a:tcPr>
                    <a:lnL w="12700" algn="ctr">
                      <a:solidFill>
                        <a:schemeClr val="tx1"/>
                      </a:solidFill>
                    </a:lnL>
                    <a:lnR w="12700" algn="ctr">
                      <a:solidFill>
                        <a:schemeClr val="tx1"/>
                      </a:solidFill>
                    </a:lnR>
                    <a:lnT w="12700" algn="ctr">
                      <a:solidFill>
                        <a:schemeClr val="tx1"/>
                      </a:solidFill>
                    </a:lnT>
                    <a:lnB w="12700" algn="ctr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  <a:defRPr/>
                      </a:pPr>
                      <a:endParaRPr lang="en-US" sz="100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12700" algn="ctr">
                      <a:solidFill>
                        <a:schemeClr val="tx1"/>
                      </a:solidFill>
                    </a:lnL>
                    <a:lnR w="12700" algn="ctr">
                      <a:solidFill>
                        <a:schemeClr val="tx1"/>
                      </a:solidFill>
                    </a:lnR>
                    <a:lnT w="12700" algn="ctr">
                      <a:solidFill>
                        <a:schemeClr val="tx1"/>
                      </a:solidFill>
                    </a:lnT>
                    <a:lnB w="12700" algn="ctr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  <a:defRPr/>
                      </a:pPr>
                      <a:r>
                        <a:rPr lang="ru-RU" sz="100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250</a:t>
                      </a:r>
                      <a:endParaRPr/>
                    </a:p>
                  </a:txBody>
                  <a:tcPr>
                    <a:lnL w="12700" algn="ctr">
                      <a:solidFill>
                        <a:schemeClr val="tx1"/>
                      </a:solidFill>
                    </a:lnL>
                    <a:lnR w="12700" algn="ctr">
                      <a:solidFill>
                        <a:schemeClr val="tx1"/>
                      </a:solidFill>
                    </a:lnR>
                    <a:lnT w="12700" algn="ctr">
                      <a:solidFill>
                        <a:schemeClr val="tx1"/>
                      </a:solidFill>
                    </a:lnT>
                    <a:lnB w="12700" algn="ctr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  <a:defRPr/>
                      </a:pPr>
                      <a:r>
                        <a:rPr lang="ru-RU" sz="100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6,0</a:t>
                      </a:r>
                      <a:endParaRPr/>
                    </a:p>
                  </a:txBody>
                  <a:tcPr>
                    <a:lnL w="12700" algn="ctr">
                      <a:solidFill>
                        <a:schemeClr val="tx1"/>
                      </a:solidFill>
                    </a:lnL>
                    <a:lnR w="12700" algn="ctr">
                      <a:solidFill>
                        <a:schemeClr val="tx1"/>
                      </a:solidFill>
                    </a:lnR>
                    <a:lnT w="12700" algn="ctr">
                      <a:solidFill>
                        <a:schemeClr val="tx1"/>
                      </a:solidFill>
                    </a:lnT>
                    <a:lnB w="12700" algn="ctr">
                      <a:solidFill>
                        <a:schemeClr val="tx1"/>
                      </a:solidFill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med" p14:dur="1000" advClick="1">
        <p:fade thruBlk="0"/>
      </p:transition>
    </mc:Choice>
    <mc:Fallback>
      <p:transition spd="med" advClick="1">
        <p:fade thruBlk="0"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3449506" name="Google Shape;34;p6"/>
          <p:cNvSpPr txBox="1">
            <a:spLocks noGrp="1"/>
          </p:cNvSpPr>
          <p:nvPr>
            <p:ph type="title"/>
          </p:nvPr>
        </p:nvSpPr>
        <p:spPr bwMode="auto">
          <a:xfrm>
            <a:off x="442927" y="337700"/>
            <a:ext cx="6256200" cy="440700"/>
          </a:xfrm>
          <a:prstGeom prst="rect">
            <a:avLst/>
          </a:prstGeom>
        </p:spPr>
        <p:txBody>
          <a:bodyPr spcFirstLastPara="1" wrap="square" lIns="19025" tIns="19025" rIns="19025" bIns="190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/>
              <a:t>4. Задачи</a:t>
            </a:r>
            <a:endParaRPr/>
          </a:p>
        </p:txBody>
      </p:sp>
      <p:sp>
        <p:nvSpPr>
          <p:cNvPr id="1125650771" name="Google Shape;35;p6"/>
          <p:cNvSpPr txBox="1">
            <a:spLocks noGrp="1"/>
          </p:cNvSpPr>
          <p:nvPr>
            <p:ph type="sldNum" idx="12"/>
          </p:nvPr>
        </p:nvSpPr>
        <p:spPr bwMode="auto">
          <a:xfrm>
            <a:off x="8704250" y="4816581"/>
            <a:ext cx="206100" cy="145500"/>
          </a:xfrm>
          <a:prstGeom prst="rect">
            <a:avLst/>
          </a:prstGeom>
        </p:spPr>
        <p:txBody>
          <a:bodyPr spcFirstLastPara="1" wrap="square" lIns="19025" tIns="19025" rIns="19025" bIns="190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4D4E4F"/>
              </a:buClr>
              <a:buSzPts val="1100"/>
              <a:buFont typeface="Arial"/>
              <a:buNone/>
              <a:defRPr/>
            </a:pPr>
            <a:fld id="{00000000-1234-1234-1234-123412341234}" type="slidenum">
              <a:rPr lang="en-US"/>
              <a:t>8</a:t>
            </a:fld>
            <a:endParaRPr sz="1400">
              <a:solidFill>
                <a:srgbClr val="000000"/>
              </a:solidFill>
            </a:endParaRPr>
          </a:p>
        </p:txBody>
      </p:sp>
      <p:sp>
        <p:nvSpPr>
          <p:cNvPr id="379715265" name="Google Shape;36;p6"/>
          <p:cNvSpPr txBox="1">
            <a:spLocks noGrp="1"/>
          </p:cNvSpPr>
          <p:nvPr>
            <p:ph type="body" idx="1"/>
          </p:nvPr>
        </p:nvSpPr>
        <p:spPr bwMode="auto">
          <a:xfrm>
            <a:off x="442927" y="778400"/>
            <a:ext cx="8264400" cy="3750300"/>
          </a:xfrm>
          <a:prstGeom prst="rect">
            <a:avLst/>
          </a:prstGeom>
        </p:spPr>
        <p:txBody>
          <a:bodyPr spcFirstLastPara="1" wrap="square" lIns="19025" tIns="19025" rIns="19025" bIns="19025" anchor="t" anchorCtr="0">
            <a:noAutofit/>
          </a:bodyPr>
          <a:lstStyle/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ru-RU" sz="2000" b="1"/>
              <a:t>Определить:</a:t>
            </a:r>
            <a:endParaRPr/>
          </a:p>
          <a:p>
            <a:pPr marL="0" lvl="0" indent="0" algn="l" rtl="0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endParaRPr sz="2000" b="1"/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  <a:defRPr/>
            </a:pPr>
            <a:r>
              <a:rPr lang="ru-RU"/>
              <a:t>1. Избыточное давление во фронте ударной волны ∆</a:t>
            </a:r>
            <a:r>
              <a:rPr lang="ru-RU"/>
              <a:t>Р</a:t>
            </a:r>
            <a:r>
              <a:rPr lang="ru-RU" baseline="-25000"/>
              <a:t>ф</a:t>
            </a:r>
            <a:r>
              <a:rPr lang="ru-RU" baseline="30000"/>
              <a:t>тнт</a:t>
            </a:r>
            <a:r>
              <a:rPr lang="ru-RU"/>
              <a:t> = </a:t>
            </a:r>
            <a:r>
              <a:rPr lang="en-US" b="1" i="1"/>
              <a:t>30,439</a:t>
            </a:r>
            <a:r>
              <a:rPr lang="ru-RU"/>
              <a:t> кПа,</a:t>
            </a:r>
            <a:endParaRPr/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  <a:defRPr/>
            </a:pPr>
            <a:r>
              <a:rPr lang="ru-RU">
                <a:solidFill>
                  <a:schemeClr val="tx1"/>
                </a:solidFill>
              </a:rPr>
              <a:t>2. Расстояние до эпицентра взрыва </a:t>
            </a:r>
            <a:r>
              <a:rPr lang="en-US">
                <a:solidFill>
                  <a:schemeClr val="tx1"/>
                </a:solidFill>
              </a:rPr>
              <a:t>R</a:t>
            </a:r>
            <a:r>
              <a:rPr lang="ru-RU" baseline="-25000">
                <a:solidFill>
                  <a:schemeClr val="tx1"/>
                </a:solidFill>
              </a:rPr>
              <a:t>1</a:t>
            </a:r>
            <a:r>
              <a:rPr lang="ru-RU">
                <a:solidFill>
                  <a:schemeClr val="tx1"/>
                </a:solidFill>
              </a:rPr>
              <a:t> =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en-US" b="1" i="1">
                <a:solidFill>
                  <a:schemeClr val="tx1"/>
                </a:solidFill>
              </a:rPr>
              <a:t>1820</a:t>
            </a:r>
            <a:r>
              <a:rPr lang="en-US" b="1" i="1">
                <a:solidFill>
                  <a:schemeClr val="tx1"/>
                </a:solidFill>
              </a:rPr>
              <a:t> </a:t>
            </a:r>
            <a:r>
              <a:rPr lang="ru-RU">
                <a:solidFill>
                  <a:schemeClr val="tx1"/>
                </a:solidFill>
              </a:rPr>
              <a:t>м, </a:t>
            </a:r>
            <a:endParaRPr/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  <a:defRPr/>
            </a:pPr>
            <a:r>
              <a:rPr lang="ru-RU">
                <a:solidFill>
                  <a:schemeClr val="tx1"/>
                </a:solidFill>
              </a:rPr>
              <a:t>3. Определить величину мощности СИ в случае взрыва хранилища ТНТ, расположенного на расстоянии </a:t>
            </a:r>
            <a:r>
              <a:rPr lang="en-US">
                <a:solidFill>
                  <a:schemeClr val="tx1"/>
                </a:solidFill>
              </a:rPr>
              <a:t>R</a:t>
            </a:r>
            <a:r>
              <a:rPr lang="ru-RU">
                <a:solidFill>
                  <a:schemeClr val="tx1"/>
                </a:solidFill>
              </a:rPr>
              <a:t>1 от объекта </a:t>
            </a:r>
            <a:r>
              <a:rPr lang="en-US">
                <a:solidFill>
                  <a:schemeClr val="tx1"/>
                </a:solidFill>
              </a:rPr>
              <a:t>U</a:t>
            </a:r>
            <a:r>
              <a:rPr lang="ru-RU">
                <a:solidFill>
                  <a:schemeClr val="tx1"/>
                </a:solidFill>
              </a:rPr>
              <a:t>тнт</a:t>
            </a:r>
            <a:r>
              <a:rPr lang="ru-RU">
                <a:solidFill>
                  <a:schemeClr val="tx1"/>
                </a:solidFill>
              </a:rPr>
              <a:t> = </a:t>
            </a:r>
            <a:r>
              <a:rPr lang="ru-RU" b="1" i="1"/>
              <a:t>808,642</a:t>
            </a:r>
            <a:r>
              <a:rPr lang="ru-RU"/>
              <a:t> </a:t>
            </a:r>
            <a:r>
              <a:rPr lang="ru-RU"/>
              <a:t>кДж/м</a:t>
            </a:r>
            <a:r>
              <a:rPr lang="ru-RU" baseline="30000"/>
              <a:t>2</a:t>
            </a:r>
            <a:endParaRPr lang="en-US" baseline="30000"/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  <a:defRPr/>
            </a:pPr>
            <a:endParaRPr lang="ru-RU">
              <a:solidFill>
                <a:schemeClr val="tx1"/>
              </a:solidFill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  <a:defRPr/>
            </a:pPr>
            <a:r>
              <a:rPr lang="ru-RU"/>
              <a:t>Сделать выводы.</a:t>
            </a:r>
            <a:endParaRPr/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  <a:defRPr/>
            </a:pPr>
            <a:r>
              <a:rPr lang="ru-RU"/>
              <a:t>Выработать предложения.</a:t>
            </a:r>
            <a:endParaRPr/>
          </a:p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med" p14:dur="1000" advClick="1">
        <p:fade thruBlk="0"/>
      </p:transition>
    </mc:Choice>
    <mc:Fallback>
      <p:transition spd="med" advClick="1">
        <p:fade thruBlk="0"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7532286" name="Google Shape;34;p6"/>
          <p:cNvSpPr txBox="1">
            <a:spLocks noGrp="1"/>
          </p:cNvSpPr>
          <p:nvPr>
            <p:ph type="title"/>
          </p:nvPr>
        </p:nvSpPr>
        <p:spPr bwMode="auto">
          <a:xfrm>
            <a:off x="442927" y="337700"/>
            <a:ext cx="6256200" cy="440700"/>
          </a:xfrm>
          <a:prstGeom prst="rect">
            <a:avLst/>
          </a:prstGeom>
        </p:spPr>
        <p:txBody>
          <a:bodyPr spcFirstLastPara="1" wrap="square" lIns="19025" tIns="19025" rIns="19025" bIns="190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/>
              <a:t>5. Расчеты</a:t>
            </a:r>
            <a:endParaRPr/>
          </a:p>
        </p:txBody>
      </p:sp>
      <p:sp>
        <p:nvSpPr>
          <p:cNvPr id="1773505043" name="Google Shape;35;p6"/>
          <p:cNvSpPr txBox="1">
            <a:spLocks noGrp="1"/>
          </p:cNvSpPr>
          <p:nvPr>
            <p:ph type="sldNum" idx="12"/>
          </p:nvPr>
        </p:nvSpPr>
        <p:spPr bwMode="auto">
          <a:xfrm>
            <a:off x="8704250" y="4816581"/>
            <a:ext cx="206100" cy="145500"/>
          </a:xfrm>
          <a:prstGeom prst="rect">
            <a:avLst/>
          </a:prstGeom>
        </p:spPr>
        <p:txBody>
          <a:bodyPr spcFirstLastPara="1" wrap="square" lIns="19025" tIns="19025" rIns="19025" bIns="190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4D4E4F"/>
              </a:buClr>
              <a:buSzPts val="1100"/>
              <a:buFont typeface="Arial"/>
              <a:buNone/>
              <a:defRPr/>
            </a:pPr>
            <a:fld id="{00000000-1234-1234-1234-123412341234}" type="slidenum">
              <a:rPr lang="en-US"/>
              <a:t>9</a:t>
            </a:fld>
            <a:endParaRPr sz="1400">
              <a:solidFill>
                <a:srgbClr val="000000"/>
              </a:solidFill>
            </a:endParaRPr>
          </a:p>
        </p:txBody>
      </p:sp>
      <p:pic>
        <p:nvPicPr>
          <p:cNvPr id="315932911" name="Рисунок 1" descr="Изображение выглядит как текст, Шрифт, снимок экрана, линия&#10;&#10;Содержимое, созданное искусственным интеллектом, может быть неверным.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324365" y="904932"/>
            <a:ext cx="8495271" cy="2460939"/>
          </a:xfrm>
          <a:prstGeom prst="rect">
            <a:avLst/>
          </a:prstGeom>
        </p:spPr>
      </p:pic>
      <p:pic>
        <p:nvPicPr>
          <p:cNvPr id="973985712" name="Рисунок 4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321661" y="4475335"/>
            <a:ext cx="885825" cy="409575"/>
          </a:xfrm>
          <a:prstGeom prst="rect">
            <a:avLst/>
          </a:prstGeom>
        </p:spPr>
      </p:pic>
      <p:sp>
        <p:nvSpPr>
          <p:cNvPr id="113349872" name=""/>
          <p:cNvSpPr txBox="1"/>
          <p:nvPr/>
        </p:nvSpPr>
        <p:spPr bwMode="auto">
          <a:xfrm rot="0" flipH="0" flipV="0">
            <a:off x="1256389" y="4527542"/>
            <a:ext cx="1407655" cy="3356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600" b="1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31.265</a:t>
            </a:r>
            <a:endParaRPr sz="1800" b="1">
              <a:solidFill>
                <a:schemeClr val="tx1"/>
              </a:solidFill>
              <a:latin typeface="Times New Roman"/>
              <a:cs typeface="Times New Roman"/>
            </a:endParaRPr>
          </a:p>
        </p:txBody>
      </p:sp>
      <p:pic>
        <p:nvPicPr>
          <p:cNvPr id="1229513182" name="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>
            <a:off x="321660" y="3741522"/>
            <a:ext cx="5200650" cy="46672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med" p14:dur="1000" advClick="1">
        <p:fade thruBlk="0"/>
      </p:transition>
    </mc:Choice>
    <mc:Fallback>
      <p:transition spd="med" advClick="1">
        <p:fade thruBlk="0"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90811271" name="Rectangle 1"/>
          <p:cNvSpPr>
            <a:spLocks noChangeArrowheads="1"/>
          </p:cNvSpPr>
          <p:nvPr/>
        </p:nvSpPr>
        <p:spPr bwMode="auto">
          <a:xfrm>
            <a:off x="1143000" y="-553641"/>
            <a:ext cx="6858000" cy="1191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anchor="ctr"/>
          <a:lstStyle/>
          <a:p>
            <a:pPr>
              <a:buClr>
                <a:srgbClr val="000000"/>
              </a:buClr>
              <a:buSzPct val="100000"/>
              <a:buFont typeface="Times New Roman"/>
              <a:buNone/>
              <a:defRPr/>
            </a:pPr>
            <a:endParaRPr lang="ru-RU" sz="1050"/>
          </a:p>
        </p:txBody>
      </p:sp>
      <p:sp>
        <p:nvSpPr>
          <p:cNvPr id="633248357" name="Rectangle 2"/>
          <p:cNvSpPr>
            <a:spLocks noChangeArrowheads="1"/>
          </p:cNvSpPr>
          <p:nvPr/>
        </p:nvSpPr>
        <p:spPr bwMode="auto">
          <a:xfrm>
            <a:off x="1143000" y="-553641"/>
            <a:ext cx="6858000" cy="1191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anchor="ctr"/>
          <a:lstStyle/>
          <a:p>
            <a:pPr>
              <a:buClr>
                <a:srgbClr val="000000"/>
              </a:buClr>
              <a:buSzPct val="100000"/>
              <a:buFont typeface="Times New Roman"/>
              <a:buNone/>
              <a:defRPr/>
            </a:pPr>
            <a:endParaRPr lang="ru-RU" sz="1050"/>
          </a:p>
        </p:txBody>
      </p:sp>
      <p:sp>
        <p:nvSpPr>
          <p:cNvPr id="120341657" name="Прямоугольник 2"/>
          <p:cNvSpPr/>
          <p:nvPr/>
        </p:nvSpPr>
        <p:spPr bwMode="auto">
          <a:xfrm>
            <a:off x="442522" y="253442"/>
            <a:ext cx="6298519" cy="49475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defRPr/>
            </a:pPr>
            <a:r>
              <a:rPr lang="ru-RU" sz="2400">
                <a:solidFill>
                  <a:srgbClr val="4D4E4F"/>
                </a:solidFill>
              </a:rPr>
              <a:t>2. Расстояние до эпицентра взрыва </a:t>
            </a:r>
            <a:r>
              <a:rPr lang="en-US" sz="2400">
                <a:solidFill>
                  <a:srgbClr val="4D4E4F"/>
                </a:solidFill>
              </a:rPr>
              <a:t>R</a:t>
            </a:r>
            <a:r>
              <a:rPr lang="ru-RU" sz="2400">
                <a:solidFill>
                  <a:srgbClr val="4D4E4F"/>
                </a:solidFill>
              </a:rPr>
              <a:t>1, м.</a:t>
            </a:r>
            <a:r>
              <a:rPr lang="ru-RU">
                <a:solidFill>
                  <a:srgbClr val="4D4E4F"/>
                </a:solidFill>
              </a:rPr>
              <a:t> </a:t>
            </a:r>
            <a:endParaRPr/>
          </a:p>
        </p:txBody>
      </p:sp>
      <p:sp>
        <p:nvSpPr>
          <p:cNvPr id="992409372" name="Text Box 5"/>
          <p:cNvSpPr txBox="1">
            <a:spLocks noChangeArrowheads="1"/>
          </p:cNvSpPr>
          <p:nvPr/>
        </p:nvSpPr>
        <p:spPr bwMode="auto">
          <a:xfrm>
            <a:off x="6812280" y="3764915"/>
            <a:ext cx="1939925" cy="363855"/>
          </a:xfrm>
          <a:prstGeom prst="rect">
            <a:avLst/>
          </a:prstGeom>
          <a:solidFill>
            <a:srgbClr val="FFFFFF"/>
          </a:solidFill>
          <a:ln w="9360" cap="sq">
            <a:solidFill>
              <a:srgbClr val="000000"/>
            </a:solidFill>
            <a:miter lim="800000"/>
          </a:ln>
          <a:effectLst/>
        </p:spPr>
        <p:txBody>
          <a:bodyPr lIns="67500" tIns="35100" rIns="67500" bIns="35100"/>
          <a:lstStyle>
            <a:lvl1pPr>
              <a:buClr>
                <a:srgbClr val="000000"/>
              </a:buClr>
              <a:buSzPct val="100000"/>
              <a:buFont typeface="Times New Roman"/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69" algn="l"/>
                <a:tab pos="6737350" algn="l"/>
                <a:tab pos="7186294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chemeClr val="bg1"/>
                </a:solidFill>
                <a:latin typeface="Arial"/>
                <a:ea typeface="Microsoft YaHei"/>
              </a:defRPr>
            </a:lvl1pPr>
            <a:lvl2pPr>
              <a:buClr>
                <a:srgbClr val="000000"/>
              </a:buClr>
              <a:buSzPct val="100000"/>
              <a:buFont typeface="Times New Roman"/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69" algn="l"/>
                <a:tab pos="6737350" algn="l"/>
                <a:tab pos="7186294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chemeClr val="bg1"/>
                </a:solidFill>
                <a:latin typeface="Arial"/>
                <a:ea typeface="Microsoft YaHei"/>
              </a:defRPr>
            </a:lvl2pPr>
            <a:lvl3pPr>
              <a:buClr>
                <a:srgbClr val="000000"/>
              </a:buClr>
              <a:buSzPct val="100000"/>
              <a:buFont typeface="Times New Roman"/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69" algn="l"/>
                <a:tab pos="6737350" algn="l"/>
                <a:tab pos="7186294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chemeClr val="bg1"/>
                </a:solidFill>
                <a:latin typeface="Arial"/>
                <a:ea typeface="Microsoft YaHei"/>
              </a:defRPr>
            </a:lvl3pPr>
            <a:lvl4pPr>
              <a:buClr>
                <a:srgbClr val="000000"/>
              </a:buClr>
              <a:buSzPct val="100000"/>
              <a:buFont typeface="Times New Roman"/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69" algn="l"/>
                <a:tab pos="6737350" algn="l"/>
                <a:tab pos="7186294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chemeClr val="bg1"/>
                </a:solidFill>
                <a:latin typeface="Arial"/>
                <a:ea typeface="Microsoft YaHei"/>
              </a:defRPr>
            </a:lvl4pPr>
            <a:lvl5pPr>
              <a:buClr>
                <a:srgbClr val="000000"/>
              </a:buClr>
              <a:buSzPct val="100000"/>
              <a:buFont typeface="Times New Roman"/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69" algn="l"/>
                <a:tab pos="6737350" algn="l"/>
                <a:tab pos="7186294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chemeClr val="bg1"/>
                </a:solidFill>
                <a:latin typeface="Arial"/>
                <a:ea typeface="Microsoft YaHei"/>
              </a:defRPr>
            </a:lvl5pPr>
            <a:lvl6pPr marL="2514600" indent="-228600" defTabSz="44958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Times New Roman"/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69" algn="l"/>
                <a:tab pos="6737350" algn="l"/>
                <a:tab pos="7186294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chemeClr val="bg1"/>
                </a:solidFill>
                <a:latin typeface="Arial"/>
                <a:ea typeface="Microsoft YaHei"/>
              </a:defRPr>
            </a:lvl6pPr>
            <a:lvl7pPr marL="2971800" indent="-228600" defTabSz="44958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Times New Roman"/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69" algn="l"/>
                <a:tab pos="6737350" algn="l"/>
                <a:tab pos="7186294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chemeClr val="bg1"/>
                </a:solidFill>
                <a:latin typeface="Arial"/>
                <a:ea typeface="Microsoft YaHei"/>
              </a:defRPr>
            </a:lvl7pPr>
            <a:lvl8pPr marL="3429000" indent="-228600" defTabSz="44958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Times New Roman"/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69" algn="l"/>
                <a:tab pos="6737350" algn="l"/>
                <a:tab pos="7186294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chemeClr val="bg1"/>
                </a:solidFill>
                <a:latin typeface="Arial"/>
                <a:ea typeface="Microsoft YaHei"/>
              </a:defRPr>
            </a:lvl8pPr>
            <a:lvl9pPr marL="3886200" indent="-228600" defTabSz="44958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Times New Roman"/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69" algn="l"/>
                <a:tab pos="6737350" algn="l"/>
                <a:tab pos="7186294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chemeClr val="bg1"/>
                </a:solidFill>
                <a:latin typeface="Arial"/>
                <a:ea typeface="Microsoft YaHei"/>
              </a:defRPr>
            </a:lvl9pPr>
          </a:lstStyle>
          <a:p>
            <a:pPr algn="ctr">
              <a:buClrTx/>
              <a:buFontTx/>
              <a:buNone/>
              <a:defRPr/>
            </a:pPr>
            <a:r>
              <a:rPr lang="ru-RU" sz="900">
                <a:solidFill>
                  <a:srgbClr val="000000"/>
                </a:solidFill>
                <a:latin typeface="Times New Roman"/>
              </a:rPr>
              <a:t>Сторона каждого квадрата карты равна 1 километру</a:t>
            </a:r>
            <a:endParaRPr/>
          </a:p>
        </p:txBody>
      </p:sp>
      <p:sp>
        <p:nvSpPr>
          <p:cNvPr id="1103713462" name="Text Box 12"/>
          <p:cNvSpPr txBox="1">
            <a:spLocks noChangeArrowheads="1"/>
          </p:cNvSpPr>
          <p:nvPr/>
        </p:nvSpPr>
        <p:spPr bwMode="auto">
          <a:xfrm>
            <a:off x="6812280" y="4188460"/>
            <a:ext cx="1939290" cy="285115"/>
          </a:xfrm>
          <a:prstGeom prst="rect">
            <a:avLst/>
          </a:prstGeom>
          <a:solidFill>
            <a:schemeClr val="bg1"/>
          </a:solidFill>
          <a:ln w="9360" cap="sq">
            <a:solidFill>
              <a:srgbClr val="000000"/>
            </a:solidFill>
            <a:miter lim="800000"/>
          </a:ln>
          <a:effectLst/>
        </p:spPr>
        <p:txBody>
          <a:bodyPr wrap="square" lIns="67500" tIns="35100" rIns="67500" bIns="35100" anchor="t">
            <a:spAutoFit/>
          </a:bodyPr>
          <a:lstStyle>
            <a:lvl1pPr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69" algn="l"/>
                <a:tab pos="6737350" algn="l"/>
                <a:tab pos="7186294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rgbClr val="000000"/>
                </a:solidFill>
                <a:latin typeface="Arial"/>
                <a:ea typeface="Microsoft YaHei"/>
              </a:defRPr>
            </a:lvl1pPr>
            <a:lvl2pPr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69" algn="l"/>
                <a:tab pos="6737350" algn="l"/>
                <a:tab pos="7186294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rgbClr val="000000"/>
                </a:solidFill>
                <a:latin typeface="Arial"/>
                <a:ea typeface="Microsoft YaHei"/>
              </a:defRPr>
            </a:lvl2pPr>
            <a:lvl3pPr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69" algn="l"/>
                <a:tab pos="6737350" algn="l"/>
                <a:tab pos="7186294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rgbClr val="000000"/>
                </a:solidFill>
                <a:latin typeface="Arial"/>
                <a:ea typeface="Microsoft YaHei"/>
              </a:defRPr>
            </a:lvl3pPr>
            <a:lvl4pPr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69" algn="l"/>
                <a:tab pos="6737350" algn="l"/>
                <a:tab pos="7186294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rgbClr val="000000"/>
                </a:solidFill>
                <a:latin typeface="Arial"/>
                <a:ea typeface="Microsoft YaHei"/>
              </a:defRPr>
            </a:lvl4pPr>
            <a:lvl5pPr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69" algn="l"/>
                <a:tab pos="6737350" algn="l"/>
                <a:tab pos="7186294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rgbClr val="000000"/>
                </a:solidFill>
                <a:latin typeface="Arial"/>
                <a:ea typeface="Microsoft YaHei"/>
              </a:defRPr>
            </a:lvl5pPr>
            <a:lvl6pPr marL="2514600" indent="-228600" defTabSz="44958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Times New Roman"/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69" algn="l"/>
                <a:tab pos="6737350" algn="l"/>
                <a:tab pos="7186294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rgbClr val="000000"/>
                </a:solidFill>
                <a:latin typeface="Arial"/>
                <a:ea typeface="Microsoft YaHei"/>
              </a:defRPr>
            </a:lvl6pPr>
            <a:lvl7pPr marL="2971800" indent="-228600" defTabSz="44958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Times New Roman"/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69" algn="l"/>
                <a:tab pos="6737350" algn="l"/>
                <a:tab pos="7186294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rgbClr val="000000"/>
                </a:solidFill>
                <a:latin typeface="Arial"/>
                <a:ea typeface="Microsoft YaHei"/>
              </a:defRPr>
            </a:lvl7pPr>
            <a:lvl8pPr marL="3429000" indent="-228600" defTabSz="44958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Times New Roman"/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69" algn="l"/>
                <a:tab pos="6737350" algn="l"/>
                <a:tab pos="7186294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rgbClr val="000000"/>
                </a:solidFill>
                <a:latin typeface="Arial"/>
                <a:ea typeface="Microsoft YaHei"/>
              </a:defRPr>
            </a:lvl8pPr>
            <a:lvl9pPr marL="3886200" indent="-228600" defTabSz="44958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Times New Roman"/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69" algn="l"/>
                <a:tab pos="6737350" algn="l"/>
                <a:tab pos="7186294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rgbClr val="000000"/>
                </a:solidFill>
                <a:latin typeface="Arial"/>
                <a:ea typeface="Microsoft YaHei"/>
              </a:defRPr>
            </a:lvl9pPr>
          </a:lstStyle>
          <a:p>
            <a:pPr algn="ctr">
              <a:spcBef>
                <a:spcPts val="0"/>
              </a:spcBef>
              <a:buClrTx/>
              <a:buSzTx/>
              <a:buFontTx/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69" algn="l"/>
                <a:tab pos="6737350" algn="l"/>
                <a:tab pos="7186294" algn="l"/>
                <a:tab pos="7635875" algn="l"/>
                <a:tab pos="8084820" algn="l"/>
                <a:tab pos="8534400" algn="l"/>
                <a:tab pos="8983345" algn="l"/>
              </a:tabLst>
              <a:defRPr/>
            </a:pPr>
            <a:r>
              <a:rPr lang="ru-RU" b="1" i="1">
                <a:latin typeface="Times New Roman"/>
                <a:ea typeface="Microsoft YaHei"/>
              </a:rPr>
              <a:t>R</a:t>
            </a:r>
            <a:r>
              <a:rPr lang="ru-RU" b="1" i="1" baseline="-25000">
                <a:latin typeface="Times New Roman"/>
                <a:ea typeface="Microsoft YaHei"/>
              </a:rPr>
              <a:t>2</a:t>
            </a:r>
            <a:r>
              <a:rPr lang="ru-RU" b="1" i="1">
                <a:latin typeface="Times New Roman"/>
                <a:ea typeface="Microsoft YaHei"/>
              </a:rPr>
              <a:t>=0,6 км </a:t>
            </a:r>
            <a:endParaRPr lang="ru-RU" sz="900">
              <a:latin typeface="Times New Roman"/>
              <a:ea typeface="Microsoft YaHei"/>
            </a:endParaRPr>
          </a:p>
        </p:txBody>
      </p:sp>
      <p:pic>
        <p:nvPicPr>
          <p:cNvPr id="141382191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1487156" y="1047580"/>
            <a:ext cx="3943717" cy="3684441"/>
          </a:xfrm>
          <a:prstGeom prst="rect">
            <a:avLst/>
          </a:prstGeom>
        </p:spPr>
      </p:pic>
      <p:pic>
        <p:nvPicPr>
          <p:cNvPr id="323388536" name="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 flipH="0" flipV="0">
            <a:off x="3655818" y="1996620"/>
            <a:ext cx="988431" cy="98843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1840326" name="Google Shape;35;p6"/>
          <p:cNvSpPr txBox="1">
            <a:spLocks noGrp="1"/>
          </p:cNvSpPr>
          <p:nvPr>
            <p:ph type="sldNum" idx="12"/>
          </p:nvPr>
        </p:nvSpPr>
        <p:spPr bwMode="auto">
          <a:xfrm>
            <a:off x="8704250" y="4816581"/>
            <a:ext cx="206100" cy="145500"/>
          </a:xfrm>
          <a:prstGeom prst="rect">
            <a:avLst/>
          </a:prstGeom>
        </p:spPr>
        <p:txBody>
          <a:bodyPr spcFirstLastPara="1" wrap="square" lIns="19025" tIns="19025" rIns="19025" bIns="190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4D4E4F"/>
              </a:buClr>
              <a:buSzPts val="1100"/>
              <a:buFont typeface="Arial"/>
              <a:buNone/>
              <a:defRPr/>
            </a:pPr>
            <a:fld id="{00000000-1234-1234-1234-123412341234}" type="slidenum">
              <a:rPr lang="en-US"/>
              <a:t>11</a:t>
            </a:fld>
            <a:endParaRPr sz="1400">
              <a:solidFill>
                <a:srgbClr val="000000"/>
              </a:solidFill>
            </a:endParaRPr>
          </a:p>
        </p:txBody>
      </p:sp>
      <p:sp>
        <p:nvSpPr>
          <p:cNvPr id="1248227912" name="Google Shape;34;p6"/>
          <p:cNvSpPr txBox="1">
            <a:spLocks noGrp="1"/>
          </p:cNvSpPr>
          <p:nvPr>
            <p:ph type="title"/>
          </p:nvPr>
        </p:nvSpPr>
        <p:spPr bwMode="auto">
          <a:xfrm>
            <a:off x="442927" y="337700"/>
            <a:ext cx="6256200" cy="440700"/>
          </a:xfrm>
          <a:prstGeom prst="rect">
            <a:avLst/>
          </a:prstGeom>
        </p:spPr>
        <p:txBody>
          <a:bodyPr spcFirstLastPara="1" wrap="square" lIns="19025" tIns="19025" rIns="19025" bIns="190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/>
              <a:t>5. Расчеты</a:t>
            </a:r>
            <a:endParaRPr/>
          </a:p>
        </p:txBody>
      </p:sp>
      <p:pic>
        <p:nvPicPr>
          <p:cNvPr id="263228967" name="Рисунок 2" descr="Изображение выглядит как текст, снимок экрана, Шрифт, линия&#10;&#10;Содержимое, созданное искусственным интеллектом, может быть неверным.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123567" y="856801"/>
            <a:ext cx="8896865" cy="3043749"/>
          </a:xfrm>
          <a:prstGeom prst="rect">
            <a:avLst/>
          </a:prstGeom>
        </p:spPr>
      </p:pic>
      <p:sp>
        <p:nvSpPr>
          <p:cNvPr id="1228288055" name="TextBox 6"/>
          <p:cNvSpPr txBox="1"/>
          <p:nvPr/>
        </p:nvSpPr>
        <p:spPr bwMode="auto">
          <a:xfrm>
            <a:off x="282147" y="4009233"/>
            <a:ext cx="274320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/>
            <a:spAutoFit/>
          </a:bodyPr>
          <a:lstStyle/>
          <a:p>
            <a:pPr>
              <a:defRPr/>
            </a:pPr>
            <a:r>
              <a:rPr lang="ru-RU" sz="1800" b="1"/>
              <a:t>Uтнт</a:t>
            </a:r>
            <a:r>
              <a:rPr lang="ru-RU" sz="1800" b="1"/>
              <a:t> =</a:t>
            </a:r>
            <a:r>
              <a:rPr lang="ru-RU"/>
              <a:t> </a:t>
            </a:r>
            <a:endParaRPr/>
          </a:p>
        </p:txBody>
      </p:sp>
      <p:sp>
        <p:nvSpPr>
          <p:cNvPr id="1934729579" name="TextBox 1"/>
          <p:cNvSpPr txBox="1"/>
          <p:nvPr/>
        </p:nvSpPr>
        <p:spPr bwMode="auto">
          <a:xfrm>
            <a:off x="282147" y="4588456"/>
            <a:ext cx="274320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/>
            <a:spAutoFit/>
          </a:bodyPr>
          <a:lstStyle/>
          <a:p>
            <a:pPr>
              <a:defRPr/>
            </a:pPr>
            <a:r>
              <a:rPr lang="ru-RU" sz="1800" b="1"/>
              <a:t>Uтнт</a:t>
            </a:r>
            <a:r>
              <a:rPr lang="ru-RU" sz="1800" b="1"/>
              <a:t> =</a:t>
            </a:r>
            <a:r>
              <a:rPr lang="ru-RU"/>
              <a:t> </a:t>
            </a:r>
            <a:endParaRPr/>
          </a:p>
        </p:txBody>
      </p:sp>
      <p:pic>
        <p:nvPicPr>
          <p:cNvPr id="357142979" name="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1311518" y="3965298"/>
            <a:ext cx="1952624" cy="457200"/>
          </a:xfrm>
          <a:prstGeom prst="rect">
            <a:avLst/>
          </a:prstGeom>
        </p:spPr>
      </p:pic>
      <p:sp>
        <p:nvSpPr>
          <p:cNvPr id="2038969904" name=""/>
          <p:cNvSpPr txBox="1"/>
          <p:nvPr/>
        </p:nvSpPr>
        <p:spPr bwMode="auto">
          <a:xfrm rot="0" flipH="0" flipV="0">
            <a:off x="1311518" y="4605301"/>
            <a:ext cx="925352" cy="3356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6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838.031</a:t>
            </a:r>
            <a:endParaRPr sz="1800" b="1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med" p14:dur="1000" advClick="1">
        <p:fade thruBlk="0"/>
      </p:transition>
    </mc:Choice>
    <mc:Fallback>
      <p:transition spd="med" advClick="1">
        <p:fade thruBlk="0"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71925038" name="Google Shape;35;p6"/>
          <p:cNvSpPr txBox="1">
            <a:spLocks noGrp="1"/>
          </p:cNvSpPr>
          <p:nvPr>
            <p:ph type="sldNum" idx="12"/>
          </p:nvPr>
        </p:nvSpPr>
        <p:spPr bwMode="auto">
          <a:xfrm>
            <a:off x="8704250" y="4816581"/>
            <a:ext cx="206100" cy="145500"/>
          </a:xfrm>
          <a:prstGeom prst="rect">
            <a:avLst/>
          </a:prstGeom>
        </p:spPr>
        <p:txBody>
          <a:bodyPr spcFirstLastPara="1" wrap="square" lIns="19025" tIns="19025" rIns="19025" bIns="190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4D4E4F"/>
              </a:buClr>
              <a:buSzPts val="1100"/>
              <a:buFont typeface="Arial"/>
              <a:buNone/>
              <a:defRPr/>
            </a:pPr>
            <a:fld id="{00000000-1234-1234-1234-123412341234}" type="slidenum">
              <a:rPr lang="en-US"/>
              <a:t>12</a:t>
            </a:fld>
            <a:endParaRPr sz="1400">
              <a:solidFill>
                <a:srgbClr val="000000"/>
              </a:solidFill>
            </a:endParaRPr>
          </a:p>
        </p:txBody>
      </p:sp>
      <p:sp>
        <p:nvSpPr>
          <p:cNvPr id="486665553" name="Google Shape;34;p6"/>
          <p:cNvSpPr txBox="1">
            <a:spLocks noGrp="1"/>
          </p:cNvSpPr>
          <p:nvPr>
            <p:ph type="title"/>
          </p:nvPr>
        </p:nvSpPr>
        <p:spPr bwMode="auto">
          <a:xfrm>
            <a:off x="442927" y="337700"/>
            <a:ext cx="6256200" cy="440700"/>
          </a:xfrm>
          <a:prstGeom prst="rect">
            <a:avLst/>
          </a:prstGeom>
        </p:spPr>
        <p:txBody>
          <a:bodyPr spcFirstLastPara="1" wrap="square" lIns="19025" tIns="19025" rIns="19025" bIns="190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/>
              <a:t>5. Расчеты</a:t>
            </a:r>
            <a:endParaRPr/>
          </a:p>
        </p:txBody>
      </p:sp>
      <p:pic>
        <p:nvPicPr>
          <p:cNvPr id="1020709302" name="Изображение 1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442595" y="1550035"/>
            <a:ext cx="8268335" cy="1124585"/>
          </a:xfrm>
          <a:prstGeom prst="rect">
            <a:avLst/>
          </a:prstGeom>
        </p:spPr>
      </p:pic>
      <p:sp>
        <p:nvSpPr>
          <p:cNvPr id="1852385012" name="TextBox 2"/>
          <p:cNvSpPr txBox="1"/>
          <p:nvPr/>
        </p:nvSpPr>
        <p:spPr bwMode="auto">
          <a:xfrm>
            <a:off x="464245" y="982058"/>
            <a:ext cx="7927888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/>
            <a:spAutoFit/>
          </a:bodyPr>
          <a:lstStyle/>
          <a:p>
            <a:pPr>
              <a:defRPr/>
            </a:pPr>
            <a:r>
              <a:rPr lang="ru-RU" sz="1600"/>
              <a:t>4. Определяем </a:t>
            </a:r>
            <a:r>
              <a:rPr lang="ru-RU" sz="1600" b="1" i="1"/>
              <a:t>балл землетрясения</a:t>
            </a:r>
            <a:r>
              <a:rPr lang="ru-RU" sz="1600"/>
              <a:t> (интенсивность)</a:t>
            </a:r>
            <a:endParaRPr/>
          </a:p>
        </p:txBody>
      </p:sp>
      <p:sp>
        <p:nvSpPr>
          <p:cNvPr id="1824921348" name="TextBox 6"/>
          <p:cNvSpPr txBox="1"/>
          <p:nvPr/>
        </p:nvSpPr>
        <p:spPr bwMode="auto">
          <a:xfrm>
            <a:off x="539559" y="3267141"/>
            <a:ext cx="1747187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/>
            <a:spAutoFit/>
          </a:bodyPr>
          <a:lstStyle/>
          <a:p>
            <a:pPr>
              <a:defRPr/>
            </a:pPr>
            <a:r>
              <a:rPr lang="ru-RU" sz="1800" b="1"/>
              <a:t>I = 7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med" p14:dur="1000" advClick="1">
        <p:fade thruBlk="0"/>
      </p:transition>
    </mc:Choice>
    <mc:Fallback>
      <p:transition spd="med" advClick="1">
        <p:fade thruBlk="0"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73831740" name="Google Shape;34;p6"/>
          <p:cNvSpPr txBox="1">
            <a:spLocks noGrp="1"/>
          </p:cNvSpPr>
          <p:nvPr>
            <p:ph type="title"/>
          </p:nvPr>
        </p:nvSpPr>
        <p:spPr bwMode="auto">
          <a:xfrm>
            <a:off x="442927" y="337700"/>
            <a:ext cx="6256200" cy="440700"/>
          </a:xfrm>
          <a:prstGeom prst="rect">
            <a:avLst/>
          </a:prstGeom>
        </p:spPr>
        <p:txBody>
          <a:bodyPr spcFirstLastPara="1" wrap="square" lIns="19025" tIns="19025" rIns="19025" bIns="190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/>
              <a:t>Выводы: </a:t>
            </a:r>
            <a:endParaRPr/>
          </a:p>
        </p:txBody>
      </p:sp>
      <p:sp>
        <p:nvSpPr>
          <p:cNvPr id="199707790" name="Google Shape;35;p6"/>
          <p:cNvSpPr txBox="1">
            <a:spLocks noGrp="1"/>
          </p:cNvSpPr>
          <p:nvPr>
            <p:ph type="sldNum" idx="12"/>
          </p:nvPr>
        </p:nvSpPr>
        <p:spPr bwMode="auto">
          <a:xfrm>
            <a:off x="8704250" y="4816581"/>
            <a:ext cx="206100" cy="145500"/>
          </a:xfrm>
          <a:prstGeom prst="rect">
            <a:avLst/>
          </a:prstGeom>
        </p:spPr>
        <p:txBody>
          <a:bodyPr spcFirstLastPara="1" wrap="square" lIns="19025" tIns="19025" rIns="19025" bIns="190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4D4E4F"/>
              </a:buClr>
              <a:buSzPts val="1100"/>
              <a:buFont typeface="Arial"/>
              <a:buNone/>
              <a:defRPr/>
            </a:pPr>
            <a:fld id="{00000000-1234-1234-1234-123412341234}" type="slidenum">
              <a:rPr lang="en-US"/>
              <a:t>13</a:t>
            </a:fld>
            <a:endParaRPr sz="1400">
              <a:solidFill>
                <a:srgbClr val="000000"/>
              </a:solidFill>
            </a:endParaRPr>
          </a:p>
        </p:txBody>
      </p:sp>
      <p:sp>
        <p:nvSpPr>
          <p:cNvPr id="779587209" name="TextBox 3"/>
          <p:cNvSpPr txBox="1"/>
          <p:nvPr/>
        </p:nvSpPr>
        <p:spPr bwMode="auto">
          <a:xfrm>
            <a:off x="445767" y="927932"/>
            <a:ext cx="8256259" cy="344709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/>
            <a:spAutoFit/>
          </a:bodyPr>
          <a:lstStyle/>
          <a:p>
            <a:pPr marL="285750" indent="-285750">
              <a:buChar char="•"/>
              <a:defRPr/>
            </a:pPr>
            <a:r>
              <a:rPr lang="ru-RU" sz="1200">
                <a:solidFill>
                  <a:srgbClr val="2C2C36"/>
                </a:solidFill>
              </a:rPr>
              <a:t>Объект находится в зоне сильных разрушений (</a:t>
            </a:r>
            <a:r>
              <a:rPr lang="ru-RU" sz="1200">
                <a:solidFill>
                  <a:srgbClr val="2C2C36"/>
                </a:solidFill>
              </a:rPr>
              <a:t>ΔРф^тнт</a:t>
            </a:r>
            <a:r>
              <a:rPr lang="ru-RU" sz="1200">
                <a:solidFill>
                  <a:srgbClr val="2C2C36"/>
                </a:solidFill>
              </a:rPr>
              <a:t> &gt; 30 кПа).</a:t>
            </a:r>
            <a:endParaRPr lang="ru-RU"/>
          </a:p>
          <a:p>
            <a:pPr marL="285750" indent="-285750">
              <a:buChar char="•"/>
              <a:defRPr/>
            </a:pPr>
            <a:r>
              <a:rPr lang="ru-RU" sz="1200">
                <a:solidFill>
                  <a:srgbClr val="2C2C36"/>
                </a:solidFill>
              </a:rPr>
              <a:t>От воздействия ударной волны получат повреждения (разрушения) следующие объекты:</a:t>
            </a:r>
            <a:endParaRPr lang="ru-RU"/>
          </a:p>
          <a:p>
            <a:pPr lvl="1">
              <a:defRPr/>
            </a:pPr>
            <a:r>
              <a:rPr lang="ru-RU" sz="1200">
                <a:solidFill>
                  <a:srgbClr val="2C2C36"/>
                </a:solidFill>
              </a:rPr>
              <a:t>   одноэтажные деревянные дома,</a:t>
            </a:r>
            <a:endParaRPr lang="ru-RU"/>
          </a:p>
          <a:p>
            <a:pPr lvl="1">
              <a:defRPr/>
            </a:pPr>
            <a:r>
              <a:rPr lang="ru-RU" sz="1200">
                <a:solidFill>
                  <a:srgbClr val="2C2C36"/>
                </a:solidFill>
              </a:rPr>
              <a:t>   2-х этажные здания из кирпича,</a:t>
            </a:r>
            <a:endParaRPr lang="ru-RU"/>
          </a:p>
          <a:p>
            <a:pPr lvl="1">
              <a:defRPr/>
            </a:pPr>
            <a:r>
              <a:rPr lang="ru-RU" sz="1200">
                <a:solidFill>
                  <a:srgbClr val="2C2C36"/>
                </a:solidFill>
              </a:rPr>
              <a:t>   4-х этажные здания из кирпича,</a:t>
            </a:r>
            <a:endParaRPr lang="ru-RU"/>
          </a:p>
          <a:p>
            <a:pPr lvl="1">
              <a:defRPr/>
            </a:pPr>
            <a:r>
              <a:rPr lang="ru-RU" sz="1200">
                <a:solidFill>
                  <a:srgbClr val="2C2C36"/>
                </a:solidFill>
              </a:rPr>
              <a:t>   антенные опоры из дерева, металла, железобетона,</a:t>
            </a:r>
            <a:endParaRPr lang="ru-RU"/>
          </a:p>
          <a:p>
            <a:pPr lvl="1">
              <a:defRPr/>
            </a:pPr>
            <a:r>
              <a:rPr lang="ru-RU" sz="1200">
                <a:solidFill>
                  <a:srgbClr val="2C2C36"/>
                </a:solidFill>
              </a:rPr>
              <a:t>   незакрепленная радиоаппаратура (аппаратура связи),</a:t>
            </a:r>
            <a:endParaRPr lang="ru-RU"/>
          </a:p>
          <a:p>
            <a:pPr lvl="1">
              <a:defRPr/>
            </a:pPr>
            <a:r>
              <a:rPr lang="ru-RU" sz="1200">
                <a:solidFill>
                  <a:srgbClr val="2C2C36"/>
                </a:solidFill>
              </a:rPr>
              <a:t>   подземные кабельные линии связи.</a:t>
            </a:r>
            <a:endParaRPr/>
          </a:p>
          <a:p>
            <a:pPr marL="285750" indent="-285750">
              <a:buChar char="•"/>
              <a:defRPr/>
            </a:pPr>
            <a:r>
              <a:rPr lang="ru-RU" sz="1200">
                <a:solidFill>
                  <a:srgbClr val="2C2C36"/>
                </a:solidFill>
              </a:rPr>
              <a:t>Открыто расположенные люди могут получить травмы 1-й степени тяжести (легкая степень), а люди находящиеся в помещениях и на рабочих площадках – травмы в результате воздействия вторичных поражающих факторов.</a:t>
            </a:r>
            <a:endParaRPr lang="ru-RU"/>
          </a:p>
          <a:p>
            <a:pPr marL="285750" indent="-285750">
              <a:buChar char="•"/>
              <a:defRPr/>
            </a:pPr>
            <a:r>
              <a:rPr lang="ru-RU" sz="1200">
                <a:solidFill>
                  <a:srgbClr val="2C2C36"/>
                </a:solidFill>
              </a:rPr>
              <a:t>От воздействия СИ могут загореться и расплавиться элементы объекта:</a:t>
            </a:r>
            <a:endParaRPr lang="ru-RU"/>
          </a:p>
          <a:p>
            <a:pPr lvl="1">
              <a:defRPr/>
            </a:pPr>
            <a:r>
              <a:rPr lang="ru-RU" sz="1200">
                <a:solidFill>
                  <a:srgbClr val="2C2C36"/>
                </a:solidFill>
              </a:rPr>
              <a:t>   деревянные части зданий и сооружений,</a:t>
            </a:r>
            <a:endParaRPr lang="ru-RU"/>
          </a:p>
          <a:p>
            <a:pPr lvl="1">
              <a:defRPr/>
            </a:pPr>
            <a:r>
              <a:rPr lang="ru-RU" sz="1200">
                <a:solidFill>
                  <a:srgbClr val="2C2C36"/>
                </a:solidFill>
              </a:rPr>
              <a:t>   деревянные опоры антенно-фидерных устройств,</a:t>
            </a:r>
            <a:endParaRPr lang="ru-RU"/>
          </a:p>
          <a:p>
            <a:pPr lvl="1">
              <a:defRPr/>
            </a:pPr>
            <a:r>
              <a:rPr lang="ru-RU" sz="1200">
                <a:solidFill>
                  <a:srgbClr val="2C2C36"/>
                </a:solidFill>
              </a:rPr>
              <a:t>   изоляционные материалы.</a:t>
            </a:r>
            <a:endParaRPr lang="ru-RU"/>
          </a:p>
          <a:p>
            <a:pPr marL="285750" indent="-285750">
              <a:buChar char="•"/>
              <a:defRPr/>
            </a:pPr>
            <a:r>
              <a:rPr lang="ru-RU" sz="1200">
                <a:solidFill>
                  <a:srgbClr val="2C2C36"/>
                </a:solidFill>
              </a:rPr>
              <a:t>Открыто расположенные люди могут получить ожоги 3-й степени тяжести (тяжелые ожоги) и поражение глаз.</a:t>
            </a:r>
            <a:endParaRPr lang="ru-RU"/>
          </a:p>
          <a:p>
            <a:pPr algn="l">
              <a:defRPr/>
            </a:pPr>
            <a:endParaRPr lang="ru-RU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med" p14:dur="1000" advClick="1">
        <p:fade thruBlk="0"/>
      </p:transition>
    </mc:Choice>
    <mc:Fallback>
      <p:transition spd="med" advClick="1">
        <p:fade thruBlk="0"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47391274" name="Google Shape;35;p6"/>
          <p:cNvSpPr txBox="1">
            <a:spLocks noGrp="1"/>
          </p:cNvSpPr>
          <p:nvPr>
            <p:ph type="sldNum" idx="12"/>
          </p:nvPr>
        </p:nvSpPr>
        <p:spPr bwMode="auto">
          <a:xfrm>
            <a:off x="8704250" y="4816581"/>
            <a:ext cx="206100" cy="145500"/>
          </a:xfrm>
          <a:prstGeom prst="rect">
            <a:avLst/>
          </a:prstGeom>
        </p:spPr>
        <p:txBody>
          <a:bodyPr spcFirstLastPara="1" wrap="square" lIns="19025" tIns="19025" rIns="19025" bIns="190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4D4E4F"/>
              </a:buClr>
              <a:buSzPts val="1100"/>
              <a:buFont typeface="Arial"/>
              <a:buNone/>
              <a:defRPr/>
            </a:pPr>
            <a:fld id="{00000000-1234-1234-1234-123412341234}" type="slidenum">
              <a:rPr lang="en-US"/>
              <a:t>14</a:t>
            </a:fld>
            <a:endParaRPr sz="1400">
              <a:solidFill>
                <a:srgbClr val="000000"/>
              </a:solidFill>
            </a:endParaRPr>
          </a:p>
        </p:txBody>
      </p:sp>
      <p:sp>
        <p:nvSpPr>
          <p:cNvPr id="191265683" name="Текст 2"/>
          <p:cNvSpPr>
            <a:spLocks noGrp="1"/>
          </p:cNvSpPr>
          <p:nvPr>
            <p:ph type="body" idx="1"/>
          </p:nvPr>
        </p:nvSpPr>
        <p:spPr bwMode="auto">
          <a:xfrm>
            <a:off x="440055" y="281305"/>
            <a:ext cx="6529705" cy="984885"/>
          </a:xfrm>
        </p:spPr>
        <p:txBody>
          <a:bodyPr/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  <a:defRPr/>
            </a:pPr>
            <a:r>
              <a:rPr lang="ru-RU" b="1">
                <a:solidFill>
                  <a:srgbClr val="FF9400"/>
                </a:solidFill>
              </a:rPr>
              <a:t>Оценка БЖД жителей </a:t>
            </a:r>
            <a:r>
              <a:rPr lang="ru-RU" b="1">
                <a:solidFill>
                  <a:srgbClr val="FF9400"/>
                </a:solidFill>
              </a:rPr>
              <a:t>н.п</a:t>
            </a:r>
            <a:r>
              <a:rPr lang="ru-RU" b="1">
                <a:solidFill>
                  <a:srgbClr val="FF9400"/>
                </a:solidFill>
              </a:rPr>
              <a:t>., персонала объекта и устойчивость функционирования объекта в случае землетрясения с интенсивностью </a:t>
            </a:r>
            <a:r>
              <a:rPr lang="en-US" b="1">
                <a:solidFill>
                  <a:srgbClr val="FF9400"/>
                </a:solidFill>
              </a:rPr>
              <a:t>I</a:t>
            </a:r>
            <a:r>
              <a:rPr lang="ru-RU" b="1">
                <a:solidFill>
                  <a:srgbClr val="FF9400"/>
                </a:solidFill>
              </a:rPr>
              <a:t> = 7 баллов.</a:t>
            </a:r>
            <a:endParaRPr/>
          </a:p>
        </p:txBody>
      </p:sp>
      <p:sp>
        <p:nvSpPr>
          <p:cNvPr id="1969778543" name="Прямоугольник 1"/>
          <p:cNvSpPr/>
          <p:nvPr/>
        </p:nvSpPr>
        <p:spPr bwMode="auto">
          <a:xfrm>
            <a:off x="440055" y="1276985"/>
            <a:ext cx="8263890" cy="3322955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>
              <a:defRPr/>
            </a:pPr>
            <a:r>
              <a:rPr lang="ru-RU" sz="1500"/>
              <a:t>1. </a:t>
            </a:r>
            <a:r>
              <a:rPr lang="ru-RU" sz="1500">
                <a:solidFill>
                  <a:srgbClr val="4D4E4F"/>
                </a:solidFill>
                <a:cs typeface="Times New Roman"/>
              </a:rPr>
              <a:t>В результате землетрясения интенсивностью</a:t>
            </a:r>
            <a:r>
              <a:rPr lang="ru-RU" sz="1500" b="1" i="1">
                <a:solidFill>
                  <a:srgbClr val="4D4E4F"/>
                </a:solidFill>
                <a:cs typeface="Times New Roman"/>
              </a:rPr>
              <a:t> I = 7 баллов</a:t>
            </a:r>
            <a:r>
              <a:rPr lang="ru-RU" sz="1500">
                <a:solidFill>
                  <a:srgbClr val="4D4E4F"/>
                </a:solidFill>
                <a:cs typeface="Times New Roman"/>
              </a:rPr>
              <a:t> получат повреждения следующие элементы объекта и </a:t>
            </a:r>
            <a:r>
              <a:rPr lang="ru-RU" sz="1500">
                <a:solidFill>
                  <a:srgbClr val="4D4E4F"/>
                </a:solidFill>
                <a:cs typeface="Times New Roman"/>
              </a:rPr>
              <a:t>н.п</a:t>
            </a:r>
            <a:r>
              <a:rPr lang="ru-RU" sz="1500">
                <a:solidFill>
                  <a:srgbClr val="4D4E4F"/>
                </a:solidFill>
                <a:cs typeface="Times New Roman"/>
              </a:rPr>
              <a:t>. Перекаты:</a:t>
            </a:r>
            <a:endParaRPr/>
          </a:p>
          <a:p>
            <a:pPr marL="285750" indent="-285750">
              <a:buFont typeface="Arial"/>
              <a:buChar char="•"/>
              <a:defRPr/>
            </a:pPr>
            <a:r>
              <a:rPr lang="en-US" sz="1500" b="1" i="1">
                <a:solidFill>
                  <a:srgbClr val="4D4E4F"/>
                </a:solidFill>
                <a:cs typeface="Times New Roman"/>
              </a:rPr>
              <a:t>здания</a:t>
            </a:r>
            <a:r>
              <a:rPr lang="en-US" sz="1500">
                <a:solidFill>
                  <a:srgbClr val="4D4E4F"/>
                </a:solidFill>
                <a:cs typeface="Times New Roman"/>
              </a:rPr>
              <a:t> — </a:t>
            </a:r>
            <a:r>
              <a:rPr lang="en-US" sz="1500">
                <a:solidFill>
                  <a:srgbClr val="4D4E4F"/>
                </a:solidFill>
                <a:cs typeface="Times New Roman"/>
              </a:rPr>
              <a:t>кирпичные</a:t>
            </a:r>
            <a:r>
              <a:rPr lang="en-US" sz="1500">
                <a:solidFill>
                  <a:srgbClr val="4D4E4F"/>
                </a:solidFill>
                <a:cs typeface="Times New Roman"/>
              </a:rPr>
              <a:t> </a:t>
            </a:r>
            <a:r>
              <a:rPr lang="en-US" sz="1500">
                <a:solidFill>
                  <a:srgbClr val="4D4E4F"/>
                </a:solidFill>
                <a:cs typeface="Times New Roman"/>
              </a:rPr>
              <a:t>здания</a:t>
            </a:r>
            <a:r>
              <a:rPr lang="en-US" sz="1500">
                <a:solidFill>
                  <a:srgbClr val="4D4E4F"/>
                </a:solidFill>
                <a:cs typeface="Times New Roman"/>
              </a:rPr>
              <a:t> </a:t>
            </a:r>
            <a:r>
              <a:rPr lang="en-US" sz="1500">
                <a:solidFill>
                  <a:srgbClr val="4D4E4F"/>
                </a:solidFill>
                <a:cs typeface="Times New Roman"/>
              </a:rPr>
              <a:t>получат</a:t>
            </a:r>
            <a:r>
              <a:rPr lang="en-US" sz="1500">
                <a:solidFill>
                  <a:srgbClr val="4D4E4F"/>
                </a:solidFill>
                <a:cs typeface="Times New Roman"/>
              </a:rPr>
              <a:t> </a:t>
            </a:r>
            <a:r>
              <a:rPr lang="en-US" sz="1500">
                <a:solidFill>
                  <a:srgbClr val="4D4E4F"/>
                </a:solidFill>
                <a:cs typeface="Times New Roman"/>
              </a:rPr>
              <a:t>трещины</a:t>
            </a:r>
            <a:r>
              <a:rPr lang="en-US" sz="1500">
                <a:solidFill>
                  <a:srgbClr val="4D4E4F"/>
                </a:solidFill>
                <a:cs typeface="Times New Roman"/>
              </a:rPr>
              <a:t> </a:t>
            </a:r>
            <a:r>
              <a:rPr lang="en-US" sz="1500">
                <a:solidFill>
                  <a:srgbClr val="4D4E4F"/>
                </a:solidFill>
                <a:cs typeface="Times New Roman"/>
              </a:rPr>
              <a:t>в</a:t>
            </a:r>
            <a:r>
              <a:rPr lang="en-US" sz="1500">
                <a:solidFill>
                  <a:srgbClr val="4D4E4F"/>
                </a:solidFill>
                <a:cs typeface="Times New Roman"/>
              </a:rPr>
              <a:t> </a:t>
            </a:r>
            <a:r>
              <a:rPr lang="en-US" sz="1500">
                <a:solidFill>
                  <a:srgbClr val="4D4E4F"/>
                </a:solidFill>
                <a:cs typeface="Times New Roman"/>
              </a:rPr>
              <a:t>стенах</a:t>
            </a:r>
            <a:r>
              <a:rPr lang="en-US" sz="1500">
                <a:solidFill>
                  <a:srgbClr val="4D4E4F"/>
                </a:solidFill>
                <a:cs typeface="Times New Roman"/>
              </a:rPr>
              <a:t>, </a:t>
            </a:r>
            <a:r>
              <a:rPr lang="en-US" sz="1500">
                <a:solidFill>
                  <a:srgbClr val="4D4E4F"/>
                </a:solidFill>
                <a:cs typeface="Times New Roman"/>
              </a:rPr>
              <a:t>повреждение</a:t>
            </a:r>
            <a:r>
              <a:rPr lang="en-US" sz="1500">
                <a:solidFill>
                  <a:srgbClr val="4D4E4F"/>
                </a:solidFill>
                <a:cs typeface="Times New Roman"/>
              </a:rPr>
              <a:t> </a:t>
            </a:r>
            <a:r>
              <a:rPr lang="en-US" sz="1500">
                <a:solidFill>
                  <a:srgbClr val="4D4E4F"/>
                </a:solidFill>
                <a:cs typeface="Times New Roman"/>
              </a:rPr>
              <a:t>дымовых</a:t>
            </a:r>
            <a:r>
              <a:rPr lang="en-US" sz="1500">
                <a:solidFill>
                  <a:srgbClr val="4D4E4F"/>
                </a:solidFill>
                <a:cs typeface="Times New Roman"/>
              </a:rPr>
              <a:t> </a:t>
            </a:r>
            <a:r>
              <a:rPr lang="en-US" sz="1500">
                <a:solidFill>
                  <a:srgbClr val="4D4E4F"/>
                </a:solidFill>
                <a:cs typeface="Times New Roman"/>
              </a:rPr>
              <a:t>труб</a:t>
            </a:r>
            <a:r>
              <a:rPr lang="en-US" sz="1500">
                <a:solidFill>
                  <a:srgbClr val="4D4E4F"/>
                </a:solidFill>
                <a:cs typeface="Times New Roman"/>
              </a:rPr>
              <a:t> </a:t>
            </a:r>
            <a:r>
              <a:rPr lang="en-US" sz="1500">
                <a:solidFill>
                  <a:srgbClr val="4D4E4F"/>
                </a:solidFill>
                <a:cs typeface="Times New Roman"/>
              </a:rPr>
              <a:t>и</a:t>
            </a:r>
            <a:r>
              <a:rPr lang="en-US" sz="1500">
                <a:solidFill>
                  <a:srgbClr val="4D4E4F"/>
                </a:solidFill>
                <a:cs typeface="Times New Roman"/>
              </a:rPr>
              <a:t> </a:t>
            </a:r>
            <a:r>
              <a:rPr lang="en-US" sz="1500">
                <a:solidFill>
                  <a:srgbClr val="4D4E4F"/>
                </a:solidFill>
                <a:cs typeface="Times New Roman"/>
              </a:rPr>
              <a:t>перегородок</a:t>
            </a:r>
            <a:r>
              <a:rPr lang="en-US" sz="1500">
                <a:solidFill>
                  <a:srgbClr val="4D4E4F"/>
                </a:solidFill>
                <a:cs typeface="Times New Roman"/>
              </a:rPr>
              <a:t>; </a:t>
            </a:r>
            <a:r>
              <a:rPr lang="en-US" sz="1500">
                <a:solidFill>
                  <a:srgbClr val="4D4E4F"/>
                </a:solidFill>
                <a:cs typeface="Times New Roman"/>
              </a:rPr>
              <a:t>деревянные</a:t>
            </a:r>
            <a:r>
              <a:rPr lang="en-US" sz="1500">
                <a:solidFill>
                  <a:srgbClr val="4D4E4F"/>
                </a:solidFill>
                <a:cs typeface="Times New Roman"/>
              </a:rPr>
              <a:t> </a:t>
            </a:r>
            <a:r>
              <a:rPr lang="en-US" sz="1500">
                <a:solidFill>
                  <a:srgbClr val="4D4E4F"/>
                </a:solidFill>
                <a:cs typeface="Times New Roman"/>
              </a:rPr>
              <a:t>дома</a:t>
            </a:r>
            <a:r>
              <a:rPr lang="en-US" sz="1500">
                <a:solidFill>
                  <a:srgbClr val="4D4E4F"/>
                </a:solidFill>
                <a:cs typeface="Times New Roman"/>
              </a:rPr>
              <a:t> — </a:t>
            </a:r>
            <a:r>
              <a:rPr lang="en-US" sz="1500">
                <a:solidFill>
                  <a:srgbClr val="4D4E4F"/>
                </a:solidFill>
                <a:cs typeface="Times New Roman"/>
              </a:rPr>
              <a:t>смещение</a:t>
            </a:r>
            <a:r>
              <a:rPr lang="en-US" sz="1500">
                <a:solidFill>
                  <a:srgbClr val="4D4E4F"/>
                </a:solidFill>
                <a:cs typeface="Times New Roman"/>
              </a:rPr>
              <a:t> </a:t>
            </a:r>
            <a:r>
              <a:rPr lang="en-US" sz="1500">
                <a:solidFill>
                  <a:srgbClr val="4D4E4F"/>
                </a:solidFill>
                <a:cs typeface="Times New Roman"/>
              </a:rPr>
              <a:t>фундамента</a:t>
            </a:r>
            <a:r>
              <a:rPr lang="en-US" sz="1500">
                <a:solidFill>
                  <a:srgbClr val="4D4E4F"/>
                </a:solidFill>
                <a:cs typeface="Times New Roman"/>
              </a:rPr>
              <a:t>, </a:t>
            </a:r>
            <a:r>
              <a:rPr lang="en-US" sz="1500">
                <a:solidFill>
                  <a:srgbClr val="4D4E4F"/>
                </a:solidFill>
                <a:cs typeface="Times New Roman"/>
              </a:rPr>
              <a:t>повреждение</a:t>
            </a:r>
            <a:r>
              <a:rPr lang="en-US" sz="1500">
                <a:solidFill>
                  <a:srgbClr val="4D4E4F"/>
                </a:solidFill>
                <a:cs typeface="Times New Roman"/>
              </a:rPr>
              <a:t> </a:t>
            </a:r>
            <a:r>
              <a:rPr lang="en-US" sz="1500">
                <a:solidFill>
                  <a:srgbClr val="4D4E4F"/>
                </a:solidFill>
                <a:cs typeface="Times New Roman"/>
              </a:rPr>
              <a:t>конструкций</a:t>
            </a:r>
            <a:r>
              <a:rPr lang="en-US" sz="1500">
                <a:solidFill>
                  <a:srgbClr val="4D4E4F"/>
                </a:solidFill>
                <a:cs typeface="Times New Roman"/>
              </a:rPr>
              <a:t>;</a:t>
            </a:r>
            <a:endParaRPr/>
          </a:p>
          <a:p>
            <a:pPr marL="285750" indent="-285750">
              <a:buFont typeface="Arial"/>
              <a:buChar char="•"/>
              <a:defRPr/>
            </a:pPr>
            <a:r>
              <a:rPr lang="en-US" sz="1500" b="1" i="1">
                <a:solidFill>
                  <a:srgbClr val="4D4E4F"/>
                </a:solidFill>
                <a:cs typeface="Times New Roman"/>
              </a:rPr>
              <a:t>здание</a:t>
            </a:r>
            <a:r>
              <a:rPr lang="en-US" sz="1500" b="1" i="1">
                <a:solidFill>
                  <a:srgbClr val="4D4E4F"/>
                </a:solidFill>
                <a:cs typeface="Times New Roman"/>
              </a:rPr>
              <a:t> </a:t>
            </a:r>
            <a:r>
              <a:rPr lang="en-US" sz="1500" b="1" i="1">
                <a:solidFill>
                  <a:srgbClr val="4D4E4F"/>
                </a:solidFill>
                <a:cs typeface="Times New Roman"/>
              </a:rPr>
              <a:t>СУС</a:t>
            </a:r>
            <a:r>
              <a:rPr lang="en-US" sz="1500">
                <a:solidFill>
                  <a:srgbClr val="4D4E4F"/>
                </a:solidFill>
                <a:cs typeface="Times New Roman"/>
              </a:rPr>
              <a:t> — </a:t>
            </a:r>
            <a:r>
              <a:rPr lang="en-US" sz="1500">
                <a:solidFill>
                  <a:srgbClr val="4D4E4F"/>
                </a:solidFill>
                <a:cs typeface="Times New Roman"/>
              </a:rPr>
              <a:t>незначительные</a:t>
            </a:r>
            <a:r>
              <a:rPr lang="en-US" sz="1500">
                <a:solidFill>
                  <a:srgbClr val="4D4E4F"/>
                </a:solidFill>
                <a:cs typeface="Times New Roman"/>
              </a:rPr>
              <a:t> </a:t>
            </a:r>
            <a:r>
              <a:rPr lang="en-US" sz="1500">
                <a:solidFill>
                  <a:srgbClr val="4D4E4F"/>
                </a:solidFill>
                <a:cs typeface="Times New Roman"/>
              </a:rPr>
              <a:t>трещины</a:t>
            </a:r>
            <a:r>
              <a:rPr lang="en-US" sz="1500">
                <a:solidFill>
                  <a:srgbClr val="4D4E4F"/>
                </a:solidFill>
                <a:cs typeface="Times New Roman"/>
              </a:rPr>
              <a:t> </a:t>
            </a:r>
            <a:r>
              <a:rPr lang="en-US" sz="1500">
                <a:solidFill>
                  <a:srgbClr val="4D4E4F"/>
                </a:solidFill>
                <a:cs typeface="Times New Roman"/>
              </a:rPr>
              <a:t>в</a:t>
            </a:r>
            <a:r>
              <a:rPr lang="en-US" sz="1500">
                <a:solidFill>
                  <a:srgbClr val="4D4E4F"/>
                </a:solidFill>
                <a:cs typeface="Times New Roman"/>
              </a:rPr>
              <a:t> </a:t>
            </a:r>
            <a:r>
              <a:rPr lang="en-US" sz="1500">
                <a:solidFill>
                  <a:srgbClr val="4D4E4F"/>
                </a:solidFill>
                <a:cs typeface="Times New Roman"/>
              </a:rPr>
              <a:t>отделке</a:t>
            </a:r>
            <a:r>
              <a:rPr lang="en-US" sz="1500">
                <a:solidFill>
                  <a:srgbClr val="4D4E4F"/>
                </a:solidFill>
                <a:cs typeface="Times New Roman"/>
              </a:rPr>
              <a:t>, </a:t>
            </a:r>
            <a:r>
              <a:rPr lang="en-US" sz="1500">
                <a:solidFill>
                  <a:srgbClr val="4D4E4F"/>
                </a:solidFill>
                <a:cs typeface="Times New Roman"/>
              </a:rPr>
              <a:t>повреждение</a:t>
            </a:r>
            <a:r>
              <a:rPr lang="en-US" sz="1500">
                <a:solidFill>
                  <a:srgbClr val="4D4E4F"/>
                </a:solidFill>
                <a:cs typeface="Times New Roman"/>
              </a:rPr>
              <a:t> </a:t>
            </a:r>
            <a:r>
              <a:rPr lang="en-US" sz="1500">
                <a:solidFill>
                  <a:srgbClr val="4D4E4F"/>
                </a:solidFill>
                <a:cs typeface="Times New Roman"/>
              </a:rPr>
              <a:t>остекления</a:t>
            </a:r>
            <a:r>
              <a:rPr lang="en-US" sz="1500">
                <a:solidFill>
                  <a:srgbClr val="4D4E4F"/>
                </a:solidFill>
                <a:cs typeface="Times New Roman"/>
              </a:rPr>
              <a:t> </a:t>
            </a:r>
            <a:r>
              <a:rPr lang="en-US" sz="1500">
                <a:solidFill>
                  <a:srgbClr val="4D4E4F"/>
                </a:solidFill>
                <a:cs typeface="Times New Roman"/>
              </a:rPr>
              <a:t>и</a:t>
            </a:r>
            <a:r>
              <a:rPr lang="en-US" sz="1500">
                <a:solidFill>
                  <a:srgbClr val="4D4E4F"/>
                </a:solidFill>
                <a:cs typeface="Times New Roman"/>
              </a:rPr>
              <a:t> </a:t>
            </a:r>
            <a:r>
              <a:rPr lang="en-US" sz="1500">
                <a:solidFill>
                  <a:srgbClr val="4D4E4F"/>
                </a:solidFill>
                <a:cs typeface="Times New Roman"/>
              </a:rPr>
              <a:t>легких</a:t>
            </a:r>
            <a:r>
              <a:rPr lang="en-US" sz="1500">
                <a:solidFill>
                  <a:srgbClr val="4D4E4F"/>
                </a:solidFill>
                <a:cs typeface="Times New Roman"/>
              </a:rPr>
              <a:t> </a:t>
            </a:r>
            <a:r>
              <a:rPr lang="en-US" sz="1500">
                <a:solidFill>
                  <a:srgbClr val="4D4E4F"/>
                </a:solidFill>
                <a:cs typeface="Times New Roman"/>
              </a:rPr>
              <a:t>перегородок</a:t>
            </a:r>
            <a:r>
              <a:rPr lang="en-US" sz="1500">
                <a:solidFill>
                  <a:srgbClr val="4D4E4F"/>
                </a:solidFill>
                <a:cs typeface="Times New Roman"/>
              </a:rPr>
              <a:t>;</a:t>
            </a:r>
            <a:endParaRPr/>
          </a:p>
          <a:p>
            <a:pPr marL="285750" indent="-285750">
              <a:buFont typeface="Arial"/>
              <a:buChar char="•"/>
              <a:defRPr/>
            </a:pPr>
            <a:r>
              <a:rPr lang="en-US" sz="1500" b="1" i="1">
                <a:solidFill>
                  <a:srgbClr val="4D4E4F"/>
                </a:solidFill>
                <a:cs typeface="Times New Roman"/>
              </a:rPr>
              <a:t>аппаратура</a:t>
            </a:r>
            <a:r>
              <a:rPr lang="en-US" sz="1500" b="1" i="1">
                <a:solidFill>
                  <a:srgbClr val="4D4E4F"/>
                </a:solidFill>
                <a:cs typeface="Times New Roman"/>
              </a:rPr>
              <a:t> </a:t>
            </a:r>
            <a:r>
              <a:rPr lang="en-US" sz="1500" b="1" i="1">
                <a:solidFill>
                  <a:srgbClr val="4D4E4F"/>
                </a:solidFill>
                <a:cs typeface="Times New Roman"/>
              </a:rPr>
              <a:t>связи</a:t>
            </a:r>
            <a:r>
              <a:rPr lang="en-US" sz="1500">
                <a:solidFill>
                  <a:srgbClr val="4D4E4F"/>
                </a:solidFill>
                <a:cs typeface="Times New Roman"/>
              </a:rPr>
              <a:t> — </a:t>
            </a:r>
            <a:r>
              <a:rPr lang="en-US" sz="1500">
                <a:solidFill>
                  <a:srgbClr val="4D4E4F"/>
                </a:solidFill>
                <a:cs typeface="Times New Roman"/>
              </a:rPr>
              <a:t>падение</a:t>
            </a:r>
            <a:r>
              <a:rPr lang="en-US" sz="1500">
                <a:solidFill>
                  <a:srgbClr val="4D4E4F"/>
                </a:solidFill>
                <a:cs typeface="Times New Roman"/>
              </a:rPr>
              <a:t> </a:t>
            </a:r>
            <a:r>
              <a:rPr lang="en-US" sz="1500">
                <a:solidFill>
                  <a:srgbClr val="4D4E4F"/>
                </a:solidFill>
                <a:cs typeface="Times New Roman"/>
              </a:rPr>
              <a:t>незакрепленного</a:t>
            </a:r>
            <a:r>
              <a:rPr lang="en-US" sz="1500">
                <a:solidFill>
                  <a:srgbClr val="4D4E4F"/>
                </a:solidFill>
                <a:cs typeface="Times New Roman"/>
              </a:rPr>
              <a:t> </a:t>
            </a:r>
            <a:r>
              <a:rPr lang="en-US" sz="1500">
                <a:solidFill>
                  <a:srgbClr val="4D4E4F"/>
                </a:solidFill>
                <a:cs typeface="Times New Roman"/>
              </a:rPr>
              <a:t>оборудования</a:t>
            </a:r>
            <a:r>
              <a:rPr lang="en-US" sz="1500">
                <a:solidFill>
                  <a:srgbClr val="4D4E4F"/>
                </a:solidFill>
                <a:cs typeface="Times New Roman"/>
              </a:rPr>
              <a:t>, </a:t>
            </a:r>
            <a:r>
              <a:rPr lang="en-US" sz="1500">
                <a:solidFill>
                  <a:srgbClr val="4D4E4F"/>
                </a:solidFill>
                <a:cs typeface="Times New Roman"/>
              </a:rPr>
              <a:t>повреждение</a:t>
            </a:r>
            <a:r>
              <a:rPr lang="en-US" sz="1500">
                <a:solidFill>
                  <a:srgbClr val="4D4E4F"/>
                </a:solidFill>
                <a:cs typeface="Times New Roman"/>
              </a:rPr>
              <a:t> </a:t>
            </a:r>
            <a:r>
              <a:rPr lang="en-US" sz="1500">
                <a:solidFill>
                  <a:srgbClr val="4D4E4F"/>
                </a:solidFill>
                <a:cs typeface="Times New Roman"/>
              </a:rPr>
              <a:t>хрупких</a:t>
            </a:r>
            <a:r>
              <a:rPr lang="en-US" sz="1500">
                <a:solidFill>
                  <a:srgbClr val="4D4E4F"/>
                </a:solidFill>
                <a:cs typeface="Times New Roman"/>
              </a:rPr>
              <a:t> </a:t>
            </a:r>
            <a:r>
              <a:rPr lang="en-US" sz="1500">
                <a:solidFill>
                  <a:srgbClr val="4D4E4F"/>
                </a:solidFill>
                <a:cs typeface="Times New Roman"/>
              </a:rPr>
              <a:t>элементов</a:t>
            </a:r>
            <a:r>
              <a:rPr lang="en-US" sz="1500">
                <a:solidFill>
                  <a:srgbClr val="4D4E4F"/>
                </a:solidFill>
                <a:cs typeface="Times New Roman"/>
              </a:rPr>
              <a:t> (</a:t>
            </a:r>
            <a:r>
              <a:rPr lang="en-US" sz="1500">
                <a:solidFill>
                  <a:srgbClr val="4D4E4F"/>
                </a:solidFill>
                <a:cs typeface="Times New Roman"/>
              </a:rPr>
              <a:t>изоляторы</a:t>
            </a:r>
            <a:r>
              <a:rPr lang="en-US" sz="1500">
                <a:solidFill>
                  <a:srgbClr val="4D4E4F"/>
                </a:solidFill>
                <a:cs typeface="Times New Roman"/>
              </a:rPr>
              <a:t>, </a:t>
            </a:r>
            <a:r>
              <a:rPr lang="en-US" sz="1500">
                <a:solidFill>
                  <a:srgbClr val="4D4E4F"/>
                </a:solidFill>
                <a:cs typeface="Times New Roman"/>
              </a:rPr>
              <a:t>релейные</a:t>
            </a:r>
            <a:r>
              <a:rPr lang="en-US" sz="1500">
                <a:solidFill>
                  <a:srgbClr val="4D4E4F"/>
                </a:solidFill>
                <a:cs typeface="Times New Roman"/>
              </a:rPr>
              <a:t> </a:t>
            </a:r>
            <a:r>
              <a:rPr lang="en-US" sz="1500">
                <a:solidFill>
                  <a:srgbClr val="4D4E4F"/>
                </a:solidFill>
                <a:cs typeface="Times New Roman"/>
              </a:rPr>
              <a:t>стойки</a:t>
            </a:r>
            <a:r>
              <a:rPr lang="en-US" sz="1500">
                <a:solidFill>
                  <a:srgbClr val="4D4E4F"/>
                </a:solidFill>
                <a:cs typeface="Times New Roman"/>
              </a:rPr>
              <a:t>).</a:t>
            </a:r>
            <a:endParaRPr/>
          </a:p>
          <a:p>
            <a:pPr>
              <a:defRPr/>
            </a:pPr>
            <a:endParaRPr lang="ru-RU" sz="1500">
              <a:solidFill>
                <a:srgbClr val="4D4E4F"/>
              </a:solidFill>
              <a:cs typeface="Times New Roman"/>
            </a:endParaRPr>
          </a:p>
          <a:p>
            <a:pPr algn="l">
              <a:buSzTx/>
              <a:buNone/>
              <a:defRPr/>
            </a:pPr>
            <a:r>
              <a:rPr lang="en-US" sz="1500">
                <a:solidFill>
                  <a:srgbClr val="4D4E4F"/>
                </a:solidFill>
                <a:cs typeface="Times New Roman"/>
              </a:rPr>
              <a:t>2. Люди могут получить травмы разной степени тяжести в результате воздействия вторичных поражающих факторов</a:t>
            </a:r>
            <a:r>
              <a:rPr lang="ru-RU" sz="1500">
                <a:solidFill>
                  <a:srgbClr val="4D4E4F"/>
                </a:solidFill>
                <a:cs typeface="Times New Roman"/>
              </a:rPr>
              <a:t>:</a:t>
            </a:r>
            <a:endParaRPr/>
          </a:p>
          <a:p>
            <a:pPr marL="285750" indent="-285750" algn="l">
              <a:buSzTx/>
              <a:buFont typeface="Arial"/>
              <a:buChar char="•"/>
              <a:defRPr/>
            </a:pPr>
            <a:r>
              <a:rPr lang="en-US" sz="1500">
                <a:solidFill>
                  <a:srgbClr val="4D4E4F"/>
                </a:solidFill>
                <a:cs typeface="Times New Roman"/>
              </a:rPr>
              <a:t>травмы</a:t>
            </a:r>
            <a:r>
              <a:rPr lang="en-US" sz="1500">
                <a:solidFill>
                  <a:srgbClr val="4D4E4F"/>
                </a:solidFill>
                <a:cs typeface="Times New Roman"/>
              </a:rPr>
              <a:t> </a:t>
            </a:r>
            <a:r>
              <a:rPr lang="en-US" sz="1500">
                <a:solidFill>
                  <a:srgbClr val="4D4E4F"/>
                </a:solidFill>
                <a:cs typeface="Times New Roman"/>
              </a:rPr>
              <a:t>от</a:t>
            </a:r>
            <a:r>
              <a:rPr lang="en-US" sz="1500">
                <a:solidFill>
                  <a:srgbClr val="4D4E4F"/>
                </a:solidFill>
                <a:cs typeface="Times New Roman"/>
              </a:rPr>
              <a:t> </a:t>
            </a:r>
            <a:r>
              <a:rPr lang="en-US" sz="1500">
                <a:solidFill>
                  <a:srgbClr val="4D4E4F"/>
                </a:solidFill>
                <a:cs typeface="Times New Roman"/>
              </a:rPr>
              <a:t>падающих</a:t>
            </a:r>
            <a:r>
              <a:rPr lang="en-US" sz="1500">
                <a:solidFill>
                  <a:srgbClr val="4D4E4F"/>
                </a:solidFill>
                <a:cs typeface="Times New Roman"/>
              </a:rPr>
              <a:t> </a:t>
            </a:r>
            <a:r>
              <a:rPr lang="en-US" sz="1500">
                <a:solidFill>
                  <a:srgbClr val="4D4E4F"/>
                </a:solidFill>
                <a:cs typeface="Times New Roman"/>
              </a:rPr>
              <a:t>конструкций</a:t>
            </a:r>
            <a:r>
              <a:rPr lang="en-US" sz="1500">
                <a:solidFill>
                  <a:srgbClr val="4D4E4F"/>
                </a:solidFill>
                <a:cs typeface="Times New Roman"/>
              </a:rPr>
              <a:t>, </a:t>
            </a:r>
            <a:r>
              <a:rPr lang="en-US" sz="1500">
                <a:solidFill>
                  <a:srgbClr val="4D4E4F"/>
                </a:solidFill>
                <a:cs typeface="Times New Roman"/>
              </a:rPr>
              <a:t>осколков</a:t>
            </a:r>
            <a:r>
              <a:rPr lang="en-US" sz="1500">
                <a:solidFill>
                  <a:srgbClr val="4D4E4F"/>
                </a:solidFill>
                <a:cs typeface="Times New Roman"/>
              </a:rPr>
              <a:t> </a:t>
            </a:r>
            <a:r>
              <a:rPr lang="en-US" sz="1500">
                <a:solidFill>
                  <a:srgbClr val="4D4E4F"/>
                </a:solidFill>
                <a:cs typeface="Times New Roman"/>
              </a:rPr>
              <a:t>стекла</a:t>
            </a:r>
            <a:r>
              <a:rPr lang="en-US" sz="1500">
                <a:solidFill>
                  <a:srgbClr val="4D4E4F"/>
                </a:solidFill>
                <a:cs typeface="Times New Roman"/>
              </a:rPr>
              <a:t> </a:t>
            </a:r>
            <a:r>
              <a:rPr lang="en-US" sz="1500">
                <a:solidFill>
                  <a:srgbClr val="4D4E4F"/>
                </a:solidFill>
                <a:cs typeface="Times New Roman"/>
              </a:rPr>
              <a:t>и</a:t>
            </a:r>
            <a:r>
              <a:rPr lang="en-US" sz="1500">
                <a:solidFill>
                  <a:srgbClr val="4D4E4F"/>
                </a:solidFill>
                <a:cs typeface="Times New Roman"/>
              </a:rPr>
              <a:t> </a:t>
            </a:r>
            <a:r>
              <a:rPr lang="en-US" sz="1500">
                <a:solidFill>
                  <a:srgbClr val="4D4E4F"/>
                </a:solidFill>
                <a:cs typeface="Times New Roman"/>
              </a:rPr>
              <a:t>обрушения</a:t>
            </a:r>
            <a:r>
              <a:rPr lang="en-US" sz="1500">
                <a:solidFill>
                  <a:srgbClr val="4D4E4F"/>
                </a:solidFill>
                <a:cs typeface="Times New Roman"/>
              </a:rPr>
              <a:t> </a:t>
            </a:r>
            <a:r>
              <a:rPr lang="en-US" sz="1500">
                <a:solidFill>
                  <a:srgbClr val="4D4E4F"/>
                </a:solidFill>
                <a:cs typeface="Times New Roman"/>
              </a:rPr>
              <a:t>кровли</a:t>
            </a:r>
            <a:r>
              <a:rPr lang="en-US" sz="1500">
                <a:solidFill>
                  <a:srgbClr val="4D4E4F"/>
                </a:solidFill>
                <a:cs typeface="Times New Roman"/>
              </a:rPr>
              <a:t>;</a:t>
            </a:r>
            <a:endParaRPr/>
          </a:p>
          <a:p>
            <a:pPr marL="285750" indent="-285750" algn="l">
              <a:buSzTx/>
              <a:buFont typeface="Arial"/>
              <a:buChar char="•"/>
              <a:defRPr/>
            </a:pPr>
            <a:r>
              <a:rPr lang="en-US" sz="1500">
                <a:solidFill>
                  <a:srgbClr val="4D4E4F"/>
                </a:solidFill>
                <a:cs typeface="Times New Roman"/>
              </a:rPr>
              <a:t>ушибы</a:t>
            </a:r>
            <a:r>
              <a:rPr lang="en-US" sz="1500">
                <a:solidFill>
                  <a:srgbClr val="4D4E4F"/>
                </a:solidFill>
                <a:cs typeface="Times New Roman"/>
              </a:rPr>
              <a:t> </a:t>
            </a:r>
            <a:r>
              <a:rPr lang="en-US" sz="1500">
                <a:solidFill>
                  <a:srgbClr val="4D4E4F"/>
                </a:solidFill>
                <a:cs typeface="Times New Roman"/>
              </a:rPr>
              <a:t>и</a:t>
            </a:r>
            <a:r>
              <a:rPr lang="en-US" sz="1500">
                <a:solidFill>
                  <a:srgbClr val="4D4E4F"/>
                </a:solidFill>
                <a:cs typeface="Times New Roman"/>
              </a:rPr>
              <a:t> </a:t>
            </a:r>
            <a:r>
              <a:rPr lang="en-US" sz="1500">
                <a:solidFill>
                  <a:srgbClr val="4D4E4F"/>
                </a:solidFill>
                <a:cs typeface="Times New Roman"/>
              </a:rPr>
              <a:t>переломы</a:t>
            </a:r>
            <a:r>
              <a:rPr lang="en-US" sz="1500">
                <a:solidFill>
                  <a:srgbClr val="4D4E4F"/>
                </a:solidFill>
                <a:cs typeface="Times New Roman"/>
              </a:rPr>
              <a:t> </a:t>
            </a:r>
            <a:r>
              <a:rPr lang="en-US" sz="1500">
                <a:solidFill>
                  <a:srgbClr val="4D4E4F"/>
                </a:solidFill>
                <a:cs typeface="Times New Roman"/>
              </a:rPr>
              <a:t>при</a:t>
            </a:r>
            <a:r>
              <a:rPr lang="en-US" sz="1500">
                <a:solidFill>
                  <a:srgbClr val="4D4E4F"/>
                </a:solidFill>
                <a:cs typeface="Times New Roman"/>
              </a:rPr>
              <a:t> </a:t>
            </a:r>
            <a:r>
              <a:rPr lang="en-US" sz="1500">
                <a:solidFill>
                  <a:srgbClr val="4D4E4F"/>
                </a:solidFill>
                <a:cs typeface="Times New Roman"/>
              </a:rPr>
              <a:t>падении</a:t>
            </a:r>
            <a:r>
              <a:rPr lang="en-US" sz="1500">
                <a:solidFill>
                  <a:srgbClr val="4D4E4F"/>
                </a:solidFill>
                <a:cs typeface="Times New Roman"/>
              </a:rPr>
              <a:t> </a:t>
            </a:r>
            <a:r>
              <a:rPr lang="en-US" sz="1500">
                <a:solidFill>
                  <a:srgbClr val="4D4E4F"/>
                </a:solidFill>
                <a:cs typeface="Times New Roman"/>
              </a:rPr>
              <a:t>мебели</a:t>
            </a:r>
            <a:r>
              <a:rPr lang="en-US" sz="1500">
                <a:solidFill>
                  <a:srgbClr val="4D4E4F"/>
                </a:solidFill>
                <a:cs typeface="Times New Roman"/>
              </a:rPr>
              <a:t> </a:t>
            </a:r>
            <a:r>
              <a:rPr lang="en-US" sz="1500">
                <a:solidFill>
                  <a:srgbClr val="4D4E4F"/>
                </a:solidFill>
                <a:cs typeface="Times New Roman"/>
              </a:rPr>
              <a:t>и</a:t>
            </a:r>
            <a:r>
              <a:rPr lang="en-US" sz="1500">
                <a:solidFill>
                  <a:srgbClr val="4D4E4F"/>
                </a:solidFill>
                <a:cs typeface="Times New Roman"/>
              </a:rPr>
              <a:t> </a:t>
            </a:r>
            <a:r>
              <a:rPr lang="en-US" sz="1500">
                <a:solidFill>
                  <a:srgbClr val="4D4E4F"/>
                </a:solidFill>
                <a:cs typeface="Times New Roman"/>
              </a:rPr>
              <a:t>оборудования</a:t>
            </a:r>
            <a:r>
              <a:rPr lang="en-US" sz="1500">
                <a:solidFill>
                  <a:srgbClr val="4D4E4F"/>
                </a:solidFill>
                <a:cs typeface="Times New Roman"/>
              </a:rPr>
              <a:t> </a:t>
            </a:r>
            <a:r>
              <a:rPr lang="en-US" sz="1500">
                <a:solidFill>
                  <a:srgbClr val="4D4E4F"/>
                </a:solidFill>
                <a:cs typeface="Times New Roman"/>
              </a:rPr>
              <a:t>внутри</a:t>
            </a:r>
            <a:r>
              <a:rPr lang="en-US" sz="1500">
                <a:solidFill>
                  <a:srgbClr val="4D4E4F"/>
                </a:solidFill>
                <a:cs typeface="Times New Roman"/>
              </a:rPr>
              <a:t> </a:t>
            </a:r>
            <a:r>
              <a:rPr lang="en-US" sz="1500">
                <a:solidFill>
                  <a:srgbClr val="4D4E4F"/>
                </a:solidFill>
                <a:cs typeface="Times New Roman"/>
              </a:rPr>
              <a:t>помещений</a:t>
            </a:r>
            <a:r>
              <a:rPr lang="en-US" sz="1500">
                <a:solidFill>
                  <a:srgbClr val="4D4E4F"/>
                </a:solidFill>
                <a:cs typeface="Times New Roman"/>
              </a:rPr>
              <a:t>.</a:t>
            </a:r>
            <a:endParaRPr/>
          </a:p>
          <a:p>
            <a:pPr>
              <a:defRPr/>
            </a:pPr>
            <a:endParaRPr lang="en-US" sz="1500">
              <a:solidFill>
                <a:srgbClr val="4D4E4F"/>
              </a:solidFill>
              <a:cs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med" p14:dur="1000" advClick="1">
        <p:fade thruBlk="0"/>
      </p:transition>
    </mc:Choice>
    <mc:Fallback>
      <p:transition spd="med" advClick="1">
        <p:fade thruBlk="0"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06991349" name="Google Shape;34;p6"/>
          <p:cNvSpPr txBox="1">
            <a:spLocks noGrp="1"/>
          </p:cNvSpPr>
          <p:nvPr>
            <p:ph type="title"/>
          </p:nvPr>
        </p:nvSpPr>
        <p:spPr bwMode="auto">
          <a:xfrm>
            <a:off x="442927" y="337700"/>
            <a:ext cx="6256200" cy="440700"/>
          </a:xfrm>
          <a:prstGeom prst="rect">
            <a:avLst/>
          </a:prstGeom>
        </p:spPr>
        <p:txBody>
          <a:bodyPr spcFirstLastPara="1" wrap="square" lIns="19025" tIns="19025" rIns="19025" bIns="190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/>
              <a:t>Инженерно-технические мероприятия: </a:t>
            </a:r>
            <a:endParaRPr/>
          </a:p>
        </p:txBody>
      </p:sp>
      <p:sp>
        <p:nvSpPr>
          <p:cNvPr id="350327286" name="Google Shape;35;p6"/>
          <p:cNvSpPr txBox="1">
            <a:spLocks noGrp="1"/>
          </p:cNvSpPr>
          <p:nvPr>
            <p:ph type="sldNum" idx="12"/>
          </p:nvPr>
        </p:nvSpPr>
        <p:spPr bwMode="auto">
          <a:xfrm>
            <a:off x="8704250" y="4816581"/>
            <a:ext cx="206100" cy="145500"/>
          </a:xfrm>
          <a:prstGeom prst="rect">
            <a:avLst/>
          </a:prstGeom>
        </p:spPr>
        <p:txBody>
          <a:bodyPr spcFirstLastPara="1" wrap="square" lIns="19025" tIns="19025" rIns="19025" bIns="190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4D4E4F"/>
              </a:buClr>
              <a:buSzPts val="1100"/>
              <a:buFont typeface="Arial"/>
              <a:buNone/>
              <a:defRPr/>
            </a:pPr>
            <a:fld id="{00000000-1234-1234-1234-123412341234}" type="slidenum">
              <a:rPr lang="en-US"/>
              <a:t>15</a:t>
            </a:fld>
            <a:endParaRPr sz="1400">
              <a:solidFill>
                <a:srgbClr val="000000"/>
              </a:solidFill>
            </a:endParaRPr>
          </a:p>
        </p:txBody>
      </p:sp>
      <p:sp>
        <p:nvSpPr>
          <p:cNvPr id="2120742703" name="TextBox 1"/>
          <p:cNvSpPr txBox="1"/>
          <p:nvPr/>
        </p:nvSpPr>
        <p:spPr bwMode="auto">
          <a:xfrm>
            <a:off x="420131" y="756236"/>
            <a:ext cx="6562459" cy="452431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/>
            <a:spAutoFit/>
          </a:bodyPr>
          <a:lstStyle/>
          <a:p>
            <a:pPr>
              <a:defRPr/>
            </a:pPr>
            <a:r>
              <a:rPr lang="ru-RU" sz="1600" b="1">
                <a:solidFill>
                  <a:srgbClr val="2C2C36"/>
                </a:solidFill>
              </a:rPr>
              <a:t>Для защиты от землетрясения 7 баллов требуется усиление конструкций</a:t>
            </a:r>
            <a:r>
              <a:rPr lang="ru-RU" sz="1600">
                <a:solidFill>
                  <a:srgbClr val="2C2C36"/>
                </a:solidFill>
              </a:rPr>
              <a:t>: </a:t>
            </a:r>
            <a:endParaRPr lang="ru-RU" sz="1600"/>
          </a:p>
          <a:p>
            <a:pPr>
              <a:defRPr/>
            </a:pPr>
            <a:r>
              <a:rPr lang="ru-RU" sz="1600">
                <a:solidFill>
                  <a:srgbClr val="2C2C36"/>
                </a:solidFill>
              </a:rPr>
              <a:t>в кирпичных зданиях — железобетонные </a:t>
            </a:r>
            <a:r>
              <a:rPr lang="ru-RU" sz="1600">
                <a:solidFill>
                  <a:srgbClr val="2C2C36"/>
                </a:solidFill>
              </a:rPr>
              <a:t>сейсмопояса</a:t>
            </a:r>
            <a:r>
              <a:rPr lang="ru-RU" sz="1600">
                <a:solidFill>
                  <a:srgbClr val="2C2C36"/>
                </a:solidFill>
              </a:rPr>
              <a:t> и армирование кладки, </a:t>
            </a:r>
            <a:endParaRPr lang="ru-RU" sz="1600"/>
          </a:p>
          <a:p>
            <a:pPr>
              <a:defRPr/>
            </a:pPr>
            <a:r>
              <a:rPr lang="ru-RU" sz="1600">
                <a:solidFill>
                  <a:srgbClr val="2C2C36"/>
                </a:solidFill>
              </a:rPr>
              <a:t>в железобетонных — диафрагмы жёсткости и усиленные узлы; между корпусами — сейсмические швы.</a:t>
            </a:r>
            <a:endParaRPr lang="ru-RU" sz="1600"/>
          </a:p>
          <a:p>
            <a:pPr>
              <a:defRPr/>
            </a:pPr>
            <a:r>
              <a:rPr lang="ru-RU" sz="1600" b="1">
                <a:solidFill>
                  <a:srgbClr val="2C2C36"/>
                </a:solidFill>
              </a:rPr>
              <a:t>Аппаратура связи крепится сейсмостойкими стойками</a:t>
            </a:r>
            <a:r>
              <a:rPr lang="ru-RU" sz="1600">
                <a:solidFill>
                  <a:srgbClr val="2C2C36"/>
                </a:solidFill>
              </a:rPr>
              <a:t>, устанавливается на виброизолирующие опоры, кабельные вводы — гибкие.</a:t>
            </a:r>
            <a:endParaRPr lang="ru-RU" sz="1600"/>
          </a:p>
          <a:p>
            <a:pPr>
              <a:defRPr/>
            </a:pPr>
            <a:r>
              <a:rPr lang="ru-RU" sz="1600" b="1">
                <a:solidFill>
                  <a:srgbClr val="2C2C36"/>
                </a:solidFill>
              </a:rPr>
              <a:t>При избыточном давлении ударной волны &gt;30 кПа усиливаются ограждающие конструкции</a:t>
            </a:r>
            <a:r>
              <a:rPr lang="ru-RU" sz="1600">
                <a:solidFill>
                  <a:srgbClr val="2C2C36"/>
                </a:solidFill>
              </a:rPr>
              <a:t>: противоударные окна, бронированные двери, противовзрывные экраны.</a:t>
            </a:r>
            <a:endParaRPr lang="ru-RU" sz="1600"/>
          </a:p>
          <a:p>
            <a:pPr>
              <a:defRPr/>
            </a:pPr>
            <a:r>
              <a:rPr lang="ru-RU" sz="1600" b="1">
                <a:solidFill>
                  <a:srgbClr val="2C2C36"/>
                </a:solidFill>
              </a:rPr>
              <a:t>Против светового излучения</a:t>
            </a:r>
            <a:r>
              <a:rPr lang="ru-RU" sz="1600">
                <a:solidFill>
                  <a:srgbClr val="2C2C36"/>
                </a:solidFill>
              </a:rPr>
              <a:t>— огнезащитная пропитка, теплоотражающие экраны, противопожарные разрывы, термоизоляция оборудования.</a:t>
            </a:r>
            <a:endParaRPr lang="ru-RU" sz="1600"/>
          </a:p>
          <a:p>
            <a:pPr>
              <a:defRPr/>
            </a:pPr>
            <a:r>
              <a:rPr lang="ru-RU" sz="1600" b="1">
                <a:solidFill>
                  <a:srgbClr val="2C2C36"/>
                </a:solidFill>
              </a:rPr>
              <a:t>Персонал и жители обеспечиваются</a:t>
            </a:r>
            <a:r>
              <a:rPr lang="ru-RU" sz="1600">
                <a:solidFill>
                  <a:srgbClr val="2C2C36"/>
                </a:solidFill>
              </a:rPr>
              <a:t> убежищами с </a:t>
            </a:r>
            <a:r>
              <a:rPr lang="ru-RU" sz="1600">
                <a:solidFill>
                  <a:srgbClr val="2C2C36"/>
                </a:solidFill>
              </a:rPr>
              <a:t>фильтровентиляцией</a:t>
            </a:r>
            <a:r>
              <a:rPr lang="ru-RU" sz="1600">
                <a:solidFill>
                  <a:srgbClr val="2C2C36"/>
                </a:solidFill>
              </a:rPr>
              <a:t> и запасами средств защиты.</a:t>
            </a:r>
            <a:endParaRPr/>
          </a:p>
          <a:p>
            <a:pPr>
              <a:defRPr/>
            </a:pPr>
            <a:endParaRPr lang="ru-RU" sz="16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med" p14:dur="1000" advClick="1">
        <p:fade thruBlk="0"/>
      </p:transition>
    </mc:Choice>
    <mc:Fallback>
      <p:transition spd="med" advClick="1">
        <p:fade thruBlk="0"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06592483" name="Google Shape;34;p6"/>
          <p:cNvSpPr txBox="1">
            <a:spLocks noGrp="1"/>
          </p:cNvSpPr>
          <p:nvPr>
            <p:ph type="title"/>
          </p:nvPr>
        </p:nvSpPr>
        <p:spPr bwMode="auto">
          <a:xfrm>
            <a:off x="442927" y="337700"/>
            <a:ext cx="6256200" cy="440700"/>
          </a:xfrm>
          <a:prstGeom prst="rect">
            <a:avLst/>
          </a:prstGeom>
        </p:spPr>
        <p:txBody>
          <a:bodyPr spcFirstLastPara="1" wrap="square" lIns="19025" tIns="19025" rIns="19025" bIns="190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/>
              <a:t>Литература </a:t>
            </a:r>
            <a:endParaRPr/>
          </a:p>
        </p:txBody>
      </p:sp>
      <p:sp>
        <p:nvSpPr>
          <p:cNvPr id="164054084" name="Google Shape;35;p6"/>
          <p:cNvSpPr txBox="1">
            <a:spLocks noGrp="1"/>
          </p:cNvSpPr>
          <p:nvPr>
            <p:ph type="sldNum" idx="12"/>
          </p:nvPr>
        </p:nvSpPr>
        <p:spPr bwMode="auto">
          <a:xfrm>
            <a:off x="8704250" y="4816581"/>
            <a:ext cx="206100" cy="145500"/>
          </a:xfrm>
          <a:prstGeom prst="rect">
            <a:avLst/>
          </a:prstGeom>
        </p:spPr>
        <p:txBody>
          <a:bodyPr spcFirstLastPara="1" wrap="square" lIns="19025" tIns="19025" rIns="19025" bIns="190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4D4E4F"/>
              </a:buClr>
              <a:buSzPts val="1100"/>
              <a:buFont typeface="Arial"/>
              <a:buNone/>
              <a:defRPr/>
            </a:pPr>
            <a:fld id="{00000000-1234-1234-1234-123412341234}" type="slidenum">
              <a:rPr lang="en-US"/>
              <a:t>16</a:t>
            </a:fld>
            <a:endParaRPr sz="1400">
              <a:solidFill>
                <a:srgbClr val="000000"/>
              </a:solidFill>
            </a:endParaRPr>
          </a:p>
        </p:txBody>
      </p:sp>
      <p:sp>
        <p:nvSpPr>
          <p:cNvPr id="403289603" name="Прямоугольник 1"/>
          <p:cNvSpPr/>
          <p:nvPr/>
        </p:nvSpPr>
        <p:spPr bwMode="auto">
          <a:xfrm>
            <a:off x="347072" y="1012987"/>
            <a:ext cx="8563278" cy="353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7200">
              <a:defRPr/>
            </a:pPr>
            <a:r>
              <a:rPr lang="ru-RU" sz="1600">
                <a:latin typeface="Times New Roman"/>
              </a:rPr>
              <a:t>1. Воздвиженский Ю. М., Панихидников С. А. Безопасность жизнедеятельности на</a:t>
            </a:r>
            <a:br>
              <a:rPr lang="ru-RU" sz="1600">
                <a:latin typeface="Times New Roman"/>
              </a:rPr>
            </a:br>
            <a:r>
              <a:rPr lang="ru-RU" sz="1600">
                <a:latin typeface="Times New Roman"/>
              </a:rPr>
              <a:t>предприятиях связи в условиях чрезвычайных ситуациях / СПбГУТ. – СПб., 2013.</a:t>
            </a:r>
            <a:endParaRPr/>
          </a:p>
          <a:p>
            <a:pPr indent="457200">
              <a:defRPr/>
            </a:pPr>
            <a:r>
              <a:rPr lang="ru-RU" sz="1600">
                <a:latin typeface="Times New Roman"/>
              </a:rPr>
              <a:t>2. Воздвиженский Ю.М. Методические рекомендации для практических занятий и</a:t>
            </a:r>
            <a:br>
              <a:rPr lang="ru-RU" sz="1600">
                <a:latin typeface="Times New Roman"/>
              </a:rPr>
            </a:br>
            <a:r>
              <a:rPr lang="ru-RU" sz="1600">
                <a:latin typeface="Times New Roman"/>
              </a:rPr>
              <a:t>задания для студентов всех направлений (специальностей) по оценке устойчивости</a:t>
            </a:r>
            <a:br>
              <a:rPr lang="ru-RU" sz="1600">
                <a:latin typeface="Times New Roman"/>
              </a:rPr>
            </a:br>
            <a:r>
              <a:rPr lang="ru-RU" sz="1600">
                <a:latin typeface="Times New Roman"/>
              </a:rPr>
              <a:t>функционирования объектов связи в чрезвычайных ситуациях/Ю. М. Воздвиженский, В. А.</a:t>
            </a:r>
            <a:br>
              <a:rPr lang="ru-RU" sz="1600">
                <a:latin typeface="Times New Roman"/>
              </a:rPr>
            </a:br>
            <a:r>
              <a:rPr lang="ru-RU" sz="1600">
                <a:latin typeface="Times New Roman"/>
              </a:rPr>
              <a:t>Феоктистов, В. К. Иванов. СПбГУТ, – СПб., 2014.</a:t>
            </a:r>
            <a:endParaRPr/>
          </a:p>
          <a:p>
            <a:pPr indent="457200">
              <a:defRPr/>
            </a:pPr>
            <a:r>
              <a:rPr lang="ru-RU" sz="1600">
                <a:latin typeface="Times New Roman"/>
              </a:rPr>
              <a:t>3. Воздвиженский Ю. М. Безопасность жизнедеятельности на предприятиях связи /</a:t>
            </a:r>
            <a:br>
              <a:rPr lang="ru-RU" sz="1600">
                <a:latin typeface="Times New Roman"/>
              </a:rPr>
            </a:br>
            <a:r>
              <a:rPr lang="ru-RU" sz="1600">
                <a:latin typeface="Times New Roman"/>
              </a:rPr>
              <a:t>Ю.М. Воздвиженский, Н. Н Короткова, Е. Н. Костромина, С.А. Овчинников, Г. Н. </a:t>
            </a:r>
            <a:r>
              <a:rPr lang="ru-RU" sz="1600">
                <a:latin typeface="Times New Roman"/>
              </a:rPr>
              <a:t>Бучин</a:t>
            </a:r>
            <a:r>
              <a:rPr lang="ru-RU" sz="1600">
                <a:latin typeface="Times New Roman"/>
              </a:rPr>
              <a:t>.</a:t>
            </a:r>
            <a:br>
              <a:rPr lang="ru-RU" sz="1600">
                <a:latin typeface="Times New Roman"/>
              </a:rPr>
            </a:br>
            <a:r>
              <a:rPr lang="ru-RU" sz="1600">
                <a:latin typeface="Times New Roman"/>
              </a:rPr>
              <a:t>СПбГУТ, – СПб., 2009.</a:t>
            </a:r>
            <a:endParaRPr/>
          </a:p>
          <a:p>
            <a:pPr indent="457200">
              <a:defRPr/>
            </a:pPr>
            <a:r>
              <a:rPr lang="ru-RU" sz="1600">
                <a:latin typeface="Times New Roman"/>
              </a:rPr>
              <a:t>4. Воздвиженский Ю. М., Короткова Н.А. Безопасность жизнедеятельности. Некоторые</a:t>
            </a:r>
            <a:br>
              <a:rPr lang="ru-RU" sz="1600">
                <a:latin typeface="Times New Roman"/>
              </a:rPr>
            </a:br>
            <a:r>
              <a:rPr lang="ru-RU" sz="1600">
                <a:latin typeface="Times New Roman"/>
              </a:rPr>
              <a:t>аспекты психологии поведения человека в чрезвычайных ситуациях./ СПбГУТ. –СПб., 2005.</a:t>
            </a:r>
            <a:endParaRPr/>
          </a:p>
          <a:p>
            <a:pPr indent="457200">
              <a:defRPr/>
            </a:pPr>
            <a:r>
              <a:rPr lang="ru-RU" sz="1600">
                <a:latin typeface="Times New Roman"/>
              </a:rPr>
              <a:t>5. Нормы радиационной безопасности (НРБ-99): Гигиенические нормативы. – М.: Центр санитарно-эпидемиологического нормирования, гигиенической сертификации и экспертизы Минздрава России, 1999. – 116 с. 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med" p14:dur="1000" advClick="1">
        <p:fade thruBlk="0"/>
      </p:transition>
    </mc:Choice>
    <mc:Fallback>
      <p:transition spd="med" advClick="1">
        <p:fade thruBlk="0"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43005935" name="Google Shape;27;p5"/>
          <p:cNvSpPr txBox="1">
            <a:spLocks noGrp="1"/>
          </p:cNvSpPr>
          <p:nvPr>
            <p:ph type="title"/>
          </p:nvPr>
        </p:nvSpPr>
        <p:spPr bwMode="auto">
          <a:xfrm>
            <a:off x="410014" y="1383029"/>
            <a:ext cx="5631300" cy="1307400"/>
          </a:xfrm>
          <a:prstGeom prst="rect">
            <a:avLst/>
          </a:prstGeom>
        </p:spPr>
        <p:txBody>
          <a:bodyPr spcFirstLastPara="1" wrap="square" lIns="19025" tIns="19025" rIns="19025" bIns="190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ru-RU" sz="4000" b="1"/>
              <a:t>Спасибо за внимание</a:t>
            </a:r>
            <a:endParaRPr sz="4000"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4000" b="1"/>
          </a:p>
        </p:txBody>
      </p:sp>
      <p:sp>
        <p:nvSpPr>
          <p:cNvPr id="301411122" name="Google Shape;28;p5"/>
          <p:cNvSpPr txBox="1">
            <a:spLocks noGrp="1"/>
          </p:cNvSpPr>
          <p:nvPr>
            <p:ph type="body" idx="1"/>
          </p:nvPr>
        </p:nvSpPr>
        <p:spPr bwMode="auto">
          <a:xfrm>
            <a:off x="293279" y="4175344"/>
            <a:ext cx="7810500" cy="446400"/>
          </a:xfrm>
          <a:prstGeom prst="rect">
            <a:avLst/>
          </a:prstGeom>
        </p:spPr>
        <p:txBody>
          <a:bodyPr spcFirstLastPara="1" wrap="square" lIns="19025" tIns="19025" rIns="19025" bIns="190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ru-RU" sz="2200"/>
              <a:t>вчера</a:t>
            </a:r>
            <a:endParaRPr lang="ru-RU" sz="2200"/>
          </a:p>
        </p:txBody>
      </p:sp>
      <p:sp>
        <p:nvSpPr>
          <p:cNvPr id="2100014281" name="Google Shape;29;p5"/>
          <p:cNvSpPr txBox="1">
            <a:spLocks noGrp="1"/>
          </p:cNvSpPr>
          <p:nvPr>
            <p:ph type="sldNum" idx="12"/>
          </p:nvPr>
        </p:nvSpPr>
        <p:spPr bwMode="auto">
          <a:xfrm>
            <a:off x="8709450" y="4822031"/>
            <a:ext cx="206100" cy="145500"/>
          </a:xfrm>
          <a:prstGeom prst="rect">
            <a:avLst/>
          </a:prstGeom>
        </p:spPr>
        <p:txBody>
          <a:bodyPr spcFirstLastPara="1" wrap="square" lIns="19025" tIns="19025" rIns="19025" bIns="190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4D4E4F"/>
              </a:buClr>
              <a:buSzPts val="1100"/>
              <a:buFont typeface="Arial"/>
              <a:buNone/>
              <a:defRPr/>
            </a:pPr>
            <a:fld id="{00000000-1234-1234-1234-123412341234}" type="slidenum">
              <a:rPr lang="en-US"/>
              <a:t>17</a:t>
            </a:fld>
            <a:endParaRPr sz="1400">
              <a:solidFill>
                <a:srgbClr val="000000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med" p14:dur="1000" advClick="1">
        <p:fade thruBlk="0"/>
      </p:transition>
    </mc:Choice>
    <mc:Fallback>
      <p:transition spd="med" advClick="1">
        <p:fade thruBlk="0"/>
      </p:transition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White">
  <a:themeElements>
    <a:clrScheme name="White">
      <a:dk1>
        <a:srgbClr val="5E5E5E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ONLYOFFICE/9.2.0.100</Application>
  <PresentationFormat>On-screen Show (4:3)</PresentationFormat>
  <Paragraphs>0</Paragraphs>
  <Slides>17</Slides>
  <Notes>17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18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Заголовок </dc:title>
  <dc:creator/>
  <cp:lastModifiedBy/>
  <cp:revision>390</cp:revision>
  <dcterms:created xsi:type="dcterms:W3CDTF">2025-11-12T07:27:00Z</dcterms:created>
  <dcterms:modified xsi:type="dcterms:W3CDTF">2025-12-03T08:26:47Z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BE353808599F40A197F462CC795B46B4_12</vt:lpwstr>
  </property>
  <property fmtid="{D5CDD505-2E9C-101B-9397-08002B2CF9AE}" pid="3" name="KSOProductBuildVer">
    <vt:lpwstr>1049-12.2.0.23155</vt:lpwstr>
  </property>
</Properties>
</file>