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howSpecialPlsOnTitleSld="0" strictFirstAndLastChars="0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1692" orient="horz"/>
        <p:guide pos="2878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877243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238357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277140" name="Google Shape;24;gc4718ee165_0_3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841962" name="Google Shape;25;gc4718ee165_0_3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75017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385553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673626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01699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97993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06348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52046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8604773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215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441840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141064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748548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40702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616966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233328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46498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620988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153059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46903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044497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365065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3297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57083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85879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28032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69694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50881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42178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446669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162207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57046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9014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153794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722429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664562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266610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95004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700555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277539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039443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035678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842039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4904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877159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912604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66400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345607" name="Google Shape;24;gc4718ee165_0_3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33207" name="Google Shape;25;gc4718ee165_0_3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range" preserve="0" showMasterPhAnim="0" showMasterSp="0" type="tx" userDrawn="1">
  <p:cSld name="TITLE_AND_BODY">
    <p:bg>
      <p:bgPr shadeToTitle="0">
        <a:gradFill>
          <a:gsLst>
            <a:gs pos="0">
              <a:srgbClr val="F67F00"/>
            </a:gs>
            <a:gs pos="100000">
              <a:srgbClr val="FFAE3B"/>
            </a:gs>
          </a:gsLst>
          <a:lin ang="7465411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9633724" name="Google Shape;12;p2"/>
          <p:cNvPicPr/>
          <p:nvPr/>
        </p:nvPicPr>
        <p:blipFill rotWithShape="1">
          <a:blip r:embed="rId2"/>
          <a:srcRect l="0" t="59" r="0" b="58"/>
          <a:stretch/>
        </p:blipFill>
        <p:spPr bwMode="auto">
          <a:xfrm>
            <a:off x="333137" y="1118462"/>
            <a:ext cx="11934523" cy="44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05495669" name="Google Shape;13;p2"/>
          <p:cNvSpPr txBox="1">
            <a:spLocks noGrp="1"/>
          </p:cNvSpPr>
          <p:nvPr>
            <p:ph type="title"/>
          </p:nvPr>
        </p:nvSpPr>
        <p:spPr bwMode="auto">
          <a:xfrm>
            <a:off x="448925" y="118500"/>
            <a:ext cx="5631300" cy="13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  <a:defRPr sz="4200" b="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93337625" name="Google Shape;14;p2"/>
          <p:cNvSpPr txBox="1">
            <a:spLocks noGrp="1"/>
          </p:cNvSpPr>
          <p:nvPr>
            <p:ph type="body" idx="1"/>
          </p:nvPr>
        </p:nvSpPr>
        <p:spPr bwMode="auto">
          <a:xfrm>
            <a:off x="448922" y="1840706"/>
            <a:ext cx="7810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00377302" name="Google Shape;15;p2" descr="Image"/>
          <p:cNvPicPr/>
          <p:nvPr/>
        </p:nvPicPr>
        <p:blipFill rotWithShape="1">
          <a:blip r:embed="rId3"/>
          <a:stretch/>
        </p:blipFill>
        <p:spPr bwMode="auto">
          <a:xfrm>
            <a:off x="7072071" y="359811"/>
            <a:ext cx="1637378" cy="421928"/>
          </a:xfrm>
          <a:prstGeom prst="rect">
            <a:avLst/>
          </a:prstGeom>
          <a:noFill/>
          <a:ln>
            <a:noFill/>
          </a:ln>
        </p:spPr>
      </p:pic>
      <p:sp>
        <p:nvSpPr>
          <p:cNvPr id="955193427" name="Google Shape;16;p2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" preserve="0" showMasterPhAnim="0" showMasterSp="1" userDrawn="1">
  <p:cSld name="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687263" name="Google Shape;18;p3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1300"/>
              <a:buNone/>
              <a:defRPr sz="2400">
                <a:solidFill>
                  <a:srgbClr val="FF9400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3024973" name="Google Shape;19;p3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302390967" name="Google Shape;20;p3"/>
          <p:cNvSpPr txBox="1">
            <a:spLocks noGrp="1"/>
          </p:cNvSpPr>
          <p:nvPr>
            <p:ph type="body" idx="1"/>
          </p:nvPr>
        </p:nvSpPr>
        <p:spPr bwMode="auto">
          <a:xfrm>
            <a:off x="439845" y="1066280"/>
            <a:ext cx="8264400" cy="3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lvl="0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1pPr>
            <a:lvl2pPr marL="914400" lvl="1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2pPr>
            <a:lvl3pPr marL="1371600" lvl="2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3pPr>
            <a:lvl4pPr marL="1828800" lvl="3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4pPr>
            <a:lvl5pPr marL="2286000" lvl="4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5pPr>
            <a:lvl6pPr marL="2743200" lvl="5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6pPr>
            <a:lvl7pPr marL="3200400" lvl="6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7pPr>
            <a:lvl8pPr marL="3657600" lvl="7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8pPr>
            <a:lvl9pPr marL="4114800" lvl="8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425348" name="Google Shape;22;p4"/>
          <p:cNvSpPr txBox="1">
            <a:spLocks noGrp="1"/>
          </p:cNvSpPr>
          <p:nvPr>
            <p:ph type="sldNum" idx="12"/>
          </p:nvPr>
        </p:nvSpPr>
        <p:spPr bwMode="auto">
          <a:xfrm>
            <a:off x="4363668" y="4321968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25854" name="Rectangle 5"/>
          <p:cNvSpPr>
            <a:spLocks noChangeArrowheads="1" noGrp="1"/>
          </p:cNvSpPr>
          <p:nvPr>
            <p:ph type="sldNum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9498F59-BA0C-47CB-9C3C-0E673DEB4FD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879932" name="Google Shape;6;p1"/>
          <p:cNvPicPr/>
          <p:nvPr/>
        </p:nvPicPr>
        <p:blipFill rotWithShape="1">
          <a:blip r:embed="rId6"/>
          <a:srcRect l="0" t="59" r="0" b="58"/>
          <a:stretch/>
        </p:blipFill>
        <p:spPr bwMode="auto">
          <a:xfrm>
            <a:off x="333137" y="1118462"/>
            <a:ext cx="11934523" cy="44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83647924" name="Google Shape;7;p1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150019895" name="Google Shape;8;p1" descr="Image"/>
          <p:cNvPicPr/>
          <p:nvPr/>
        </p:nvPicPr>
        <p:blipFill rotWithShape="1">
          <a:blip r:embed="rId7"/>
          <a:stretch/>
        </p:blipFill>
        <p:spPr bwMode="auto">
          <a:xfrm>
            <a:off x="7068462" y="359810"/>
            <a:ext cx="1635792" cy="421522"/>
          </a:xfrm>
          <a:prstGeom prst="rect">
            <a:avLst/>
          </a:prstGeom>
          <a:noFill/>
          <a:ln>
            <a:noFill/>
          </a:ln>
        </p:spPr>
      </p:pic>
      <p:sp>
        <p:nvSpPr>
          <p:cNvPr id="1995753565" name="Google Shape;9;p1"/>
          <p:cNvSpPr txBox="1">
            <a:spLocks noGrp="1"/>
          </p:cNvSpPr>
          <p:nvPr>
            <p:ph type="body" idx="1"/>
          </p:nvPr>
        </p:nvSpPr>
        <p:spPr bwMode="auto">
          <a:xfrm>
            <a:off x="439845" y="1066280"/>
            <a:ext cx="8264400" cy="3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5pPr>
            <a:lvl6pPr marL="2743200" marR="0" lvl="5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6pPr>
            <a:lvl7pPr marL="3200400" marR="0" lvl="6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7pPr>
            <a:lvl8pPr marL="3657600" marR="0" lvl="7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8pPr>
            <a:lvl9pPr marL="4114800" marR="0" lvl="8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6015426" name="Google Shape;10;p1"/>
          <p:cNvSpPr txBox="1">
            <a:spLocks noGrp="1"/>
          </p:cNvSpPr>
          <p:nvPr>
            <p:ph type="sldNum" idx="12"/>
          </p:nvPr>
        </p:nvSpPr>
        <p:spPr bwMode="auto">
          <a:xfrm>
            <a:off x="174900" y="482203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21831" name="Google Shape;29;p5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92963186" name="Текст 5"/>
          <p:cNvSpPr txBox="1"/>
          <p:nvPr/>
        </p:nvSpPr>
        <p:spPr bwMode="auto">
          <a:xfrm>
            <a:off x="0" y="16990"/>
            <a:ext cx="7144775" cy="4540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2000" b="0">
                <a:solidFill>
                  <a:schemeClr val="bg1"/>
                </a:solidFill>
                <a:latin typeface="+mn-lt"/>
              </a:rPr>
              <a:t>Кафедра</a:t>
            </a:r>
            <a:r>
              <a:rPr lang="ru-RU" sz="2000" b="0">
                <a:solidFill>
                  <a:schemeClr val="bg1"/>
                </a:solidFill>
              </a:rPr>
              <a:t> </a:t>
            </a:r>
            <a:r>
              <a:rPr lang="ru-RU" sz="2000" b="0">
                <a:solidFill>
                  <a:schemeClr val="bg1"/>
                </a:solidFill>
                <a:latin typeface="+mn-lt"/>
              </a:rPr>
              <a:t>экологической безопасности телекоммуникаций </a:t>
            </a:r>
            <a:endParaRPr/>
          </a:p>
        </p:txBody>
      </p:sp>
      <p:sp>
        <p:nvSpPr>
          <p:cNvPr id="434448201" name="Текст 5"/>
          <p:cNvSpPr txBox="1"/>
          <p:nvPr/>
        </p:nvSpPr>
        <p:spPr bwMode="auto">
          <a:xfrm>
            <a:off x="-164823" y="343922"/>
            <a:ext cx="7339013" cy="455613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>
            <a:lvl1pPr>
              <a:spcBef>
                <a:spcPts val="0"/>
              </a:spcBef>
              <a:buClr>
                <a:srgbClr val="DD7E0E"/>
              </a:buClr>
              <a:buSzPct val="80000"/>
              <a:buFont typeface="Wingdings"/>
              <a:buChar char="§"/>
              <a:tabLst>
                <a:tab pos="179070" algn="l"/>
              </a:tabLst>
              <a:defRPr sz="2200">
                <a:solidFill>
                  <a:schemeClr val="tx1"/>
                </a:solidFill>
                <a:latin typeface="Arial"/>
                <a:cs typeface="Arial"/>
              </a:defRPr>
            </a:lvl1pPr>
            <a:lvl2pPr indent="-273050">
              <a:spcBef>
                <a:spcPts val="0"/>
              </a:spcBef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cs typeface="Arial"/>
              </a:defRPr>
            </a:lvl2pPr>
            <a:lvl3pPr indent="-179705">
              <a:spcBef>
                <a:spcPts val="0"/>
              </a:spcBef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cs typeface="Arial"/>
              </a:defRPr>
            </a:lvl3pPr>
            <a:lvl4pPr indent="-179705">
              <a:spcBef>
                <a:spcPts val="0"/>
              </a:spcBef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cs typeface="Arial"/>
              </a:defRPr>
            </a:lvl4pPr>
            <a:lvl5pPr indent="-273050">
              <a:spcBef>
                <a:spcPts val="0"/>
              </a:spcBef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5pPr>
            <a:lvl6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6pPr>
            <a:lvl7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7pPr>
            <a:lvl8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8pPr>
            <a:lvl9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  <a:buSzTx/>
              <a:buFontTx/>
              <a:buNone/>
              <a:defRPr/>
            </a:pPr>
            <a:r>
              <a:rPr lang="ru-RU" sz="2000">
                <a:solidFill>
                  <a:schemeClr val="bg1"/>
                </a:solidFill>
                <a:latin typeface="+mn-lt"/>
                <a:ea typeface="+mn-ea"/>
              </a:rPr>
              <a:t>Дисциплина «Безопасность жизнедеятельности»</a:t>
            </a:r>
            <a:endParaRPr/>
          </a:p>
        </p:txBody>
      </p:sp>
      <p:sp>
        <p:nvSpPr>
          <p:cNvPr id="343544951" name="Текст 5"/>
          <p:cNvSpPr txBox="1"/>
          <p:nvPr/>
        </p:nvSpPr>
        <p:spPr bwMode="auto">
          <a:xfrm>
            <a:off x="238551" y="1036739"/>
            <a:ext cx="8799580" cy="11028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800" b="0">
                <a:solidFill>
                  <a:schemeClr val="bg1"/>
                </a:solidFill>
              </a:rPr>
              <a:t>Тема : </a:t>
            </a:r>
            <a:r>
              <a:rPr lang="en-US" sz="1800" b="0">
                <a:solidFill>
                  <a:schemeClr val="bg1"/>
                </a:solidFill>
              </a:rPr>
              <a:t>Оценка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устойчивости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функционирования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объектов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экономики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endParaRPr/>
          </a:p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en-US" sz="1800" b="0">
                <a:solidFill>
                  <a:schemeClr val="bg1"/>
                </a:solidFill>
              </a:rPr>
              <a:t>безопасности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жизнедеятельности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населения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персонала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в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прогнозируемых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endParaRPr/>
          </a:p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en-US" sz="1800" b="0">
                <a:solidFill>
                  <a:schemeClr val="bg1"/>
                </a:solidFill>
              </a:rPr>
              <a:t>условиях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чрезвычайных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ситуаций</a:t>
            </a:r>
            <a:r>
              <a:rPr lang="en-US" sz="1800" b="0">
                <a:solidFill>
                  <a:schemeClr val="bg1"/>
                </a:solidFill>
              </a:rPr>
              <a:t>: </a:t>
            </a:r>
            <a:r>
              <a:rPr lang="en-US" sz="1800" b="0">
                <a:solidFill>
                  <a:schemeClr val="bg1"/>
                </a:solidFill>
              </a:rPr>
              <a:t>поражающие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факторы</a:t>
            </a:r>
            <a:r>
              <a:rPr lang="en-US" sz="1800" b="0">
                <a:solidFill>
                  <a:schemeClr val="bg1"/>
                </a:solidFill>
              </a:rPr>
              <a:t>, </a:t>
            </a:r>
            <a:r>
              <a:rPr lang="en-US" sz="1800" b="0">
                <a:solidFill>
                  <a:schemeClr val="bg1"/>
                </a:solidFill>
              </a:rPr>
              <a:t>возникающие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при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endParaRPr/>
          </a:p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en-US" sz="1800" b="0">
                <a:solidFill>
                  <a:schemeClr val="bg1"/>
                </a:solidFill>
              </a:rPr>
              <a:t>аварии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на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ru-RU" sz="1800" b="0">
                <a:solidFill>
                  <a:schemeClr val="bg1"/>
                </a:solidFill>
              </a:rPr>
              <a:t>радиоционно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опасном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объекте</a:t>
            </a:r>
            <a:r>
              <a:rPr lang="ru-RU" sz="1800" b="0">
                <a:solidFill>
                  <a:schemeClr val="bg1"/>
                </a:solidFill>
              </a:rPr>
              <a:t>.</a:t>
            </a: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1333805355" name="TextBox 1"/>
          <p:cNvSpPr txBox="1">
            <a:spLocks noChangeArrowheads="1"/>
          </p:cNvSpPr>
          <p:nvPr/>
        </p:nvSpPr>
        <p:spPr bwMode="auto">
          <a:xfrm>
            <a:off x="371752" y="3448721"/>
            <a:ext cx="6805316" cy="1128119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endParaRPr lang="ru-RU">
              <a:solidFill>
                <a:schemeClr val="bg2">
                  <a:lumMod val="50000"/>
                </a:schemeClr>
              </a:solidFill>
            </a:endParaRPr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  <a:cs typeface="Arial"/>
              </a:rPr>
              <a:t>Группа: ИКПИ-23</a:t>
            </a:r>
            <a:endParaRPr/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</a:rPr>
              <a:t>Выполнил: студент Даненко А.А.</a:t>
            </a:r>
            <a:endParaRPr/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  <a:cs typeface="Arial"/>
              </a:rPr>
              <a:t>Преподаватель: к. воен. н., доц. О.Л. Мальцева</a:t>
            </a:r>
            <a:endParaRPr/>
          </a:p>
        </p:txBody>
      </p:sp>
      <p:sp>
        <p:nvSpPr>
          <p:cNvPr id="1511947613" name="Текст 5"/>
          <p:cNvSpPr txBox="1"/>
          <p:nvPr/>
        </p:nvSpPr>
        <p:spPr bwMode="auto">
          <a:xfrm>
            <a:off x="2548038" y="4569388"/>
            <a:ext cx="3532187" cy="4556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400" b="0">
                <a:solidFill>
                  <a:schemeClr val="bg1"/>
                </a:solidFill>
                <a:latin typeface="+mn-lt"/>
              </a:rPr>
              <a:t>Санкт-Петербург 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400" b="0">
                <a:solidFill>
                  <a:schemeClr val="bg1"/>
                </a:solidFill>
                <a:latin typeface="+mn-lt"/>
              </a:rPr>
              <a:t>2025</a:t>
            </a:r>
            <a:endParaRPr lang="ru-RU" sz="1400">
              <a:solidFill>
                <a:schemeClr val="bg1"/>
              </a:solidFill>
              <a:latin typeface="+mn-lt"/>
              <a:cs typeface="Times New Roman"/>
            </a:endParaRPr>
          </a:p>
        </p:txBody>
      </p:sp>
      <p:sp>
        <p:nvSpPr>
          <p:cNvPr id="1611807753" name="Текст 5"/>
          <p:cNvSpPr txBox="1"/>
          <p:nvPr/>
        </p:nvSpPr>
        <p:spPr bwMode="auto">
          <a:xfrm>
            <a:off x="238551" y="2377949"/>
            <a:ext cx="8799580" cy="56548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800" b="0">
                <a:solidFill>
                  <a:schemeClr val="bg1"/>
                </a:solidFill>
              </a:rPr>
              <a:t>Задача 4 : Оценка БЖД людей и устойчивости функционирования объекта в случаях </a:t>
            </a:r>
            <a:r>
              <a:rPr lang="en-US" sz="1800" b="0">
                <a:solidFill>
                  <a:schemeClr val="bg1"/>
                </a:solidFill>
              </a:rPr>
              <a:t>радиоактивного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загрязнения</a:t>
            </a:r>
            <a:r>
              <a:rPr lang="en-US" sz="1800" b="0">
                <a:solidFill>
                  <a:schemeClr val="bg1"/>
                </a:solidFill>
              </a:rPr>
              <a:t> </a:t>
            </a:r>
            <a:r>
              <a:rPr lang="en-US" sz="1800" b="0">
                <a:solidFill>
                  <a:schemeClr val="bg1"/>
                </a:solidFill>
              </a:rPr>
              <a:t>местности</a:t>
            </a:r>
            <a:r>
              <a:rPr lang="ru-RU" sz="1800" b="0">
                <a:solidFill>
                  <a:schemeClr val="bg1"/>
                </a:solidFill>
              </a:rPr>
              <a:t>.</a:t>
            </a:r>
            <a:endParaRPr lang="ru-RU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177861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Содержание </a:t>
            </a:r>
            <a:endParaRPr/>
          </a:p>
        </p:txBody>
      </p:sp>
      <p:sp>
        <p:nvSpPr>
          <p:cNvPr id="1815490472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479681710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9800" y="910163"/>
            <a:ext cx="8264400" cy="37503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Введение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1. Исходные данные для расчета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2. Оценка общей обстановки на объекте связи в случае ЧС</a:t>
            </a:r>
            <a:endParaRPr sz="2000" b="1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3</a:t>
            </a:r>
            <a:r>
              <a:rPr lang="en-US" sz="2000" b="1"/>
              <a:t>. Задачи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4</a:t>
            </a:r>
            <a:r>
              <a:rPr lang="en-US" sz="2000" b="1"/>
              <a:t>. Расчеты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5</a:t>
            </a:r>
            <a:r>
              <a:rPr lang="en-US" sz="2000" b="1"/>
              <a:t>. Результаты расчетов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Выводы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Инженерно-технические мероприятия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Литература </a:t>
            </a:r>
            <a:endParaRPr sz="20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018706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Введение</a:t>
            </a:r>
            <a:endParaRPr/>
          </a:p>
        </p:txBody>
      </p:sp>
      <p:sp>
        <p:nvSpPr>
          <p:cNvPr id="1965571648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3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55479973" name="TextBox 3"/>
          <p:cNvSpPr txBox="1"/>
          <p:nvPr/>
        </p:nvSpPr>
        <p:spPr bwMode="auto">
          <a:xfrm>
            <a:off x="484765" y="816426"/>
            <a:ext cx="8447643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Товарищ преподаватель, главным инженером СУС </a:t>
            </a:r>
            <a:r>
              <a:rPr lang="ru-RU" sz="1800"/>
              <a:t>н.п</a:t>
            </a:r>
            <a:r>
              <a:rPr lang="ru-RU" sz="1800"/>
              <a:t>. Васильковым Андреем Алексеевичем при уяснении задачи и оценки обстановки </a:t>
            </a:r>
            <a:r>
              <a:rPr lang="ru-RU" sz="1800" b="1"/>
              <a:t>варианта №85</a:t>
            </a:r>
            <a:r>
              <a:rPr lang="ru-RU" sz="1800"/>
              <a:t> было выявлено:</a:t>
            </a:r>
            <a:br>
              <a:rPr lang="ru-RU" sz="1800"/>
            </a:br>
            <a:r>
              <a:rPr lang="ru-RU" sz="1800"/>
              <a:t>  В результате аварии на АЭС произошел тепловой взрыв, вызвавший разрушение реактора и радиоактивный выброс с последующим загрязнением местности, в результате которого возможно поражение работников объекта связи и жителей населенного пункта.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 sz="1800"/>
          </a:p>
          <a:p>
            <a:pPr>
              <a:defRPr/>
            </a:pPr>
            <a:r>
              <a:rPr lang="ru-RU" sz="1800"/>
              <a:t> </a:t>
            </a:r>
            <a:r>
              <a:rPr lang="ru-RU" sz="1800"/>
              <a:t>tн</a:t>
            </a:r>
            <a:r>
              <a:rPr lang="ru-RU" sz="1800"/>
              <a:t> = </a:t>
            </a:r>
            <a:r>
              <a:rPr lang="ru-RU" sz="1800" b="1"/>
              <a:t>3 </a:t>
            </a:r>
            <a:r>
              <a:rPr lang="ru-RU" sz="1800"/>
              <a:t>ч;</a:t>
            </a:r>
            <a:endParaRPr/>
          </a:p>
          <a:p>
            <a:pPr>
              <a:defRPr/>
            </a:pPr>
            <a:r>
              <a:rPr lang="ru-RU" sz="1800"/>
              <a:t> </a:t>
            </a:r>
            <a:r>
              <a:rPr lang="ru-RU" sz="1800"/>
              <a:t>tраб</a:t>
            </a:r>
            <a:r>
              <a:rPr lang="ru-RU" sz="1800"/>
              <a:t> = </a:t>
            </a:r>
            <a:r>
              <a:rPr lang="ru-RU" sz="1800" b="1"/>
              <a:t>7 </a:t>
            </a:r>
            <a:r>
              <a:rPr lang="ru-RU" sz="1800"/>
              <a:t>ч;</a:t>
            </a:r>
            <a:endParaRPr/>
          </a:p>
          <a:p>
            <a:pPr>
              <a:defRPr/>
            </a:pPr>
            <a:r>
              <a:rPr lang="ru-RU" sz="1800"/>
              <a:t> </a:t>
            </a:r>
            <a:r>
              <a:rPr lang="ru-RU" sz="1800"/>
              <a:t>Рн</a:t>
            </a:r>
            <a:r>
              <a:rPr lang="ru-RU" sz="1800"/>
              <a:t> = </a:t>
            </a:r>
            <a:r>
              <a:rPr lang="ru-RU" sz="1800" b="1"/>
              <a:t>3 </a:t>
            </a:r>
            <a:r>
              <a:rPr lang="ru-RU" sz="1800"/>
              <a:t>Р/ч;</a:t>
            </a:r>
            <a:endParaRPr/>
          </a:p>
          <a:p>
            <a:pPr>
              <a:defRPr/>
            </a:pPr>
            <a:r>
              <a:rPr lang="ru-RU" sz="1800"/>
              <a:t> </a:t>
            </a:r>
            <a:r>
              <a:rPr lang="ru-RU" sz="1800"/>
              <a:t>Ддоп</a:t>
            </a:r>
            <a:r>
              <a:rPr lang="ru-RU" sz="1800"/>
              <a:t> = </a:t>
            </a:r>
            <a:r>
              <a:rPr lang="ru-RU" sz="1800" b="1"/>
              <a:t>5</a:t>
            </a:r>
            <a:r>
              <a:rPr lang="ru-RU" sz="1800"/>
              <a:t> бэр.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316459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ru-RU"/>
              <a:t>1</a:t>
            </a:r>
            <a:r>
              <a:rPr lang="en-US"/>
              <a:t>. </a:t>
            </a:r>
            <a:r>
              <a:rPr lang="ru-RU"/>
              <a:t>Исходные данные для расчета</a:t>
            </a:r>
            <a:br>
              <a:rPr lang="ru-RU"/>
            </a:br>
            <a:br>
              <a:rPr lang="ru-RU"/>
            </a:br>
            <a:endParaRPr/>
          </a:p>
        </p:txBody>
      </p:sp>
      <p:sp>
        <p:nvSpPr>
          <p:cNvPr id="170334144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4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777336467" name="TextBox 3"/>
          <p:cNvSpPr txBox="1"/>
          <p:nvPr/>
        </p:nvSpPr>
        <p:spPr bwMode="auto">
          <a:xfrm>
            <a:off x="567836" y="1227259"/>
            <a:ext cx="804129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Время начала облучения 𝑡н = </a:t>
            </a:r>
            <a:r>
              <a:rPr lang="ru-RU" sz="1800" b="1"/>
              <a:t>3 </a:t>
            </a:r>
            <a:r>
              <a:rPr lang="ru-RU" sz="1800"/>
              <a:t>ч., время работы персонала составляет 𝑡раб = </a:t>
            </a:r>
            <a:r>
              <a:rPr lang="ru-RU" sz="1800" b="1"/>
              <a:t>7 </a:t>
            </a:r>
            <a:r>
              <a:rPr lang="ru-RU" sz="1800"/>
              <a:t>ч. Уровень радиоактивного излучения на время начала облучения составляет </a:t>
            </a:r>
            <a:r>
              <a:rPr lang="ru-RU" sz="1800"/>
              <a:t>Рнач</a:t>
            </a:r>
            <a:r>
              <a:rPr lang="ru-RU" sz="1800"/>
              <a:t> = </a:t>
            </a:r>
            <a:r>
              <a:rPr lang="ru-RU" sz="1800" b="1"/>
              <a:t>3 </a:t>
            </a:r>
            <a:r>
              <a:rPr lang="ru-RU" sz="1800"/>
              <a:t>Р/ч. </a:t>
            </a:r>
            <a:endParaRPr lang="ru-RU"/>
          </a:p>
          <a:p>
            <a:pPr>
              <a:defRPr/>
            </a:pPr>
            <a:endParaRPr lang="ru-RU" sz="1800"/>
          </a:p>
          <a:p>
            <a:pPr>
              <a:defRPr/>
            </a:pPr>
            <a:r>
              <a:rPr lang="ru-RU" sz="1800"/>
              <a:t>Коэффициент ослабления </a:t>
            </a:r>
            <a:r>
              <a:rPr lang="ru-RU" sz="1800"/>
              <a:t>Косл</a:t>
            </a:r>
            <a:r>
              <a:rPr lang="ru-RU" sz="1800"/>
              <a:t> = </a:t>
            </a:r>
            <a:r>
              <a:rPr lang="ru-RU" sz="1800" b="1"/>
              <a:t>7 </a:t>
            </a:r>
            <a:r>
              <a:rPr lang="ru-RU" sz="1800"/>
              <a:t>раз. Допустимая доза облучения персонала </a:t>
            </a:r>
            <a:r>
              <a:rPr lang="ru-RU" sz="1800"/>
              <a:t>Ддоп</a:t>
            </a:r>
            <a:r>
              <a:rPr lang="ru-RU" sz="1800"/>
              <a:t> = </a:t>
            </a:r>
            <a:r>
              <a:rPr lang="ru-RU" sz="1800" b="1"/>
              <a:t>5 </a:t>
            </a:r>
            <a:r>
              <a:rPr lang="ru-RU" sz="1800"/>
              <a:t>бэр . </a:t>
            </a:r>
            <a:endParaRPr lang="ru-RU"/>
          </a:p>
          <a:p>
            <a:pPr>
              <a:defRPr/>
            </a:pPr>
            <a:endParaRPr lang="ru-RU" sz="1800"/>
          </a:p>
          <a:p>
            <a:pPr>
              <a:defRPr/>
            </a:pPr>
            <a:r>
              <a:rPr lang="ru-RU" sz="1800"/>
              <a:t>Для гамма-излучения 1 рентген (1 р) примерно равен одному раду (1 рад) и одному бэр (1 бэр).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920074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ru-RU"/>
              <a:t>2</a:t>
            </a:r>
            <a:r>
              <a:rPr lang="en-US"/>
              <a:t>. </a:t>
            </a:r>
            <a:r>
              <a:rPr lang="ru-RU"/>
              <a:t>Оценка общей обстановки на объекте СУС в случае ЧС</a:t>
            </a:r>
            <a:br>
              <a:rPr lang="ru-RU"/>
            </a:br>
            <a:br>
              <a:rPr lang="ru-RU"/>
            </a:br>
            <a:br>
              <a:rPr lang="ru-RU"/>
            </a:br>
            <a:endParaRPr/>
          </a:p>
        </p:txBody>
      </p:sp>
      <p:sp>
        <p:nvSpPr>
          <p:cNvPr id="14385585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5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64415950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6672" y="1068331"/>
            <a:ext cx="8264400" cy="314683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1. Методом прогнозирования определили потенциально опасные объекты на территории объекта, </a:t>
            </a:r>
            <a:r>
              <a:rPr lang="ru-RU" b="1" i="1"/>
              <a:t>н.п</a:t>
            </a:r>
            <a:r>
              <a:rPr lang="ru-RU" b="1" i="1"/>
              <a:t>. Перекаты </a:t>
            </a:r>
            <a:r>
              <a:rPr lang="ru-RU"/>
              <a:t>и на территории, прилегающей к объекту. Ими являются: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/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/>
              <a:t>радиоционно опасный</a:t>
            </a:r>
            <a:r>
              <a:rPr lang="en-US"/>
              <a:t> </a:t>
            </a:r>
            <a:r>
              <a:rPr lang="ru-RU"/>
              <a:t>объект</a:t>
            </a:r>
            <a:r>
              <a:rPr lang="en-US"/>
              <a:t>.</a:t>
            </a:r>
            <a:endParaRPr lang="ru-RU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2. В результате ЧС могут возникнуть следующие поражающие факторы: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/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/>
              <a:t>радиоактивный</a:t>
            </a:r>
            <a:r>
              <a:rPr lang="en-US"/>
              <a:t> </a:t>
            </a:r>
            <a:r>
              <a:rPr lang="en-US"/>
              <a:t>выброс</a:t>
            </a:r>
            <a:r>
              <a:rPr lang="en-US"/>
              <a:t> </a:t>
            </a:r>
            <a:r>
              <a:rPr lang="en-US"/>
              <a:t>с</a:t>
            </a:r>
            <a:r>
              <a:rPr lang="en-US"/>
              <a:t> </a:t>
            </a:r>
            <a:r>
              <a:rPr lang="en-US"/>
              <a:t>последующим</a:t>
            </a:r>
            <a:r>
              <a:rPr lang="en-US"/>
              <a:t> </a:t>
            </a:r>
            <a:r>
              <a:rPr lang="en-US"/>
              <a:t>загрязнением</a:t>
            </a:r>
            <a:r>
              <a:rPr lang="ru-RU"/>
              <a:t> </a:t>
            </a:r>
            <a:r>
              <a:rPr lang="en-US"/>
              <a:t>местности</a:t>
            </a:r>
            <a:endParaRPr lang="en-US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229724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3</a:t>
            </a:r>
            <a:r>
              <a:rPr lang="en-US"/>
              <a:t>. Задачи</a:t>
            </a:r>
            <a:endParaRPr/>
          </a:p>
        </p:txBody>
      </p:sp>
      <p:sp>
        <p:nvSpPr>
          <p:cNvPr id="107718515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6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967028499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43865" y="772160"/>
            <a:ext cx="8263890" cy="375031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b="1"/>
              <a:t>Определить:</a:t>
            </a:r>
            <a:endParaRPr/>
          </a:p>
          <a:p>
            <a:pPr marL="0" lvl="0" indent="0" algn="l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2000" b="1"/>
          </a:p>
          <a:p>
            <a:pPr>
              <a:lnSpc>
                <a:spcPct val="120000"/>
              </a:lnSpc>
              <a:spcBef>
                <a:spcPts val="0"/>
              </a:spcBef>
              <a:tabLst>
                <a:tab pos="469265" algn="l"/>
              </a:tabLst>
              <a:defRPr/>
            </a:pPr>
            <a:r>
              <a:rPr lang="ru-RU" sz="1400"/>
              <a:t>Возможную дозу облучения персонала, работающего на открытой территории;</a:t>
            </a:r>
            <a:endParaRPr lang="ru-RU" sz="1400"/>
          </a:p>
          <a:p>
            <a:pPr marR="667385">
              <a:lnSpc>
                <a:spcPct val="120000"/>
              </a:lnSpc>
              <a:spcBef>
                <a:spcPts val="0"/>
              </a:spcBef>
              <a:tabLst>
                <a:tab pos="469900" algn="l"/>
              </a:tabLst>
              <a:defRPr/>
            </a:pPr>
            <a:r>
              <a:rPr lang="ru-RU" sz="1400"/>
              <a:t>Возможную дозу облучения персонала и жителей посёлка, находящихся в помещении или ПРУ с </a:t>
            </a:r>
            <a:r>
              <a:rPr lang="ru-RU" sz="1400" b="1" i="1"/>
              <a:t>K</a:t>
            </a:r>
            <a:r>
              <a:rPr lang="ru-RU" sz="1400" b="1" i="1" baseline="-25000"/>
              <a:t>осл</a:t>
            </a:r>
            <a:r>
              <a:rPr lang="ru-RU" sz="1400" b="1" i="1"/>
              <a:t> = 7</a:t>
            </a:r>
            <a:r>
              <a:rPr lang="ru-RU" sz="1400"/>
              <a:t>;</a:t>
            </a:r>
            <a:endParaRPr lang="ru-RU" sz="1400"/>
          </a:p>
          <a:p>
            <a:pPr>
              <a:lnSpc>
                <a:spcPct val="120000"/>
              </a:lnSpc>
              <a:spcBef>
                <a:spcPts val="0"/>
              </a:spcBef>
              <a:tabLst>
                <a:tab pos="469265" algn="l"/>
              </a:tabLst>
              <a:defRPr/>
            </a:pPr>
            <a:r>
              <a:rPr lang="ru-RU" sz="1400"/>
              <a:t>Допустимое время работы персонала и жителей посёлка на РЗМ;</a:t>
            </a:r>
            <a:endParaRPr lang="ru-RU" sz="1400"/>
          </a:p>
          <a:p>
            <a:pPr marR="52070">
              <a:lnSpc>
                <a:spcPct val="120000"/>
              </a:lnSpc>
              <a:spcBef>
                <a:spcPts val="0"/>
              </a:spcBef>
              <a:tabLst>
                <a:tab pos="469900" algn="l"/>
              </a:tabLst>
              <a:defRPr/>
            </a:pPr>
            <a:r>
              <a:rPr lang="ru-RU" sz="1400"/>
              <a:t>Дозу облучения жителей посёлка за 8 ч. проживания на РЗМ в жилых домах или </a:t>
            </a:r>
            <a:endParaRPr/>
          </a:p>
          <a:p>
            <a:pPr marL="146050" marR="52070" indent="457200">
              <a:lnSpc>
                <a:spcPct val="120000"/>
              </a:lnSpc>
              <a:spcBef>
                <a:spcPts val="0"/>
              </a:spcBef>
              <a:buNone/>
              <a:tabLst>
                <a:tab pos="469900" algn="l"/>
              </a:tabLst>
              <a:defRPr/>
            </a:pPr>
            <a:r>
              <a:rPr lang="ru-RU" sz="1400"/>
              <a:t>ПРУ с </a:t>
            </a:r>
            <a:r>
              <a:rPr lang="ru-RU" sz="1400" b="1" i="1"/>
              <a:t>K </a:t>
            </a:r>
            <a:r>
              <a:rPr lang="ru-RU" sz="1400" b="1" i="1" baseline="-25000"/>
              <a:t>осл</a:t>
            </a:r>
            <a:r>
              <a:rPr lang="ru-RU" sz="1400" b="1" i="1"/>
              <a:t> = 7</a:t>
            </a:r>
            <a:r>
              <a:rPr lang="ru-RU" sz="1400"/>
              <a:t>;</a:t>
            </a:r>
            <a:endParaRPr lang="ru-RU" sz="1400"/>
          </a:p>
          <a:p>
            <a:pPr marR="440690">
              <a:lnSpc>
                <a:spcPct val="120000"/>
              </a:lnSpc>
              <a:spcBef>
                <a:spcPts val="0"/>
              </a:spcBef>
              <a:tabLst>
                <a:tab pos="469900" algn="l"/>
              </a:tabLst>
              <a:defRPr/>
            </a:pPr>
            <a:r>
              <a:rPr lang="ru-RU" sz="1400"/>
              <a:t>Дозу облучения жителей посёлка за двое суток проживания на РЗМ в жилых домах или</a:t>
            </a:r>
            <a:endParaRPr/>
          </a:p>
          <a:p>
            <a:pPr marL="146050" marR="440690" indent="457200">
              <a:lnSpc>
                <a:spcPct val="120000"/>
              </a:lnSpc>
              <a:spcBef>
                <a:spcPts val="0"/>
              </a:spcBef>
              <a:buNone/>
              <a:tabLst>
                <a:tab pos="469900" algn="l"/>
              </a:tabLst>
              <a:defRPr/>
            </a:pPr>
            <a:r>
              <a:rPr lang="ru-RU" sz="1400"/>
              <a:t>ПРУ с  </a:t>
            </a:r>
            <a:r>
              <a:rPr lang="ru-RU" sz="1400" b="1" i="1"/>
              <a:t>K </a:t>
            </a:r>
            <a:r>
              <a:rPr lang="ru-RU" sz="1400" b="1" i="1" baseline="-25000"/>
              <a:t>осл</a:t>
            </a:r>
            <a:r>
              <a:rPr lang="ru-RU" sz="1400" b="1" i="1"/>
              <a:t> = 7</a:t>
            </a:r>
            <a:r>
              <a:rPr lang="ru-RU" sz="1400"/>
              <a:t>;</a:t>
            </a:r>
            <a:endParaRPr lang="ru-RU" sz="1400"/>
          </a:p>
          <a:p>
            <a:pPr marR="5080">
              <a:lnSpc>
                <a:spcPct val="120000"/>
              </a:lnSpc>
              <a:spcBef>
                <a:spcPts val="0"/>
              </a:spcBef>
              <a:tabLst>
                <a:tab pos="469900" algn="l"/>
              </a:tabLst>
              <a:defRPr/>
            </a:pPr>
            <a:r>
              <a:rPr lang="ru-RU" sz="1400"/>
              <a:t>Дозу облучения жителей посёлка за 30 суток проживания на РЗМ в жилых домах с  </a:t>
            </a:r>
            <a:r>
              <a:rPr lang="ru-RU" sz="1400" b="1" i="1"/>
              <a:t>K</a:t>
            </a:r>
            <a:r>
              <a:rPr lang="ru-RU" sz="1400" b="1" i="1" baseline="-25000"/>
              <a:t>осл</a:t>
            </a:r>
            <a:r>
              <a:rPr lang="ru-RU" sz="1400" b="1" i="1"/>
              <a:t> = 7</a:t>
            </a:r>
            <a:r>
              <a:rPr lang="ru-RU" sz="1400"/>
              <a:t>;</a:t>
            </a:r>
            <a:endParaRPr lang="ru-RU" sz="1400"/>
          </a:p>
          <a:p>
            <a:pPr marR="93345">
              <a:lnSpc>
                <a:spcPct val="120000"/>
              </a:lnSpc>
              <a:spcBef>
                <a:spcPts val="0"/>
              </a:spcBef>
              <a:tabLst>
                <a:tab pos="469900" algn="l"/>
              </a:tabLst>
              <a:defRPr/>
            </a:pPr>
            <a:r>
              <a:rPr lang="ru-RU" sz="1400"/>
              <a:t>Пожизненную дозу облучения жителей посёлка в течение 70 лет проживания на РЗМ в жилых домах с  </a:t>
            </a:r>
            <a:r>
              <a:rPr lang="ru-RU" sz="1400" b="1" i="1"/>
              <a:t>K</a:t>
            </a:r>
            <a:r>
              <a:rPr lang="ru-RU" sz="1400" b="1" i="1" baseline="-25000"/>
              <a:t>осл</a:t>
            </a:r>
            <a:r>
              <a:rPr lang="ru-RU" sz="1400" b="1" i="1"/>
              <a:t> = 7.</a:t>
            </a:r>
            <a:endParaRPr lang="ru-RU" sz="1400"/>
          </a:p>
          <a:p>
            <a:pPr marL="0" lvl="0" indent="0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endParaRPr lang="en-US" sz="160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1600"/>
              <a:t>Сделать выводы.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1600"/>
              <a:t>Выработать предложения.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458913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343891889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7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4503611" name="TextBox 1"/>
          <p:cNvSpPr txBox="1"/>
          <p:nvPr/>
        </p:nvSpPr>
        <p:spPr bwMode="auto">
          <a:xfrm>
            <a:off x="512884" y="1062403"/>
            <a:ext cx="826110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 b="1"/>
              <a:t>1. Определение возможной дозы облучения персонала и жителей посёлка, работающих на открытой территории. </a:t>
            </a:r>
            <a:endParaRPr lang="ru-RU" b="1"/>
          </a:p>
          <a:p>
            <a:pPr>
              <a:defRPr/>
            </a:pPr>
            <a:endParaRPr lang="ru-RU" sz="1800"/>
          </a:p>
          <a:p>
            <a:pPr>
              <a:defRPr/>
            </a:pPr>
            <a:r>
              <a:rPr lang="ru-RU" sz="1800"/>
              <a:t>Определение времени окончания облучения персонала и жителей посёлка: </a:t>
            </a:r>
            <a:endParaRPr lang="ru-RU"/>
          </a:p>
          <a:p>
            <a:pPr>
              <a:defRPr/>
            </a:pPr>
            <a:endParaRPr lang="ru-RU" sz="1800"/>
          </a:p>
          <a:p>
            <a:pPr>
              <a:defRPr/>
            </a:pPr>
            <a:endParaRPr lang="ru-RU" sz="1800"/>
          </a:p>
          <a:p>
            <a:pPr>
              <a:defRPr/>
            </a:pPr>
            <a:endParaRPr lang="ru-RU" sz="1800"/>
          </a:p>
          <a:p>
            <a:pPr>
              <a:defRPr/>
            </a:pPr>
            <a:endParaRPr lang="ru-RU" sz="1800"/>
          </a:p>
          <a:p>
            <a:pPr>
              <a:defRPr/>
            </a:pPr>
            <a:r>
              <a:rPr lang="ru-RU" sz="1800"/>
              <a:t>𝑡к = 𝑡н + 𝑡раб = 3 + 7 = 10 часов </a:t>
            </a:r>
            <a:endParaRPr lang="ru-RU"/>
          </a:p>
        </p:txBody>
      </p:sp>
      <p:pic>
        <p:nvPicPr>
          <p:cNvPr id="1190361311" name="Рисунок 2" descr="Изображение выглядит как текст, Шрифт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6081" y="2539701"/>
            <a:ext cx="4033709" cy="882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237095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86777814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8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821543663" name="Рисунок 1" descr="Изображение выглядит как текст, снимок экрана, Шрифт, докумен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0210" y="850881"/>
            <a:ext cx="8124568" cy="3032421"/>
          </a:xfrm>
          <a:prstGeom prst="rect">
            <a:avLst/>
          </a:prstGeom>
        </p:spPr>
      </p:pic>
      <p:pic>
        <p:nvPicPr>
          <p:cNvPr id="2030493918" name="Рисунок 2" descr="Изображение выглядит как гаечный ключ, инструмент, дизайн, типо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4200" y="4071294"/>
            <a:ext cx="733424" cy="476250"/>
          </a:xfrm>
          <a:prstGeom prst="rect">
            <a:avLst/>
          </a:prstGeom>
        </p:spPr>
      </p:pic>
      <p:pic>
        <p:nvPicPr>
          <p:cNvPr id="1025607130" name="Рисунок 4" descr="Изображение выглядит как Шрифт, символ, число, График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67327" y="4056621"/>
            <a:ext cx="901271" cy="490150"/>
          </a:xfrm>
          <a:prstGeom prst="rect">
            <a:avLst/>
          </a:prstGeom>
        </p:spPr>
      </p:pic>
      <p:pic>
        <p:nvPicPr>
          <p:cNvPr id="2016061700" name="Рисунок 5" descr="Изображение выглядит как гаечный ключ, инструмент, дизайн, типо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6477" y="4550118"/>
            <a:ext cx="733424" cy="476250"/>
          </a:xfrm>
          <a:prstGeom prst="rect">
            <a:avLst/>
          </a:prstGeom>
        </p:spPr>
      </p:pic>
      <p:sp>
        <p:nvSpPr>
          <p:cNvPr id="1389601154" name="TextBox 6"/>
          <p:cNvSpPr txBox="1"/>
          <p:nvPr/>
        </p:nvSpPr>
        <p:spPr bwMode="auto">
          <a:xfrm>
            <a:off x="1230312" y="4643436"/>
            <a:ext cx="9822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 b="1"/>
              <a:t>4.65</a:t>
            </a:r>
            <a:r>
              <a:rPr lang="ru-RU"/>
              <a:t> Р/ч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7754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93614529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9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680691468" name="TextBox 1"/>
          <p:cNvSpPr txBox="1"/>
          <p:nvPr/>
        </p:nvSpPr>
        <p:spPr bwMode="auto">
          <a:xfrm>
            <a:off x="376951" y="853100"/>
            <a:ext cx="826317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>
                <a:solidFill>
                  <a:srgbClr val="111827"/>
                </a:solidFill>
              </a:rPr>
              <a:t>1. Определение возможной дозы облучения персонала и жителей посёлка, работающих на открытой территории:</a:t>
            </a:r>
            <a:endParaRPr lang="ru-RU" sz="1800"/>
          </a:p>
          <a:p>
            <a:pPr>
              <a:defRPr/>
            </a:pPr>
            <a:r>
              <a:rPr lang="ru-RU" sz="1800">
                <a:solidFill>
                  <a:srgbClr val="111827"/>
                </a:solidFill>
              </a:rPr>
              <a:t>1.2. Уровень радиоактивного излучения в момент времени t после аварии на АЭС:</a:t>
            </a:r>
            <a:endParaRPr lang="ru-RU" sz="1800"/>
          </a:p>
          <a:p>
            <a:pPr>
              <a:defRPr/>
            </a:pPr>
            <a:endParaRPr lang="ru-RU" sz="1800">
              <a:solidFill>
                <a:srgbClr val="111827"/>
              </a:solidFill>
            </a:endParaRPr>
          </a:p>
          <a:p>
            <a:pPr>
              <a:defRPr/>
            </a:pPr>
            <a:r>
              <a:rPr lang="ru-RU" sz="1800">
                <a:solidFill>
                  <a:srgbClr val="2C2C36"/>
                </a:solidFill>
              </a:rPr>
              <a:t>P1 = 3 × (1/3)^(-0,4) = 4,65 Р/ч</a:t>
            </a:r>
            <a:endParaRPr lang="ru-RU" sz="1800"/>
          </a:p>
          <a:p>
            <a:pPr>
              <a:defRPr/>
            </a:pPr>
            <a:endParaRPr lang="ru-RU" sz="1800">
              <a:solidFill>
                <a:srgbClr val="2C2C36"/>
              </a:solidFill>
            </a:endParaRPr>
          </a:p>
          <a:p>
            <a:pPr>
              <a:defRPr/>
            </a:pPr>
            <a:endParaRPr lang="ru-RU" sz="1800">
              <a:solidFill>
                <a:srgbClr val="2C2C36"/>
              </a:solidFill>
            </a:endParaRPr>
          </a:p>
          <a:p>
            <a:pPr>
              <a:defRPr/>
            </a:pPr>
            <a:r>
              <a:rPr lang="ru-RU" sz="1800">
                <a:solidFill>
                  <a:srgbClr val="111827"/>
                </a:solidFill>
              </a:rPr>
              <a:t>Вывод:</a:t>
            </a:r>
            <a:endParaRPr lang="ru-RU" sz="1800"/>
          </a:p>
          <a:p>
            <a:pPr>
              <a:defRPr/>
            </a:pPr>
            <a:r>
              <a:rPr lang="ru-RU" sz="1800">
                <a:solidFill>
                  <a:srgbClr val="2C2C36"/>
                </a:solidFill>
              </a:rPr>
              <a:t>Так как уровень радиоактивного излучения на 1 час после аварии составляет 4,65 Р/ч, видно, что объект находится в зоне «Опасного загрязнения В» (расстояние от АЭС до объекта до 17,4 км, а ширина до 0,69 км).</a:t>
            </a:r>
            <a:endParaRPr lang="ru-RU" sz="1800"/>
          </a:p>
          <a:p>
            <a:pPr algn="l">
              <a:defRPr/>
            </a:pPr>
            <a:endParaRPr lang="ru-RU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82215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051258748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10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638514038" name="Прямоугольник 3"/>
          <p:cNvSpPr/>
          <p:nvPr/>
        </p:nvSpPr>
        <p:spPr bwMode="auto">
          <a:xfrm>
            <a:off x="156845" y="871855"/>
            <a:ext cx="8753475" cy="3731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46050">
              <a:lnSpc>
                <a:spcPct val="110000"/>
              </a:lnSpc>
              <a:defRPr/>
            </a:pPr>
            <a:r>
              <a:rPr lang="ru-RU" sz="1600" b="1" i="1">
                <a:solidFill>
                  <a:srgbClr val="4D4E4F"/>
                </a:solidFill>
              </a:rPr>
              <a:t>1. </a:t>
            </a:r>
            <a:r>
              <a:rPr lang="en-US" sz="1600" b="1" i="1">
                <a:solidFill>
                  <a:srgbClr val="4D4E4F"/>
                </a:solidFill>
              </a:rPr>
              <a:t>Определение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возможной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дозы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облучения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персонала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и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жителей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посёлка</a:t>
            </a:r>
            <a:r>
              <a:rPr lang="en-US" sz="1600" b="1" i="1">
                <a:solidFill>
                  <a:srgbClr val="4D4E4F"/>
                </a:solidFill>
              </a:rPr>
              <a:t>, </a:t>
            </a:r>
            <a:r>
              <a:rPr lang="en-US" sz="1600" b="1" i="1">
                <a:solidFill>
                  <a:srgbClr val="4D4E4F"/>
                </a:solidFill>
              </a:rPr>
              <a:t>работающих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на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открытой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территории</a:t>
            </a:r>
            <a:r>
              <a:rPr lang="ru-RU" sz="1600" b="1" i="1">
                <a:solidFill>
                  <a:srgbClr val="4D4E4F"/>
                </a:solidFill>
              </a:rPr>
              <a:t>:</a:t>
            </a:r>
            <a:endParaRPr/>
          </a:p>
          <a:p>
            <a:pPr marL="146050">
              <a:lnSpc>
                <a:spcPct val="30000"/>
              </a:lnSpc>
              <a:defRPr/>
            </a:pPr>
            <a:endParaRPr lang="ru-RU" sz="1800" b="1" i="1">
              <a:solidFill>
                <a:srgbClr val="4D4E4F"/>
              </a:solidFill>
            </a:endParaRPr>
          </a:p>
          <a:p>
            <a:pPr marL="146050">
              <a:defRPr/>
            </a:pPr>
            <a:r>
              <a:rPr lang="ru-RU" sz="1600">
                <a:solidFill>
                  <a:srgbClr val="4D4E4F"/>
                </a:solidFill>
              </a:rPr>
              <a:t>1. 2. </a:t>
            </a:r>
            <a:r>
              <a:rPr lang="en-US" sz="1600">
                <a:solidFill>
                  <a:srgbClr val="4D4E4F"/>
                </a:solidFill>
              </a:rPr>
              <a:t>Уровень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радиоактивного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излучения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момент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времени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 i="1">
                <a:solidFill>
                  <a:srgbClr val="4D4E4F"/>
                </a:solidFill>
              </a:rPr>
              <a:t>t </a:t>
            </a:r>
            <a:r>
              <a:rPr lang="en-US" sz="1600">
                <a:solidFill>
                  <a:srgbClr val="4D4E4F"/>
                </a:solidFill>
              </a:rPr>
              <a:t>после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аварии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АЭС</a:t>
            </a:r>
            <a:r>
              <a:rPr lang="en-US" sz="1600">
                <a:solidFill>
                  <a:srgbClr val="4D4E4F"/>
                </a:solidFill>
              </a:rPr>
              <a:t>:</a:t>
            </a:r>
            <a:endParaRPr/>
          </a:p>
          <a:p>
            <a:pPr marL="146050">
              <a:lnSpc>
                <a:spcPct val="60000"/>
              </a:lnSpc>
              <a:defRPr/>
            </a:pPr>
            <a:endParaRPr lang="el-GR" sz="1800">
              <a:solidFill>
                <a:srgbClr val="4D4E4F"/>
              </a:solidFill>
              <a:latin typeface="Cambria Math"/>
            </a:endParaRPr>
          </a:p>
          <a:p>
            <a:pPr marL="146050" algn="l">
              <a:defRPr/>
            </a:pPr>
            <a:endParaRPr lang="en-US" sz="1800" b="1" i="1" baseline="30000">
              <a:solidFill>
                <a:srgbClr val="4D4E4F"/>
              </a:solidFill>
            </a:endParaRPr>
          </a:p>
        </p:txBody>
      </p:sp>
      <p:pic>
        <p:nvPicPr>
          <p:cNvPr id="473598037" name="Изображение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68195" y="1821180"/>
            <a:ext cx="4930775" cy="328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027153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40124099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11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732087740" name="Рисунок 2" descr="Изображение выглядит как текст, снимок экрана, Шриф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4858" y="1039201"/>
            <a:ext cx="8634284" cy="2624889"/>
          </a:xfrm>
          <a:prstGeom prst="rect">
            <a:avLst/>
          </a:prstGeom>
        </p:spPr>
      </p:pic>
      <p:pic>
        <p:nvPicPr>
          <p:cNvPr id="383475272" name="Рисунок 4" descr="Изображение выглядит как текст, Шрифт, белый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34907" y="3655798"/>
            <a:ext cx="2047875" cy="704850"/>
          </a:xfrm>
          <a:prstGeom prst="rect">
            <a:avLst/>
          </a:prstGeom>
        </p:spPr>
      </p:pic>
      <p:sp>
        <p:nvSpPr>
          <p:cNvPr id="715578659" name="TextBox 6"/>
          <p:cNvSpPr txBox="1"/>
          <p:nvPr/>
        </p:nvSpPr>
        <p:spPr bwMode="auto">
          <a:xfrm>
            <a:off x="3313137" y="3728635"/>
            <a:ext cx="12590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= 1.86 Р/ч</a:t>
            </a:r>
            <a:endParaRPr/>
          </a:p>
        </p:txBody>
      </p:sp>
      <p:pic>
        <p:nvPicPr>
          <p:cNvPr id="101738658" name="Рисунок 7" descr="Изображение выглядит как Шрифт, белый, Графика, символ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286000" y="3674076"/>
            <a:ext cx="1065772" cy="490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666583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93521349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311863942" name="Прямоугольник 3"/>
          <p:cNvSpPr/>
          <p:nvPr/>
        </p:nvSpPr>
        <p:spPr bwMode="auto">
          <a:xfrm>
            <a:off x="156845" y="871855"/>
            <a:ext cx="8753475" cy="3731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46050">
              <a:lnSpc>
                <a:spcPct val="110000"/>
              </a:lnSpc>
              <a:defRPr/>
            </a:pPr>
            <a:r>
              <a:rPr lang="ru-RU" sz="1600" b="1" i="1">
                <a:solidFill>
                  <a:srgbClr val="4D4E4F"/>
                </a:solidFill>
              </a:rPr>
              <a:t>1. </a:t>
            </a:r>
            <a:r>
              <a:rPr lang="en-US" sz="1600" b="1" i="1">
                <a:solidFill>
                  <a:srgbClr val="4D4E4F"/>
                </a:solidFill>
              </a:rPr>
              <a:t>Определение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возможной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дозы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облучения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персонала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и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жителей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посёлка</a:t>
            </a:r>
            <a:r>
              <a:rPr lang="en-US" sz="1600" b="1" i="1">
                <a:solidFill>
                  <a:srgbClr val="4D4E4F"/>
                </a:solidFill>
              </a:rPr>
              <a:t>, </a:t>
            </a:r>
            <a:r>
              <a:rPr lang="en-US" sz="1600" b="1" i="1">
                <a:solidFill>
                  <a:srgbClr val="4D4E4F"/>
                </a:solidFill>
              </a:rPr>
              <a:t>работающих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на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открытой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территории</a:t>
            </a:r>
            <a:r>
              <a:rPr lang="ru-RU" sz="1600" b="1" i="1">
                <a:solidFill>
                  <a:srgbClr val="4D4E4F"/>
                </a:solidFill>
              </a:rPr>
              <a:t>:</a:t>
            </a:r>
            <a:endParaRPr/>
          </a:p>
          <a:p>
            <a:pPr marL="146050">
              <a:lnSpc>
                <a:spcPct val="30000"/>
              </a:lnSpc>
              <a:defRPr/>
            </a:pPr>
            <a:endParaRPr lang="ru-RU" sz="1800" b="1" i="1">
              <a:solidFill>
                <a:srgbClr val="4D4E4F"/>
              </a:solidFill>
            </a:endParaRPr>
          </a:p>
          <a:p>
            <a:pPr marL="146050">
              <a:defRPr/>
            </a:pPr>
            <a:r>
              <a:rPr lang="ru-RU" sz="1600">
                <a:solidFill>
                  <a:srgbClr val="4D4E4F"/>
                </a:solidFill>
              </a:rPr>
              <a:t>1. 3. </a:t>
            </a:r>
            <a:r>
              <a:rPr lang="en-US" sz="1600">
                <a:solidFill>
                  <a:srgbClr val="4D4E4F"/>
                </a:solidFill>
              </a:rPr>
              <a:t>Определение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уровня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радиоактивного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излучения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времени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окончания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endParaRPr/>
          </a:p>
          <a:p>
            <a:pPr marL="146050">
              <a:defRPr/>
            </a:pPr>
            <a:r>
              <a:rPr lang="en-US" sz="1600">
                <a:solidFill>
                  <a:srgbClr val="4D4E4F"/>
                </a:solidFill>
              </a:rPr>
              <a:t>облучения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персонала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жителей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посёлка</a:t>
            </a:r>
            <a:r>
              <a:rPr lang="en-US" sz="1600">
                <a:solidFill>
                  <a:srgbClr val="4D4E4F"/>
                </a:solidFill>
              </a:rPr>
              <a:t>:</a:t>
            </a:r>
            <a:endParaRPr/>
          </a:p>
          <a:p>
            <a:pPr marL="146050">
              <a:lnSpc>
                <a:spcPct val="60000"/>
              </a:lnSpc>
              <a:defRPr/>
            </a:pPr>
            <a:endParaRPr lang="el-GR" sz="1800">
              <a:solidFill>
                <a:srgbClr val="4D4E4F"/>
              </a:solidFill>
              <a:latin typeface="Cambria Math"/>
            </a:endParaRPr>
          </a:p>
          <a:p>
            <a:pPr marL="146050" algn="l">
              <a:defRPr/>
            </a:pPr>
            <a:endParaRPr lang="en-US" sz="1800" b="1" i="1" baseline="30000">
              <a:solidFill>
                <a:srgbClr val="4D4E4F"/>
              </a:solidFill>
            </a:endParaRPr>
          </a:p>
        </p:txBody>
      </p:sp>
      <p:pic>
        <p:nvPicPr>
          <p:cNvPr id="441345710" name="Изображение 1"/>
          <p:cNvPicPr>
            <a:picLocks noChangeAspect="1"/>
          </p:cNvPicPr>
          <p:nvPr/>
        </p:nvPicPr>
        <p:blipFill rotWithShape="1">
          <a:blip r:embed="rId3"/>
          <a:srcRect l="0" t="2277" r="0" b="0"/>
          <a:stretch/>
        </p:blipFill>
        <p:spPr bwMode="auto">
          <a:xfrm>
            <a:off x="558800" y="2133600"/>
            <a:ext cx="8026400" cy="2834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836796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648830090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13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178624743" name="Рисунок 1" descr="Изображение выглядит как текст, снимок экрана, Шрифт, алгебр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886151"/>
            <a:ext cx="9144000" cy="2490779"/>
          </a:xfrm>
          <a:prstGeom prst="rect">
            <a:avLst/>
          </a:prstGeom>
        </p:spPr>
      </p:pic>
      <p:pic>
        <p:nvPicPr>
          <p:cNvPr id="823099981" name="Рисунок 2" descr="Изображение выглядит как белый, текст, Шрифт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802" y="3374553"/>
            <a:ext cx="1162050" cy="942975"/>
          </a:xfrm>
          <a:prstGeom prst="rect">
            <a:avLst/>
          </a:prstGeom>
        </p:spPr>
      </p:pic>
      <p:pic>
        <p:nvPicPr>
          <p:cNvPr id="2037267669" name="Рисунок 4" descr="Изображение выглядит как белый, текст, Шрифт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802" y="4200911"/>
            <a:ext cx="1162050" cy="942975"/>
          </a:xfrm>
          <a:prstGeom prst="rect">
            <a:avLst/>
          </a:prstGeom>
        </p:spPr>
      </p:pic>
      <p:pic>
        <p:nvPicPr>
          <p:cNvPr id="1573098183" name="Рисунок 5" descr="Изображение выглядит как Шрифт, рукописный текст, типография, калли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53684" y="3656570"/>
            <a:ext cx="2867025" cy="533400"/>
          </a:xfrm>
          <a:prstGeom prst="rect">
            <a:avLst/>
          </a:prstGeom>
        </p:spPr>
      </p:pic>
      <p:sp>
        <p:nvSpPr>
          <p:cNvPr id="804554722" name="TextBox 6"/>
          <p:cNvSpPr txBox="1"/>
          <p:nvPr/>
        </p:nvSpPr>
        <p:spPr bwMode="auto">
          <a:xfrm>
            <a:off x="1260078" y="4623593"/>
            <a:ext cx="16966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16.32 бэр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81604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57376187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14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855535884" name="Рисунок 1" descr="Изображение выглядит как текст, Шрифт, линия, снимок экран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9716" y="930011"/>
            <a:ext cx="8302196" cy="711729"/>
          </a:xfrm>
          <a:prstGeom prst="rect">
            <a:avLst/>
          </a:prstGeom>
        </p:spPr>
      </p:pic>
      <p:pic>
        <p:nvPicPr>
          <p:cNvPr id="1520284186" name="Рисунок 5" descr="Изображение выглядит как текст, Шрифт, белый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15293" y="1650657"/>
            <a:ext cx="2124075" cy="838200"/>
          </a:xfrm>
          <a:prstGeom prst="rect">
            <a:avLst/>
          </a:prstGeom>
        </p:spPr>
      </p:pic>
      <p:pic>
        <p:nvPicPr>
          <p:cNvPr id="131269910" name="Рисунок 6" descr="Изображение выглядит как Шрифт, символ, Графика, снимок экран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50052" y="1694677"/>
            <a:ext cx="1314450" cy="781050"/>
          </a:xfrm>
          <a:prstGeom prst="rect">
            <a:avLst/>
          </a:prstGeom>
        </p:spPr>
      </p:pic>
      <p:sp>
        <p:nvSpPr>
          <p:cNvPr id="696263893" name="TextBox 7"/>
          <p:cNvSpPr txBox="1"/>
          <p:nvPr/>
        </p:nvSpPr>
        <p:spPr bwMode="auto">
          <a:xfrm>
            <a:off x="6365033" y="1880294"/>
            <a:ext cx="14518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= 2.33 бэр</a:t>
            </a:r>
            <a:endParaRPr/>
          </a:p>
        </p:txBody>
      </p:sp>
      <p:sp>
        <p:nvSpPr>
          <p:cNvPr id="803926912" name="TextBox 8"/>
          <p:cNvSpPr txBox="1"/>
          <p:nvPr/>
        </p:nvSpPr>
        <p:spPr bwMode="auto">
          <a:xfrm>
            <a:off x="585266" y="2668420"/>
            <a:ext cx="8283015" cy="2523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600">
                <a:solidFill>
                  <a:srgbClr val="2C2C36"/>
                </a:solidFill>
              </a:rPr>
              <a:t>где </a:t>
            </a:r>
            <a:r>
              <a:rPr lang="ru-RU" sz="1600">
                <a:solidFill>
                  <a:srgbClr val="2C2C36"/>
                </a:solidFill>
              </a:rPr>
              <a:t>Kпк</a:t>
            </a:r>
            <a:r>
              <a:rPr lang="ru-RU" sz="1600">
                <a:solidFill>
                  <a:srgbClr val="2C2C36"/>
                </a:solidFill>
              </a:rPr>
              <a:t> и </a:t>
            </a:r>
            <a:r>
              <a:rPr lang="ru-RU" sz="1600">
                <a:solidFill>
                  <a:srgbClr val="2C2C36"/>
                </a:solidFill>
              </a:rPr>
              <a:t>Kпн</a:t>
            </a:r>
            <a:r>
              <a:rPr lang="ru-RU" sz="1600">
                <a:solidFill>
                  <a:srgbClr val="2C2C36"/>
                </a:solidFill>
              </a:rPr>
              <a:t> — коэффициенты пересчета уровня радиоактивного излучения в конце и начале облучения.</a:t>
            </a:r>
            <a:endParaRPr lang="ru-RU" sz="1600"/>
          </a:p>
          <a:p>
            <a:pPr>
              <a:defRPr/>
            </a:pPr>
            <a:r>
              <a:rPr lang="ru-RU" sz="1600">
                <a:solidFill>
                  <a:srgbClr val="111827"/>
                </a:solidFill>
              </a:rPr>
              <a:t>Вывод:</a:t>
            </a:r>
            <a:endParaRPr lang="ru-RU" sz="1600"/>
          </a:p>
          <a:p>
            <a:pPr>
              <a:defRPr/>
            </a:pPr>
            <a:r>
              <a:rPr lang="ru-RU" sz="1600">
                <a:solidFill>
                  <a:srgbClr val="2C2C36"/>
                </a:solidFill>
              </a:rPr>
              <a:t>На открытой территории за время работы в течение 7 часов персонал и жители посёлка получат возможную дозу радиоактивного облучения 16. бэр, что превышает допустимую дозу радиоактивного облучения в 3.33 раз.</a:t>
            </a:r>
            <a:endParaRPr lang="ru-RU" sz="1600"/>
          </a:p>
          <a:p>
            <a:pPr>
              <a:defRPr/>
            </a:pPr>
            <a:r>
              <a:rPr lang="ru-RU" sz="1600">
                <a:solidFill>
                  <a:srgbClr val="2C2C36"/>
                </a:solidFill>
              </a:rPr>
              <a:t>Персонал и жители посёлка, находящиеся в помещениях или ПРУ, получат возможную дозу радиоактивного облучения 2,33 бэр, что не превышает допустимую дозу радиоактивного облучения.</a:t>
            </a:r>
            <a:endParaRPr lang="ru-RU" sz="1600"/>
          </a:p>
          <a:p>
            <a:pPr algn="l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881940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964670189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15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995943157" name="Рисунок 2" descr="Изображение выглядит как текст, Шрифт, снимок экрана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16771" y="890459"/>
            <a:ext cx="8510458" cy="1122921"/>
          </a:xfrm>
          <a:prstGeom prst="rect">
            <a:avLst/>
          </a:prstGeom>
        </p:spPr>
      </p:pic>
      <p:pic>
        <p:nvPicPr>
          <p:cNvPr id="412604319" name="Рисунок 5" descr="Изображение выглядит как Шрифт, белый, текст, черно-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15225" y="2709606"/>
            <a:ext cx="8220075" cy="542925"/>
          </a:xfrm>
          <a:prstGeom prst="rect">
            <a:avLst/>
          </a:prstGeom>
        </p:spPr>
      </p:pic>
      <p:pic>
        <p:nvPicPr>
          <p:cNvPr id="773160041" name="Рисунок 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23979" y="3962014"/>
            <a:ext cx="6086475" cy="447675"/>
          </a:xfrm>
          <a:prstGeom prst="rect">
            <a:avLst/>
          </a:prstGeom>
        </p:spPr>
      </p:pic>
      <p:pic>
        <p:nvPicPr>
          <p:cNvPr id="507741770" name="Рисунок 10" descr="Изображение выглядит как текст, Шрифт, линия, диаграмм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14969" y="3330918"/>
            <a:ext cx="3895725" cy="628650"/>
          </a:xfrm>
          <a:prstGeom prst="rect">
            <a:avLst/>
          </a:prstGeom>
        </p:spPr>
      </p:pic>
      <p:pic>
        <p:nvPicPr>
          <p:cNvPr id="1520451725" name="Рисунок 11" descr="Изображение выглядит как Шрифт, текст, белый, лин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19474" y="2020330"/>
            <a:ext cx="2990850" cy="685800"/>
          </a:xfrm>
          <a:prstGeom prst="rect">
            <a:avLst/>
          </a:prstGeom>
        </p:spPr>
      </p:pic>
      <p:pic>
        <p:nvPicPr>
          <p:cNvPr id="1698010173" name="Рисунок 12" descr="Изображение выглядит как текст, Шрифт, линия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14453" y="4408530"/>
            <a:ext cx="5534025" cy="666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70255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213290252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16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7957200" name="Прямоугольник 3"/>
          <p:cNvSpPr/>
          <p:nvPr/>
        </p:nvSpPr>
        <p:spPr bwMode="auto">
          <a:xfrm>
            <a:off x="156845" y="871855"/>
            <a:ext cx="8753475" cy="373126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146050">
              <a:lnSpc>
                <a:spcPct val="110000"/>
              </a:lnSpc>
              <a:defRPr/>
            </a:pPr>
            <a:r>
              <a:rPr lang="ru-RU" sz="1600" b="1" i="1">
                <a:solidFill>
                  <a:srgbClr val="4D4E4F"/>
                </a:solidFill>
              </a:rPr>
              <a:t>3. </a:t>
            </a:r>
            <a:r>
              <a:rPr lang="en-US" sz="1600" b="1" i="1">
                <a:solidFill>
                  <a:srgbClr val="4D4E4F"/>
                </a:solidFill>
              </a:rPr>
              <a:t>Определение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допустимого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времени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работы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персонала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и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жителей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endParaRPr/>
          </a:p>
          <a:p>
            <a:pPr marL="146050">
              <a:lnSpc>
                <a:spcPct val="110000"/>
              </a:lnSpc>
              <a:defRPr/>
            </a:pPr>
            <a:r>
              <a:rPr lang="en-US" sz="1600" b="1" i="1">
                <a:solidFill>
                  <a:srgbClr val="4D4E4F"/>
                </a:solidFill>
              </a:rPr>
              <a:t>посёлка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на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радиоактивно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загрязнённой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местности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и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в</a:t>
            </a:r>
            <a:r>
              <a:rPr lang="en-US" sz="1600" b="1" i="1">
                <a:solidFill>
                  <a:srgbClr val="4D4E4F"/>
                </a:solidFill>
              </a:rPr>
              <a:t> </a:t>
            </a:r>
            <a:r>
              <a:rPr lang="en-US" sz="1600" b="1" i="1">
                <a:solidFill>
                  <a:srgbClr val="4D4E4F"/>
                </a:solidFill>
              </a:rPr>
              <a:t>помещении</a:t>
            </a:r>
            <a:r>
              <a:rPr lang="ru-RU" sz="1600" b="1" i="1">
                <a:solidFill>
                  <a:srgbClr val="4D4E4F"/>
                </a:solidFill>
              </a:rPr>
              <a:t>:</a:t>
            </a:r>
            <a:endParaRPr/>
          </a:p>
          <a:p>
            <a:pPr marL="146050">
              <a:lnSpc>
                <a:spcPct val="110000"/>
              </a:lnSpc>
              <a:defRPr/>
            </a:pPr>
            <a:endParaRPr lang="ru-RU" sz="1600" b="1" i="1">
              <a:solidFill>
                <a:srgbClr val="4D4E4F"/>
              </a:solidFill>
            </a:endParaRPr>
          </a:p>
          <a:p>
            <a:pPr marL="146050">
              <a:lnSpc>
                <a:spcPct val="110000"/>
              </a:lnSpc>
              <a:defRPr/>
            </a:pPr>
            <a:r>
              <a:rPr lang="en-US" sz="1600" b="1" i="1">
                <a:solidFill>
                  <a:srgbClr val="4D4E4F"/>
                </a:solidFill>
              </a:rPr>
              <a:t>Выводы</a:t>
            </a:r>
            <a:r>
              <a:rPr lang="en-US" sz="1600" b="1" i="1">
                <a:solidFill>
                  <a:srgbClr val="4D4E4F"/>
                </a:solidFill>
              </a:rPr>
              <a:t>: </a:t>
            </a:r>
            <a:endParaRPr/>
          </a:p>
          <a:p>
            <a:pPr marL="146050" indent="457200">
              <a:lnSpc>
                <a:spcPct val="130000"/>
              </a:lnSpc>
              <a:defRPr/>
            </a:pPr>
            <a:r>
              <a:rPr lang="en-US" sz="1600">
                <a:solidFill>
                  <a:srgbClr val="4D4E4F"/>
                </a:solidFill>
              </a:rPr>
              <a:t>1. </a:t>
            </a:r>
            <a:r>
              <a:rPr lang="en-US" sz="1600">
                <a:solidFill>
                  <a:srgbClr val="4D4E4F"/>
                </a:solidFill>
              </a:rPr>
              <a:t>На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открытой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территории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первой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смене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можно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работать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не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более</a:t>
            </a:r>
            <a:r>
              <a:rPr lang="en-US" sz="1600">
                <a:solidFill>
                  <a:srgbClr val="4D4E4F"/>
                </a:solidFill>
              </a:rPr>
              <a:t> 1.5 </a:t>
            </a:r>
            <a:r>
              <a:rPr lang="en-US" sz="1600">
                <a:solidFill>
                  <a:srgbClr val="4D4E4F"/>
                </a:solidFill>
              </a:rPr>
              <a:t>часов</a:t>
            </a:r>
            <a:r>
              <a:rPr lang="en-US" sz="1600">
                <a:solidFill>
                  <a:srgbClr val="4D4E4F"/>
                </a:solidFill>
              </a:rPr>
              <a:t>.</a:t>
            </a:r>
            <a:r>
              <a:rPr lang="ru-RU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(</a:t>
            </a:r>
            <a:r>
              <a:rPr lang="en-US" sz="1600">
                <a:solidFill>
                  <a:srgbClr val="4D4E4F"/>
                </a:solidFill>
              </a:rPr>
              <a:t>требования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НРБ</a:t>
            </a:r>
            <a:r>
              <a:rPr lang="en-US" sz="1600">
                <a:solidFill>
                  <a:srgbClr val="4D4E4F"/>
                </a:solidFill>
              </a:rPr>
              <a:t> – </a:t>
            </a:r>
            <a:r>
              <a:rPr lang="en-US" sz="1600">
                <a:solidFill>
                  <a:srgbClr val="4D4E4F"/>
                </a:solidFill>
              </a:rPr>
              <a:t>первой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смене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всегда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разрешено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работать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открытой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ru-RU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территории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не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более</a:t>
            </a:r>
            <a:r>
              <a:rPr lang="en-US" sz="1600">
                <a:solidFill>
                  <a:srgbClr val="4D4E4F"/>
                </a:solidFill>
              </a:rPr>
              <a:t> 2 </a:t>
            </a:r>
            <a:r>
              <a:rPr lang="en-US" sz="1600">
                <a:solidFill>
                  <a:srgbClr val="4D4E4F"/>
                </a:solidFill>
              </a:rPr>
              <a:t>часов</a:t>
            </a:r>
            <a:r>
              <a:rPr lang="en-US" sz="1600">
                <a:solidFill>
                  <a:srgbClr val="4D4E4F"/>
                </a:solidFill>
              </a:rPr>
              <a:t>). </a:t>
            </a:r>
            <a:r>
              <a:rPr lang="en-US" sz="1600">
                <a:solidFill>
                  <a:srgbClr val="4D4E4F"/>
                </a:solidFill>
              </a:rPr>
              <a:t>Затем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персонал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необходимо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укрыть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</a:t>
            </a:r>
            <a:r>
              <a:rPr lang="ru-RU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загерметизированных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служебных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помещениях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или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ПРУ</a:t>
            </a:r>
            <a:r>
              <a:rPr lang="en-US" sz="1600">
                <a:solidFill>
                  <a:srgbClr val="4D4E4F"/>
                </a:solidFill>
              </a:rPr>
              <a:t>. </a:t>
            </a:r>
            <a:endParaRPr/>
          </a:p>
          <a:p>
            <a:pPr marL="146050" indent="457200">
              <a:lnSpc>
                <a:spcPct val="130000"/>
              </a:lnSpc>
              <a:defRPr/>
            </a:pPr>
            <a:r>
              <a:rPr lang="en-US" sz="1600">
                <a:solidFill>
                  <a:srgbClr val="4D4E4F"/>
                </a:solidFill>
              </a:rPr>
              <a:t>2. </a:t>
            </a:r>
            <a:r>
              <a:rPr lang="en-US" sz="1600">
                <a:solidFill>
                  <a:srgbClr val="4D4E4F"/>
                </a:solidFill>
              </a:rPr>
              <a:t>В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служебных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помещениях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возможно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находиться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весь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рабочий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день</a:t>
            </a:r>
            <a:r>
              <a:rPr lang="en-US" sz="1600">
                <a:solidFill>
                  <a:srgbClr val="4D4E4F"/>
                </a:solidFill>
              </a:rPr>
              <a:t>.</a:t>
            </a:r>
            <a:endParaRPr/>
          </a:p>
          <a:p>
            <a:pPr marL="146050" indent="457200">
              <a:lnSpc>
                <a:spcPct val="130000"/>
              </a:lnSpc>
              <a:defRPr/>
            </a:pPr>
            <a:r>
              <a:rPr lang="en-US" sz="1600">
                <a:solidFill>
                  <a:srgbClr val="4D4E4F"/>
                </a:solidFill>
              </a:rPr>
              <a:t>3. </a:t>
            </a:r>
            <a:r>
              <a:rPr lang="en-US" sz="1600">
                <a:solidFill>
                  <a:srgbClr val="4D4E4F"/>
                </a:solidFill>
              </a:rPr>
              <a:t>Работа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персонала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на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открытой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территории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помещении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производится</a:t>
            </a:r>
            <a:r>
              <a:rPr lang="en-US" sz="1600">
                <a:solidFill>
                  <a:srgbClr val="4D4E4F"/>
                </a:solidFill>
              </a:rPr>
              <a:t> </a:t>
            </a:r>
            <a:endParaRPr/>
          </a:p>
          <a:p>
            <a:pPr marL="146050">
              <a:lnSpc>
                <a:spcPct val="130000"/>
              </a:lnSpc>
              <a:defRPr/>
            </a:pPr>
            <a:r>
              <a:rPr lang="en-US" sz="1600">
                <a:solidFill>
                  <a:srgbClr val="4D4E4F"/>
                </a:solidFill>
              </a:rPr>
              <a:t>посменно</a:t>
            </a:r>
            <a:r>
              <a:rPr lang="en-US" sz="1600">
                <a:solidFill>
                  <a:srgbClr val="4D4E4F"/>
                </a:solidFill>
              </a:rPr>
              <a:t>. </a:t>
            </a:r>
            <a:r>
              <a:rPr lang="en-US" sz="1600">
                <a:solidFill>
                  <a:srgbClr val="4D4E4F"/>
                </a:solidFill>
              </a:rPr>
              <a:t>Необходим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жесткий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график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работы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всех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смен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с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учетом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возможной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дозы</a:t>
            </a:r>
            <a:r>
              <a:rPr lang="en-US" sz="1600">
                <a:solidFill>
                  <a:srgbClr val="4D4E4F"/>
                </a:solidFill>
              </a:rPr>
              <a:t> </a:t>
            </a:r>
            <a:endParaRPr/>
          </a:p>
          <a:p>
            <a:pPr marL="146050">
              <a:lnSpc>
                <a:spcPct val="130000"/>
              </a:lnSpc>
              <a:defRPr/>
            </a:pPr>
            <a:r>
              <a:rPr lang="en-US" sz="1600">
                <a:solidFill>
                  <a:srgbClr val="4D4E4F"/>
                </a:solidFill>
              </a:rPr>
              <a:t>радиоактивного</a:t>
            </a:r>
            <a:r>
              <a:rPr lang="en-US" sz="1600">
                <a:solidFill>
                  <a:srgbClr val="4D4E4F"/>
                </a:solidFill>
              </a:rPr>
              <a:t> </a:t>
            </a:r>
            <a:r>
              <a:rPr lang="en-US" sz="1600">
                <a:solidFill>
                  <a:srgbClr val="4D4E4F"/>
                </a:solidFill>
              </a:rPr>
              <a:t>облучения</a:t>
            </a:r>
            <a:r>
              <a:rPr lang="en-US" sz="1600">
                <a:solidFill>
                  <a:srgbClr val="4D4E4F"/>
                </a:solidFill>
              </a:rPr>
              <a:t>.</a:t>
            </a:r>
            <a:endParaRPr/>
          </a:p>
          <a:p>
            <a:pPr marL="146050">
              <a:lnSpc>
                <a:spcPct val="30000"/>
              </a:lnSpc>
              <a:defRPr/>
            </a:pPr>
            <a:endParaRPr lang="ru-RU" sz="1800" b="1" i="1">
              <a:solidFill>
                <a:srgbClr val="4D4E4F"/>
              </a:solidFill>
            </a:endParaRPr>
          </a:p>
          <a:p>
            <a:pPr marL="146050" algn="ctr">
              <a:defRPr/>
            </a:pPr>
            <a:endParaRPr lang="en-US" sz="1800" b="1" i="1" baseline="30000">
              <a:solidFill>
                <a:srgbClr val="4D4E4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193654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87401788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17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831190909" name="Рисунок 1" descr="Изображение выглядит как текст, Шрифт, линия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3074" y="990281"/>
            <a:ext cx="8765575" cy="846048"/>
          </a:xfrm>
          <a:prstGeom prst="rect">
            <a:avLst/>
          </a:prstGeom>
        </p:spPr>
      </p:pic>
      <p:pic>
        <p:nvPicPr>
          <p:cNvPr id="654303835" name="Рисунок 2" descr="Изображение выглядит как Шрифт, текст, белый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03373" y="1838454"/>
            <a:ext cx="2552700" cy="771525"/>
          </a:xfrm>
          <a:prstGeom prst="rect">
            <a:avLst/>
          </a:prstGeom>
        </p:spPr>
      </p:pic>
      <p:pic>
        <p:nvPicPr>
          <p:cNvPr id="204156157" name="Рисунок 4" descr="Изображение выглядит как текст, Шрифт, линия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723" y="2614473"/>
            <a:ext cx="9144000" cy="1397364"/>
          </a:xfrm>
          <a:prstGeom prst="rect">
            <a:avLst/>
          </a:prstGeom>
        </p:spPr>
      </p:pic>
      <p:sp>
        <p:nvSpPr>
          <p:cNvPr id="1230312689" name="TextBox 5"/>
          <p:cNvSpPr txBox="1"/>
          <p:nvPr/>
        </p:nvSpPr>
        <p:spPr bwMode="auto">
          <a:xfrm>
            <a:off x="192870" y="4166307"/>
            <a:ext cx="49197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ru-RU"/>
              <a:t>Вывод:</a:t>
            </a:r>
            <a:endParaRPr/>
          </a:p>
          <a:p>
            <a:pPr>
              <a:defRPr/>
            </a:pPr>
            <a:r>
              <a:rPr lang="ru-RU"/>
              <a:t> за 8 ч в доме — доза 2.81 бэр (&lt; 5 бэр) → безопасно.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85857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47639647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18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55914186" name="TextBox 5"/>
          <p:cNvSpPr txBox="1"/>
          <p:nvPr/>
        </p:nvSpPr>
        <p:spPr bwMode="auto">
          <a:xfrm>
            <a:off x="192870" y="4166307"/>
            <a:ext cx="80166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ru-RU"/>
              <a:t>Вывод:</a:t>
            </a:r>
            <a:endParaRPr/>
          </a:p>
          <a:p>
            <a:pPr>
              <a:defRPr/>
            </a:pPr>
            <a:r>
              <a:rPr lang="ru-RU"/>
              <a:t> доза 9.78 бэр &gt; 3 бэр → требуется временное переселение.</a:t>
            </a:r>
            <a:endParaRPr/>
          </a:p>
        </p:txBody>
      </p:sp>
      <p:pic>
        <p:nvPicPr>
          <p:cNvPr id="1637005462" name="Рисунок 6" descr="Изображение выглядит как текст, Шрифт, снимок экрана, лин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3109" y="781694"/>
            <a:ext cx="7315200" cy="676275"/>
          </a:xfrm>
          <a:prstGeom prst="rect">
            <a:avLst/>
          </a:prstGeom>
        </p:spPr>
      </p:pic>
      <p:pic>
        <p:nvPicPr>
          <p:cNvPr id="624312088" name="Рисунок 7" descr="Изображение выглядит как Шрифт, текст, белый, калли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88146" y="1464920"/>
            <a:ext cx="2905125" cy="638175"/>
          </a:xfrm>
          <a:prstGeom prst="rect">
            <a:avLst/>
          </a:prstGeom>
        </p:spPr>
      </p:pic>
      <p:pic>
        <p:nvPicPr>
          <p:cNvPr id="143608926" name="Рисунок 8" descr="Изображение выглядит как текст, Шрифт, линия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62581" y="2101610"/>
            <a:ext cx="8611115" cy="1380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072740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1355105318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19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770654152" name="Рисунок 1" descr="Изображение выглядит как текст, Шрифт, белый, типо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2088" y="943016"/>
            <a:ext cx="8487548" cy="685718"/>
          </a:xfrm>
          <a:prstGeom prst="rect">
            <a:avLst/>
          </a:prstGeom>
        </p:spPr>
      </p:pic>
      <p:pic>
        <p:nvPicPr>
          <p:cNvPr id="1056580619" name="Рисунок 2" descr="Изображение выглядит как Шрифт, текст, белый, калли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37959" y="1631735"/>
            <a:ext cx="2990850" cy="752475"/>
          </a:xfrm>
          <a:prstGeom prst="rect">
            <a:avLst/>
          </a:prstGeom>
        </p:spPr>
      </p:pic>
      <p:pic>
        <p:nvPicPr>
          <p:cNvPr id="1297651285" name="Рисунок 4" descr="Изображение выглядит как текст, Шрифт, линия, диаграмм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0" y="2386406"/>
            <a:ext cx="9144000" cy="1467351"/>
          </a:xfrm>
          <a:prstGeom prst="rect">
            <a:avLst/>
          </a:prstGeom>
        </p:spPr>
      </p:pic>
      <p:sp>
        <p:nvSpPr>
          <p:cNvPr id="1528035756" name="TextBox 7"/>
          <p:cNvSpPr txBox="1"/>
          <p:nvPr/>
        </p:nvSpPr>
        <p:spPr bwMode="auto">
          <a:xfrm>
            <a:off x="192870" y="4166307"/>
            <a:ext cx="80166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ru-RU"/>
              <a:t>Вывод:</a:t>
            </a:r>
            <a:endParaRPr/>
          </a:p>
          <a:p>
            <a:pPr>
              <a:defRPr/>
            </a:pPr>
            <a:r>
              <a:rPr lang="ru-RU"/>
              <a:t> доза 56.5 бэр &gt; 3 бэр → требуется временное переселение.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72754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4</a:t>
            </a:r>
            <a:r>
              <a:rPr lang="en-US"/>
              <a:t>. Расчеты</a:t>
            </a:r>
            <a:endParaRPr/>
          </a:p>
        </p:txBody>
      </p:sp>
      <p:sp>
        <p:nvSpPr>
          <p:cNvPr id="2137739727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20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751232175" name="Рисунок 1" descr="Изображение выглядит как текст, Шрифт, типо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851060"/>
            <a:ext cx="9144000" cy="599326"/>
          </a:xfrm>
          <a:prstGeom prst="rect">
            <a:avLst/>
          </a:prstGeom>
        </p:spPr>
      </p:pic>
      <p:pic>
        <p:nvPicPr>
          <p:cNvPr id="615986997" name="Рисунок 2" descr="Изображение выглядит как Шрифт, текст, белый, типо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728913" y="1451790"/>
            <a:ext cx="3686175" cy="695325"/>
          </a:xfrm>
          <a:prstGeom prst="rect">
            <a:avLst/>
          </a:prstGeom>
        </p:spPr>
      </p:pic>
      <p:pic>
        <p:nvPicPr>
          <p:cNvPr id="1812309621" name="Рисунок 4" descr="Изображение выглядит как текст, Шрифт, линия, чек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0" y="2148015"/>
            <a:ext cx="9144000" cy="1341740"/>
          </a:xfrm>
          <a:prstGeom prst="rect">
            <a:avLst/>
          </a:prstGeom>
        </p:spPr>
      </p:pic>
      <p:sp>
        <p:nvSpPr>
          <p:cNvPr id="1497043570" name="TextBox 6"/>
          <p:cNvSpPr txBox="1"/>
          <p:nvPr/>
        </p:nvSpPr>
        <p:spPr bwMode="auto">
          <a:xfrm>
            <a:off x="-204" y="3996402"/>
            <a:ext cx="80166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ru-RU"/>
              <a:t>Вывод:</a:t>
            </a:r>
            <a:endParaRPr/>
          </a:p>
          <a:p>
            <a:pPr>
              <a:defRPr/>
            </a:pPr>
            <a:r>
              <a:rPr lang="ru-RU"/>
              <a:t> доза </a:t>
            </a:r>
            <a:r>
              <a:rPr lang="ru-RU"/>
              <a:t>доза</a:t>
            </a:r>
            <a:r>
              <a:rPr lang="ru-RU"/>
              <a:t> &gt; 100 бэр → требуется пожизненное переселение.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710051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Выводы: </a:t>
            </a:r>
            <a:endParaRPr/>
          </a:p>
        </p:txBody>
      </p:sp>
      <p:sp>
        <p:nvSpPr>
          <p:cNvPr id="627258914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253743915" name="TextBox 4"/>
          <p:cNvSpPr txBox="1"/>
          <p:nvPr/>
        </p:nvSpPr>
        <p:spPr bwMode="auto">
          <a:xfrm>
            <a:off x="500884" y="862634"/>
            <a:ext cx="8310971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Наиболее опасным для </a:t>
            </a:r>
            <a:r>
              <a:rPr lang="ru-RU" sz="1200">
                <a:solidFill>
                  <a:srgbClr val="2C2C36"/>
                </a:solidFill>
              </a:rPr>
              <a:t>н.п</a:t>
            </a:r>
            <a:r>
              <a:rPr lang="ru-RU" sz="1200">
                <a:solidFill>
                  <a:srgbClr val="2C2C36"/>
                </a:solidFill>
              </a:rPr>
              <a:t>. Перекаты является долгосрочное проживание на радиоактивно загрязнённой местности. Суммарная доза облучения жителей за 70 лет может составить 3332</a:t>
            </a:r>
            <a:r>
              <a:rPr lang="ru-RU" sz="1200">
                <a:solidFill>
                  <a:srgbClr val="111827"/>
                </a:solidFill>
              </a:rPr>
              <a:t> бэр</a:t>
            </a:r>
            <a:r>
              <a:rPr lang="ru-RU" sz="1200">
                <a:solidFill>
                  <a:srgbClr val="2C2C36"/>
                </a:solidFill>
              </a:rPr>
              <a:t> (многократно превышая порог в 100 бэр), что создаёт неприемлемый риск для жизни и здоровья и требует </a:t>
            </a:r>
            <a:r>
              <a:rPr lang="ru-RU" sz="1200">
                <a:solidFill>
                  <a:srgbClr val="111827"/>
                </a:solidFill>
              </a:rPr>
              <a:t>пожизненного переселения</a:t>
            </a:r>
            <a:r>
              <a:rPr lang="ru-RU" sz="1200">
                <a:solidFill>
                  <a:srgbClr val="2C2C36"/>
                </a:solidFill>
              </a:rPr>
              <a:t> населения.</a:t>
            </a:r>
            <a:endParaRPr lang="ru-RU" sz="1200"/>
          </a:p>
          <a:p>
            <a:pPr marL="285750" indent="-285750">
              <a:buChar char="•"/>
              <a:defRPr/>
            </a:pPr>
            <a:endParaRPr lang="ru-RU" sz="1200">
              <a:solidFill>
                <a:srgbClr val="2C2C36"/>
              </a:solidFill>
            </a:endParaRPr>
          </a:p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Объект и населённый пункт находятся в зоне </a:t>
            </a:r>
            <a:r>
              <a:rPr lang="ru-RU" sz="1200">
                <a:solidFill>
                  <a:srgbClr val="111827"/>
                </a:solidFill>
              </a:rPr>
              <a:t>«Сильного радиоактивного загрязнения» (Зона Б)</a:t>
            </a:r>
            <a:r>
              <a:rPr lang="ru-RU" sz="1200">
                <a:solidFill>
                  <a:srgbClr val="2C2C36"/>
                </a:solidFill>
              </a:rPr>
              <a:t>, что подтверждается мощностью дозы на 1 час после аварии </a:t>
            </a:r>
            <a:r>
              <a:rPr lang="ru-RU" sz="1200">
                <a:solidFill>
                  <a:srgbClr val="111827"/>
                </a:solidFill>
              </a:rPr>
              <a:t>P₁ = 4,66 Р/ч</a:t>
            </a:r>
            <a:r>
              <a:rPr lang="ru-RU" sz="1200">
                <a:solidFill>
                  <a:srgbClr val="2C2C36"/>
                </a:solidFill>
              </a:rPr>
              <a:t> (в пределах 1,4–4,2 Р/ч). Данный уровень радиации представляет серьёзную угрозу при длительном пребывании на местности.</a:t>
            </a:r>
            <a:endParaRPr lang="ru-RU" sz="1200"/>
          </a:p>
          <a:p>
            <a:pPr marL="285750" indent="-285750">
              <a:buChar char="•"/>
              <a:defRPr/>
            </a:pPr>
            <a:endParaRPr lang="ru-RU" sz="1200">
              <a:solidFill>
                <a:srgbClr val="2C2C36"/>
              </a:solidFill>
            </a:endParaRPr>
          </a:p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В условиях радиоактивного загрязнения, работа и нахождение на открытой местности строго лимитированы: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Работа первой смены на открытой территории не должна превышать </a:t>
            </a:r>
            <a:r>
              <a:rPr lang="ru-RU" sz="1200">
                <a:solidFill>
                  <a:srgbClr val="111827"/>
                </a:solidFill>
              </a:rPr>
              <a:t>2 часов</a:t>
            </a:r>
            <a:r>
              <a:rPr lang="ru-RU" sz="1200">
                <a:solidFill>
                  <a:srgbClr val="2C2C36"/>
                </a:solidFill>
              </a:rPr>
              <a:t> (требование НРБ).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Допустимое время пребывания на открытой местности по расчёту — </a:t>
            </a:r>
            <a:r>
              <a:rPr lang="ru-RU" sz="1200">
                <a:solidFill>
                  <a:srgbClr val="111827"/>
                </a:solidFill>
              </a:rPr>
              <a:t>Tтреб</a:t>
            </a:r>
            <a:r>
              <a:rPr lang="ru-RU" sz="1200">
                <a:solidFill>
                  <a:srgbClr val="111827"/>
                </a:solidFill>
              </a:rPr>
              <a:t> = 1,55 ч</a:t>
            </a:r>
            <a:r>
              <a:rPr lang="ru-RU" sz="1200">
                <a:solidFill>
                  <a:srgbClr val="2C2C36"/>
                </a:solidFill>
              </a:rPr>
              <a:t>.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В помещениях (</a:t>
            </a:r>
            <a:r>
              <a:rPr lang="ru-RU" sz="1200">
                <a:solidFill>
                  <a:srgbClr val="2C2C36"/>
                </a:solidFill>
              </a:rPr>
              <a:t>Kосл</a:t>
            </a:r>
            <a:r>
              <a:rPr lang="ru-RU" sz="1200">
                <a:solidFill>
                  <a:srgbClr val="2C2C36"/>
                </a:solidFill>
              </a:rPr>
              <a:t> = 7) можно находиться весь рабочий день (</a:t>
            </a:r>
            <a:r>
              <a:rPr lang="ru-RU" sz="1200">
                <a:solidFill>
                  <a:srgbClr val="111827"/>
                </a:solidFill>
              </a:rPr>
              <a:t>7 ч</a:t>
            </a:r>
            <a:r>
              <a:rPr lang="ru-RU" sz="1200">
                <a:solidFill>
                  <a:srgbClr val="2C2C36"/>
                </a:solidFill>
              </a:rPr>
              <a:t>) без превышения допустимой дозы.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За 6 часов на открытой местности доза составит </a:t>
            </a:r>
            <a:r>
              <a:rPr lang="ru-RU" sz="1200">
                <a:solidFill>
                  <a:srgbClr val="111827"/>
                </a:solidFill>
              </a:rPr>
              <a:t>16,49 бэр</a:t>
            </a:r>
            <a:r>
              <a:rPr lang="ru-RU" sz="1200">
                <a:solidFill>
                  <a:srgbClr val="2C2C36"/>
                </a:solidFill>
              </a:rPr>
              <a:t> (превышение в </a:t>
            </a:r>
            <a:r>
              <a:rPr lang="ru-RU" sz="1200">
                <a:solidFill>
                  <a:srgbClr val="111827"/>
                </a:solidFill>
              </a:rPr>
              <a:t>3,3 раза</a:t>
            </a:r>
            <a:r>
              <a:rPr lang="ru-RU" sz="1200">
                <a:solidFill>
                  <a:srgbClr val="2C2C36"/>
                </a:solidFill>
              </a:rPr>
              <a:t>), а в помещениях — </a:t>
            </a:r>
            <a:r>
              <a:rPr lang="ru-RU" sz="1200">
                <a:solidFill>
                  <a:srgbClr val="111827"/>
                </a:solidFill>
              </a:rPr>
              <a:t>2,36 бэр</a:t>
            </a:r>
            <a:r>
              <a:rPr lang="ru-RU" sz="1200">
                <a:solidFill>
                  <a:srgbClr val="2C2C36"/>
                </a:solidFill>
              </a:rPr>
              <a:t> (</a:t>
            </a:r>
            <a:r>
              <a:rPr lang="ru-RU" sz="1200">
                <a:solidFill>
                  <a:srgbClr val="111827"/>
                </a:solidFill>
              </a:rPr>
              <a:t>ниже допустимых 5 бэр</a:t>
            </a:r>
            <a:r>
              <a:rPr lang="ru-RU" sz="1200">
                <a:solidFill>
                  <a:srgbClr val="2C2C36"/>
                </a:solidFill>
              </a:rPr>
              <a:t>).</a:t>
            </a:r>
            <a:endParaRPr lang="ru-RU" sz="1200"/>
          </a:p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Для защиты персонала и населения необходимо провести следующие первоочередные мероприятия: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111827"/>
                </a:solidFill>
              </a:rPr>
              <a:t>Организовать временное переселение жителей</a:t>
            </a:r>
            <a:r>
              <a:rPr lang="ru-RU" sz="1200">
                <a:solidFill>
                  <a:srgbClr val="2C2C36"/>
                </a:solidFill>
              </a:rPr>
              <a:t>, так как доза за 30 суток превышает </a:t>
            </a:r>
            <a:r>
              <a:rPr lang="ru-RU" sz="1200">
                <a:solidFill>
                  <a:srgbClr val="111827"/>
                </a:solidFill>
              </a:rPr>
              <a:t>3 бэр</a:t>
            </a:r>
            <a:r>
              <a:rPr lang="ru-RU" sz="1200">
                <a:solidFill>
                  <a:srgbClr val="2C2C36"/>
                </a:solidFill>
              </a:rPr>
              <a:t>.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Ввести </a:t>
            </a:r>
            <a:r>
              <a:rPr lang="ru-RU" sz="1200">
                <a:solidFill>
                  <a:srgbClr val="111827"/>
                </a:solidFill>
              </a:rPr>
              <a:t>жёсткий посменный график работы</a:t>
            </a:r>
            <a:r>
              <a:rPr lang="ru-RU" sz="1200">
                <a:solidFill>
                  <a:srgbClr val="2C2C36"/>
                </a:solidFill>
              </a:rPr>
              <a:t> с ограничением времени на открытой территории.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Обеспечить использование </a:t>
            </a:r>
            <a:r>
              <a:rPr lang="ru-RU" sz="1200">
                <a:solidFill>
                  <a:srgbClr val="111827"/>
                </a:solidFill>
              </a:rPr>
              <a:t>герметизированных помещений и ПРУ</a:t>
            </a:r>
            <a:r>
              <a:rPr lang="ru-RU" sz="1200">
                <a:solidFill>
                  <a:srgbClr val="2C2C36"/>
                </a:solidFill>
              </a:rPr>
              <a:t> как основного средства радиационной защиты.</a:t>
            </a:r>
            <a:endParaRPr lang="ru-RU" sz="1200"/>
          </a:p>
          <a:p>
            <a:pPr marL="285750" lvl="1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Проводить </a:t>
            </a:r>
            <a:r>
              <a:rPr lang="ru-RU" sz="1200">
                <a:solidFill>
                  <a:srgbClr val="111827"/>
                </a:solidFill>
              </a:rPr>
              <a:t>регулярную радиационную разведку</a:t>
            </a:r>
            <a:r>
              <a:rPr lang="ru-RU" sz="1200">
                <a:solidFill>
                  <a:srgbClr val="2C2C36"/>
                </a:solidFill>
              </a:rPr>
              <a:t> и при необходимости — </a:t>
            </a:r>
            <a:r>
              <a:rPr lang="ru-RU" sz="1200">
                <a:solidFill>
                  <a:srgbClr val="111827"/>
                </a:solidFill>
              </a:rPr>
              <a:t>дезактивацию территории и зданий</a:t>
            </a:r>
            <a:r>
              <a:rPr lang="ru-RU" sz="1200">
                <a:solidFill>
                  <a:srgbClr val="2C2C36"/>
                </a:solidFill>
              </a:rPr>
              <a:t>.</a:t>
            </a:r>
            <a:endParaRPr lang="ru-RU" sz="1200"/>
          </a:p>
          <a:p>
            <a:pPr algn="l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73282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15908077" name="Текст 2"/>
          <p:cNvSpPr>
            <a:spLocks noGrp="1"/>
          </p:cNvSpPr>
          <p:nvPr>
            <p:ph type="body" idx="1"/>
          </p:nvPr>
        </p:nvSpPr>
        <p:spPr bwMode="auto">
          <a:xfrm>
            <a:off x="440055" y="281305"/>
            <a:ext cx="6529705" cy="98488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b="1">
                <a:solidFill>
                  <a:srgbClr val="FF9400"/>
                </a:solidFill>
              </a:rPr>
              <a:t>Оценка БЖД жителей </a:t>
            </a:r>
            <a:r>
              <a:rPr lang="ru-RU" b="1">
                <a:solidFill>
                  <a:srgbClr val="FF9400"/>
                </a:solidFill>
              </a:rPr>
              <a:t>н.п</a:t>
            </a:r>
            <a:r>
              <a:rPr lang="ru-RU" b="1">
                <a:solidFill>
                  <a:srgbClr val="FF9400"/>
                </a:solidFill>
              </a:rPr>
              <a:t>., персонала объекта и устойчивость функционирования объекта в случае выброса радиоциноо опасных веществ.</a:t>
            </a:r>
            <a:endParaRPr/>
          </a:p>
        </p:txBody>
      </p:sp>
      <p:sp>
        <p:nvSpPr>
          <p:cNvPr id="293473366" name="Прямоугольник 1"/>
          <p:cNvSpPr/>
          <p:nvPr/>
        </p:nvSpPr>
        <p:spPr bwMode="auto">
          <a:xfrm>
            <a:off x="440055" y="1175385"/>
            <a:ext cx="8263890" cy="3967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 i="1">
                <a:solidFill>
                  <a:srgbClr val="4D4E4F"/>
                </a:solidFill>
                <a:cs typeface="Times New Roman"/>
              </a:rPr>
              <a:t>1.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Для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ранней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фазы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аварии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(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первые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2-10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суток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):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При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прогнозируемой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дозе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облучения</a:t>
            </a:r>
            <a:r>
              <a:rPr lang="en-US">
                <a:solidFill>
                  <a:srgbClr val="4D4E4F"/>
                </a:solidFill>
                <a:cs typeface="Times New Roman"/>
              </a:rPr>
              <a:t> 50 </a:t>
            </a:r>
            <a:r>
              <a:rPr lang="en-US">
                <a:solidFill>
                  <a:srgbClr val="4D4E4F"/>
                </a:solidFill>
                <a:cs typeface="Times New Roman"/>
              </a:rPr>
              <a:t>Р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более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требуется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проведение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общей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эвакуации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населения</a:t>
            </a: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При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дозе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облучения</a:t>
            </a:r>
            <a:r>
              <a:rPr lang="en-US">
                <a:solidFill>
                  <a:srgbClr val="4D4E4F"/>
                </a:solidFill>
                <a:cs typeface="Times New Roman"/>
              </a:rPr>
              <a:t> 100 </a:t>
            </a:r>
            <a:r>
              <a:rPr lang="en-US">
                <a:solidFill>
                  <a:srgbClr val="4D4E4F"/>
                </a:solidFill>
                <a:cs typeface="Times New Roman"/>
              </a:rPr>
              <a:t>бэр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за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двое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суток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необходима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экстренная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эвакуация</a:t>
            </a: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Пребывание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на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открытой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территории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должно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быть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ограничено</a:t>
            </a:r>
            <a:r>
              <a:rPr lang="en-US">
                <a:solidFill>
                  <a:srgbClr val="4D4E4F"/>
                </a:solidFill>
                <a:cs typeface="Times New Roman"/>
              </a:rPr>
              <a:t> 2 </a:t>
            </a:r>
            <a:r>
              <a:rPr lang="en-US">
                <a:solidFill>
                  <a:srgbClr val="4D4E4F"/>
                </a:solidFill>
                <a:cs typeface="Times New Roman"/>
              </a:rPr>
              <a:t>часами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в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сутки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 i="1">
                <a:solidFill>
                  <a:srgbClr val="4D4E4F"/>
                </a:solidFill>
                <a:cs typeface="Times New Roman"/>
              </a:rPr>
              <a:t>2.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Для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промежуточной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фазы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(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первые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месяцы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):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При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дозе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облучения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более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3 </a:t>
            </a:r>
            <a:r>
              <a:rPr lang="en-US">
                <a:solidFill>
                  <a:srgbClr val="4D4E4F"/>
                </a:solidFill>
                <a:cs typeface="Times New Roman"/>
              </a:rPr>
              <a:t>бэр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за</a:t>
            </a:r>
            <a:r>
              <a:rPr lang="en-US">
                <a:solidFill>
                  <a:srgbClr val="4D4E4F"/>
                </a:solidFill>
                <a:cs typeface="Times New Roman"/>
              </a:rPr>
              <a:t> 30 </a:t>
            </a:r>
            <a:r>
              <a:rPr lang="en-US">
                <a:solidFill>
                  <a:srgbClr val="4D4E4F"/>
                </a:solidFill>
                <a:cs typeface="Times New Roman"/>
              </a:rPr>
              <a:t>суток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необходимо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временное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переселение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жителей</a:t>
            </a: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Отселение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может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быть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прекращено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при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снижении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месячной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дозы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до</a:t>
            </a:r>
            <a:r>
              <a:rPr lang="en-US">
                <a:solidFill>
                  <a:srgbClr val="4D4E4F"/>
                </a:solidFill>
                <a:cs typeface="Times New Roman"/>
              </a:rPr>
              <a:t> 1 </a:t>
            </a:r>
            <a:r>
              <a:rPr lang="en-US">
                <a:solidFill>
                  <a:srgbClr val="4D4E4F"/>
                </a:solidFill>
                <a:cs typeface="Times New Roman"/>
              </a:rPr>
              <a:t>бэр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b="1" i="1">
                <a:solidFill>
                  <a:srgbClr val="4D4E4F"/>
                </a:solidFill>
                <a:cs typeface="Times New Roman"/>
              </a:rPr>
              <a:t>3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.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Основные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защитные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мероприятия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включают</a:t>
            </a:r>
            <a:r>
              <a:rPr lang="en-US" b="1" i="1">
                <a:solidFill>
                  <a:srgbClr val="4D4E4F"/>
                </a:solidFill>
                <a:cs typeface="Times New Roman"/>
              </a:rPr>
              <a:t>: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Регулярный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радиационный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контроль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окружающей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среды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продукции</a:t>
            </a: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Дозиметрический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контроль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населения</a:t>
            </a: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Медицинское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наблюдение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за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критическими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группами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населения</a:t>
            </a:r>
            <a:endParaRPr lang="en-US">
              <a:solidFill>
                <a:srgbClr val="4D4E4F"/>
              </a:solidFill>
              <a:cs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rgbClr val="4D4E4F"/>
                </a:solidFill>
                <a:cs typeface="Times New Roman"/>
              </a:rPr>
              <a:t>Ограничение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хозяйственной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деятельности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в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зависимости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от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зоны</a:t>
            </a:r>
            <a:r>
              <a:rPr lang="en-US">
                <a:solidFill>
                  <a:srgbClr val="4D4E4F"/>
                </a:solidFill>
                <a:cs typeface="Times New Roman"/>
              </a:rPr>
              <a:t> </a:t>
            </a:r>
            <a:r>
              <a:rPr lang="en-US">
                <a:solidFill>
                  <a:srgbClr val="4D4E4F"/>
                </a:solidFill>
                <a:cs typeface="Times New Roman"/>
              </a:rPr>
              <a:t>загрязнения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766870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Инженерно-технические мероприятия: </a:t>
            </a:r>
            <a:endParaRPr/>
          </a:p>
        </p:txBody>
      </p:sp>
      <p:sp>
        <p:nvSpPr>
          <p:cNvPr id="1796302497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23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491357876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8149" y="693420"/>
            <a:ext cx="8264525" cy="7366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1"/>
              <a:t>Инженерно</a:t>
            </a:r>
            <a:r>
              <a:rPr lang="en-US" sz="1400" b="1" i="1"/>
              <a:t>-</a:t>
            </a:r>
            <a:r>
              <a:rPr lang="en-US" sz="1400" b="1" i="1"/>
              <a:t>технические</a:t>
            </a:r>
            <a:r>
              <a:rPr lang="en-US" sz="1400" b="1" i="1"/>
              <a:t> </a:t>
            </a:r>
            <a:r>
              <a:rPr lang="en-US" sz="1400" b="1" i="1"/>
              <a:t>мероприятия</a:t>
            </a:r>
            <a:r>
              <a:rPr lang="en-US" sz="1400" b="1" i="1"/>
              <a:t> </a:t>
            </a:r>
            <a:r>
              <a:rPr lang="en-US" sz="1400" b="1" i="1"/>
              <a:t>на</a:t>
            </a:r>
            <a:r>
              <a:rPr lang="en-US" sz="1400" b="1" i="1"/>
              <a:t> </a:t>
            </a:r>
            <a:r>
              <a:rPr lang="en-US" sz="1400" b="1" i="1"/>
              <a:t>химически</a:t>
            </a:r>
            <a:r>
              <a:rPr lang="en-US" sz="1400" b="1" i="1"/>
              <a:t> </a:t>
            </a:r>
            <a:r>
              <a:rPr lang="en-US" sz="1400" b="1" i="1"/>
              <a:t>опасном</a:t>
            </a:r>
            <a:r>
              <a:rPr lang="en-US" sz="1400" b="1" i="1"/>
              <a:t> </a:t>
            </a:r>
            <a:r>
              <a:rPr lang="en-US" sz="1400" b="1" i="1"/>
              <a:t>объекте</a:t>
            </a:r>
            <a:r>
              <a:rPr lang="en-US" sz="1400" b="1" i="1"/>
              <a:t> </a:t>
            </a:r>
            <a:r>
              <a:rPr lang="en-US" sz="1400" b="1" i="1"/>
              <a:t>должны</a:t>
            </a:r>
            <a:r>
              <a:rPr lang="en-US" sz="1400" b="1" i="1"/>
              <a:t> </a:t>
            </a:r>
            <a:r>
              <a:rPr lang="en-US" sz="1400" b="1" i="1"/>
              <a:t>включать</a:t>
            </a:r>
            <a:r>
              <a:rPr lang="en-US" sz="1400" b="1" i="1"/>
              <a:t>: 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4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400"/>
          </a:p>
        </p:txBody>
      </p:sp>
      <p:sp>
        <p:nvSpPr>
          <p:cNvPr id="769900936" name="Текстовое поле 1"/>
          <p:cNvSpPr txBox="1"/>
          <p:nvPr/>
        </p:nvSpPr>
        <p:spPr bwMode="auto">
          <a:xfrm>
            <a:off x="4521200" y="1431925"/>
            <a:ext cx="4622799" cy="2599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sz="1400" b="1" i="1"/>
              <a:t>3. Организация работ</a:t>
            </a:r>
            <a:endParaRPr lang="en-US" sz="1400" b="1" i="1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Вахтовый</a:t>
            </a:r>
            <a:r>
              <a:rPr lang="en-US" sz="1200"/>
              <a:t> </a:t>
            </a:r>
            <a:r>
              <a:rPr lang="en-US" sz="1200"/>
              <a:t>метод</a:t>
            </a:r>
            <a:r>
              <a:rPr lang="en-US" sz="1200"/>
              <a:t> </a:t>
            </a:r>
            <a:r>
              <a:rPr lang="en-US" sz="1200"/>
              <a:t>работы</a:t>
            </a:r>
            <a:r>
              <a:rPr lang="en-US" sz="1200"/>
              <a:t> </a:t>
            </a:r>
            <a:r>
              <a:rPr lang="en-US" sz="1200"/>
              <a:t>персонала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Привлечение</a:t>
            </a:r>
            <a:r>
              <a:rPr lang="en-US" sz="1200"/>
              <a:t> </a:t>
            </a:r>
            <a:r>
              <a:rPr lang="en-US" sz="1200"/>
              <a:t>всех</a:t>
            </a:r>
            <a:r>
              <a:rPr lang="en-US" sz="1200"/>
              <a:t> </a:t>
            </a:r>
            <a:r>
              <a:rPr lang="en-US" sz="1200"/>
              <a:t>сотрудников</a:t>
            </a:r>
            <a:r>
              <a:rPr lang="en-US" sz="1200"/>
              <a:t> </a:t>
            </a:r>
            <a:r>
              <a:rPr lang="en-US" sz="1200"/>
              <a:t>к</a:t>
            </a:r>
            <a:r>
              <a:rPr lang="en-US" sz="1200"/>
              <a:t> </a:t>
            </a:r>
            <a:r>
              <a:rPr lang="en-US" sz="1200"/>
              <a:t>дезактивации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График</a:t>
            </a:r>
            <a:r>
              <a:rPr lang="en-US" sz="1200"/>
              <a:t> </a:t>
            </a:r>
            <a:r>
              <a:rPr lang="en-US" sz="1200"/>
              <a:t>очередности</a:t>
            </a:r>
            <a:r>
              <a:rPr lang="en-US" sz="1200"/>
              <a:t> </a:t>
            </a:r>
            <a:r>
              <a:rPr lang="en-US" sz="1200"/>
              <a:t>работ</a:t>
            </a:r>
            <a:r>
              <a:rPr lang="en-US" sz="1200"/>
              <a:t> </a:t>
            </a:r>
            <a:r>
              <a:rPr lang="en-US" sz="1200"/>
              <a:t>по</a:t>
            </a:r>
            <a:r>
              <a:rPr lang="en-US" sz="1200"/>
              <a:t> </a:t>
            </a:r>
            <a:r>
              <a:rPr lang="en-US" sz="1200"/>
              <a:t>технологической</a:t>
            </a:r>
            <a:r>
              <a:rPr lang="en-US" sz="1200"/>
              <a:t> </a:t>
            </a:r>
            <a:r>
              <a:rPr lang="en-US" sz="1200"/>
              <a:t>важности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Комиссия</a:t>
            </a:r>
            <a:r>
              <a:rPr lang="en-US" sz="1200"/>
              <a:t> </a:t>
            </a:r>
            <a:r>
              <a:rPr lang="en-US" sz="1200"/>
              <a:t>по</a:t>
            </a:r>
            <a:r>
              <a:rPr lang="en-US" sz="1200"/>
              <a:t> </a:t>
            </a:r>
            <a:r>
              <a:rPr lang="en-US" sz="1200"/>
              <a:t>приемке</a:t>
            </a:r>
            <a:r>
              <a:rPr lang="en-US" sz="1200"/>
              <a:t> </a:t>
            </a:r>
            <a:r>
              <a:rPr lang="en-US" sz="1200"/>
              <a:t>дезактивированных</a:t>
            </a:r>
            <a:r>
              <a:rPr lang="en-US" sz="1200"/>
              <a:t> </a:t>
            </a:r>
            <a:r>
              <a:rPr lang="en-US" sz="1200"/>
              <a:t>объектов</a:t>
            </a:r>
            <a:endParaRPr lang="en-US" sz="12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2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sz="1400" b="1" i="1"/>
              <a:t>4. Обеспечение деятельности</a:t>
            </a:r>
            <a:endParaRPr lang="en-US" sz="1400" b="1" i="1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Поэтапное</a:t>
            </a:r>
            <a:r>
              <a:rPr lang="en-US" sz="1200"/>
              <a:t> </a:t>
            </a:r>
            <a:r>
              <a:rPr lang="en-US" sz="1200"/>
              <a:t>восстановление</a:t>
            </a:r>
            <a:r>
              <a:rPr lang="en-US" sz="1200"/>
              <a:t> </a:t>
            </a:r>
            <a:r>
              <a:rPr lang="en-US" sz="1200"/>
              <a:t>работы</a:t>
            </a:r>
            <a:r>
              <a:rPr lang="en-US" sz="1200"/>
              <a:t> </a:t>
            </a:r>
            <a:r>
              <a:rPr lang="en-US" sz="1200"/>
              <a:t>подразделений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Организация</a:t>
            </a:r>
            <a:r>
              <a:rPr lang="en-US" sz="1200"/>
              <a:t> </a:t>
            </a:r>
            <a:r>
              <a:rPr lang="en-US" sz="1200"/>
              <a:t>подвоза</a:t>
            </a:r>
            <a:r>
              <a:rPr lang="en-US" sz="1200"/>
              <a:t> </a:t>
            </a:r>
            <a:r>
              <a:rPr lang="en-US" sz="1200"/>
              <a:t>рабочих</a:t>
            </a:r>
            <a:r>
              <a:rPr lang="en-US" sz="1200"/>
              <a:t> </a:t>
            </a:r>
            <a:r>
              <a:rPr lang="en-US" sz="1200"/>
              <a:t>вахт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Соблюдение</a:t>
            </a:r>
            <a:r>
              <a:rPr lang="en-US" sz="1200"/>
              <a:t> </a:t>
            </a:r>
            <a:r>
              <a:rPr lang="en-US" sz="1200"/>
              <a:t>норм</a:t>
            </a:r>
            <a:r>
              <a:rPr lang="en-US" sz="1200"/>
              <a:t> </a:t>
            </a:r>
            <a:r>
              <a:rPr lang="en-US" sz="1200"/>
              <a:t>радиационной</a:t>
            </a:r>
            <a:r>
              <a:rPr lang="en-US" sz="1200"/>
              <a:t> </a:t>
            </a:r>
            <a:r>
              <a:rPr lang="en-US" sz="1200"/>
              <a:t>безопасности</a:t>
            </a:r>
            <a:endParaRPr/>
          </a:p>
        </p:txBody>
      </p:sp>
      <p:sp>
        <p:nvSpPr>
          <p:cNvPr id="1849666" name="Текстовое поле 2"/>
          <p:cNvSpPr txBox="1"/>
          <p:nvPr/>
        </p:nvSpPr>
        <p:spPr bwMode="auto">
          <a:xfrm>
            <a:off x="-165100" y="1415415"/>
            <a:ext cx="4902200" cy="2599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 i="1"/>
              <a:t>1. </a:t>
            </a:r>
            <a:r>
              <a:rPr lang="en-US" b="1" i="1"/>
              <a:t>Контроль</a:t>
            </a:r>
            <a:r>
              <a:rPr lang="en-US" b="1" i="1"/>
              <a:t> </a:t>
            </a:r>
            <a:r>
              <a:rPr lang="en-US" b="1" i="1"/>
              <a:t>и</a:t>
            </a:r>
            <a:r>
              <a:rPr lang="en-US" b="1" i="1"/>
              <a:t> </a:t>
            </a:r>
            <a:r>
              <a:rPr lang="en-US" b="1" i="1"/>
              <a:t>защита</a:t>
            </a:r>
            <a:endParaRPr lang="en-US" b="1" i="1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Постоянный</a:t>
            </a:r>
            <a:r>
              <a:rPr lang="en-US" sz="1200"/>
              <a:t> </a:t>
            </a:r>
            <a:r>
              <a:rPr lang="en-US" sz="1200"/>
              <a:t>радиационный</a:t>
            </a:r>
            <a:r>
              <a:rPr lang="en-US" sz="1200"/>
              <a:t> </a:t>
            </a:r>
            <a:r>
              <a:rPr lang="en-US" sz="1200"/>
              <a:t>мониторинг</a:t>
            </a:r>
            <a:r>
              <a:rPr lang="en-US" sz="1200"/>
              <a:t> (</a:t>
            </a:r>
            <a:r>
              <a:rPr lang="en-US" sz="1200"/>
              <a:t>каждые</a:t>
            </a:r>
            <a:r>
              <a:rPr lang="en-US" sz="1200"/>
              <a:t> 6 </a:t>
            </a:r>
            <a:r>
              <a:rPr lang="en-US" sz="1200"/>
              <a:t>часов</a:t>
            </a:r>
            <a:r>
              <a:rPr lang="en-US" sz="1200"/>
              <a:t>)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Герметизация</a:t>
            </a:r>
            <a:r>
              <a:rPr lang="en-US" sz="1200"/>
              <a:t> </a:t>
            </a:r>
            <a:r>
              <a:rPr lang="en-US" sz="1200"/>
              <a:t>служебных</a:t>
            </a:r>
            <a:r>
              <a:rPr lang="en-US" sz="1200"/>
              <a:t> </a:t>
            </a:r>
            <a:r>
              <a:rPr lang="en-US" sz="1200"/>
              <a:t>помещений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Дозиметрический</a:t>
            </a:r>
            <a:r>
              <a:rPr lang="en-US" sz="1200"/>
              <a:t> </a:t>
            </a:r>
            <a:r>
              <a:rPr lang="en-US" sz="1200"/>
              <a:t>контроль</a:t>
            </a:r>
            <a:r>
              <a:rPr lang="en-US" sz="1200"/>
              <a:t> </a:t>
            </a:r>
            <a:r>
              <a:rPr lang="en-US" sz="1200"/>
              <a:t>персонала</a:t>
            </a:r>
            <a:endParaRPr lang="en-US" sz="12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2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sz="1400" b="1" i="1"/>
              <a:t>2. Специальная обработка</a:t>
            </a:r>
            <a:endParaRPr lang="en-US" sz="1400" b="1" i="1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Дезактивация</a:t>
            </a:r>
            <a:r>
              <a:rPr lang="en-US" sz="1200"/>
              <a:t> </a:t>
            </a:r>
            <a:r>
              <a:rPr lang="en-US" sz="1200"/>
              <a:t>критических</a:t>
            </a:r>
            <a:r>
              <a:rPr lang="en-US" sz="1200"/>
              <a:t> </a:t>
            </a:r>
            <a:r>
              <a:rPr lang="en-US" sz="1200"/>
              <a:t>объектов</a:t>
            </a:r>
            <a:r>
              <a:rPr lang="en-US" sz="1200"/>
              <a:t>: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Подходы</a:t>
            </a:r>
            <a:r>
              <a:rPr lang="en-US" sz="1200"/>
              <a:t> </a:t>
            </a:r>
            <a:r>
              <a:rPr lang="en-US" sz="1200"/>
              <a:t>к</a:t>
            </a:r>
            <a:r>
              <a:rPr lang="en-US" sz="1200"/>
              <a:t> </a:t>
            </a:r>
            <a:r>
              <a:rPr lang="en-US" sz="1200"/>
              <a:t>убежищам</a:t>
            </a:r>
            <a:r>
              <a:rPr lang="en-US" sz="1200"/>
              <a:t> </a:t>
            </a:r>
            <a:r>
              <a:rPr lang="en-US" sz="1200"/>
              <a:t>и</a:t>
            </a:r>
            <a:r>
              <a:rPr lang="en-US" sz="1200"/>
              <a:t> </a:t>
            </a:r>
            <a:r>
              <a:rPr lang="en-US" sz="1200"/>
              <a:t>ПРУ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Объекты</a:t>
            </a:r>
            <a:r>
              <a:rPr lang="en-US" sz="1200"/>
              <a:t> </a:t>
            </a:r>
            <a:r>
              <a:rPr lang="en-US" sz="1200"/>
              <a:t>энерго</a:t>
            </a:r>
            <a:r>
              <a:rPr lang="en-US" sz="1200"/>
              <a:t>- </a:t>
            </a:r>
            <a:r>
              <a:rPr lang="en-US" sz="1200"/>
              <a:t>и</a:t>
            </a:r>
            <a:r>
              <a:rPr lang="en-US" sz="1200"/>
              <a:t> </a:t>
            </a:r>
            <a:r>
              <a:rPr lang="en-US" sz="1200"/>
              <a:t>водоснабжения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Развертывание</a:t>
            </a:r>
            <a:r>
              <a:rPr lang="en-US" sz="1200"/>
              <a:t> </a:t>
            </a:r>
            <a:r>
              <a:rPr lang="en-US" sz="1200"/>
              <a:t>станции</a:t>
            </a:r>
            <a:r>
              <a:rPr lang="en-US" sz="1200"/>
              <a:t> </a:t>
            </a:r>
            <a:r>
              <a:rPr lang="en-US" sz="1200"/>
              <a:t>обеззараживания</a:t>
            </a:r>
            <a:r>
              <a:rPr lang="en-US" sz="1200"/>
              <a:t> </a:t>
            </a:r>
            <a:r>
              <a:rPr lang="en-US" sz="1200"/>
              <a:t>транспорта</a:t>
            </a:r>
            <a:r>
              <a:rPr lang="en-US" sz="1200"/>
              <a:t> </a:t>
            </a:r>
            <a:endParaRPr lang="en-US" sz="1200"/>
          </a:p>
          <a:p>
            <a:pPr marL="62865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/>
              <a:t>Организация</a:t>
            </a:r>
            <a:r>
              <a:rPr lang="en-US" sz="1200"/>
              <a:t> </a:t>
            </a:r>
            <a:r>
              <a:rPr lang="en-US" sz="1200"/>
              <a:t>санитарно</a:t>
            </a:r>
            <a:r>
              <a:rPr lang="en-US" sz="1200"/>
              <a:t>-</a:t>
            </a:r>
            <a:r>
              <a:rPr lang="en-US" sz="1200"/>
              <a:t>обмывочного</a:t>
            </a:r>
            <a:r>
              <a:rPr lang="en-US" sz="1200"/>
              <a:t> </a:t>
            </a:r>
            <a:r>
              <a:rPr lang="en-US" sz="1200"/>
              <a:t>пункта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236430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Литература </a:t>
            </a:r>
            <a:endParaRPr/>
          </a:p>
        </p:txBody>
      </p:sp>
      <p:sp>
        <p:nvSpPr>
          <p:cNvPr id="183902145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24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99535941" name="Прямоугольник 1"/>
          <p:cNvSpPr/>
          <p:nvPr/>
        </p:nvSpPr>
        <p:spPr bwMode="auto">
          <a:xfrm>
            <a:off x="347072" y="1012987"/>
            <a:ext cx="856327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defRPr/>
            </a:pPr>
            <a:r>
              <a:rPr lang="ru-RU" sz="1600">
                <a:latin typeface="Times New Roman"/>
              </a:rPr>
              <a:t>1. Воздвиженский Ю. М., Панихидников С. А. Безопасность жизнедеятельности на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предприятиях связи в условиях чрезвычайных ситуациях / СПбГУТ. – СПб., 2013.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2. Воздвиженский Ю.М. Методические рекомендации для практических занятий и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задания для студентов всех направлений (специальностей) по оценке устойчивости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функционирования объектов связи в чрезвычайных ситуациях/Ю. М. Воздвиженский, В. А.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Феоктистов, В. К. Иванов. СПбГУТ, – СПб., 2014.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3. Воздвиженский Ю. М. Безопасность жизнедеятельности на предприятиях связи /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Ю.М. Воздвиженский, Н. Н Короткова, Е. Н. Костромина, С.А. Овчинников, Г. Н. </a:t>
            </a:r>
            <a:r>
              <a:rPr lang="ru-RU" sz="1600">
                <a:latin typeface="Times New Roman"/>
              </a:rPr>
              <a:t>Бучин</a:t>
            </a:r>
            <a:r>
              <a:rPr lang="ru-RU" sz="1600">
                <a:latin typeface="Times New Roman"/>
              </a:rPr>
              <a:t>.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СПбГУТ, – СПб., 2009.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4. Воздвиженский Ю. М., Короткова Н.А. Безопасность жизнедеятельности. Некоторые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аспекты психологии поведения человека в чрезвычайных ситуациях./ СПбГУТ. –СПб., 2005.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5. Нормы радиационной безопасности (НРБ-99): Гигиенические нормативы. – М.: Центр санитарно-эпидемиологического нормирования, гигиенической сертификации и экспертизы Минздрава России, 1999. – 116 с.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166079" name="Google Shape;27;p5"/>
          <p:cNvSpPr txBox="1">
            <a:spLocks noGrp="1"/>
          </p:cNvSpPr>
          <p:nvPr>
            <p:ph type="title"/>
          </p:nvPr>
        </p:nvSpPr>
        <p:spPr bwMode="auto">
          <a:xfrm>
            <a:off x="410014" y="1383029"/>
            <a:ext cx="5631300" cy="1307400"/>
          </a:xfrm>
          <a:prstGeom prst="rect">
            <a:avLst/>
          </a:prstGeom>
        </p:spPr>
        <p:txBody>
          <a:bodyPr spcFirstLastPara="1" wrap="square" lIns="19025" tIns="19025" rIns="19025" bIns="190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000" b="1"/>
              <a:t>Спасибо за внимание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4000" b="1"/>
          </a:p>
        </p:txBody>
      </p:sp>
      <p:sp>
        <p:nvSpPr>
          <p:cNvPr id="1334773141" name="Google Shape;28;p5"/>
          <p:cNvSpPr txBox="1">
            <a:spLocks noGrp="1"/>
          </p:cNvSpPr>
          <p:nvPr>
            <p:ph type="body" idx="1"/>
          </p:nvPr>
        </p:nvSpPr>
        <p:spPr bwMode="auto">
          <a:xfrm>
            <a:off x="293279" y="4175344"/>
            <a:ext cx="7810500" cy="4464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/>
              <a:t>дата</a:t>
            </a:r>
            <a:endParaRPr sz="2200"/>
          </a:p>
        </p:txBody>
      </p:sp>
      <p:sp>
        <p:nvSpPr>
          <p:cNvPr id="1744409393" name="Google Shape;29;p5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25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</dc:title>
  <dc:creator/>
  <cp:lastModifiedBy/>
  <cp:revision>4</cp:revision>
  <dcterms:created xsi:type="dcterms:W3CDTF">2025-11-12T07:27:00Z</dcterms:created>
  <dcterms:modified xsi:type="dcterms:W3CDTF">2025-12-02T11:31:33Z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BE353808599F40A197F462CC795B46B4_12</vt:lpwstr>
  </property>
  <property fmtid="{D5CDD505-2E9C-101B-9397-08002B2CF9AE}" pid="3" name="KSOProductBuildVer">
    <vt:lpwstr>1049-12.2.0.23155</vt:lpwstr>
  </property>
</Properties>
</file>