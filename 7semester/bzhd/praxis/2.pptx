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howSpecialPlsOnTitleSld="0" strictFirstAndLastChars="0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2"/>
          <a:sy n="1" d="2"/>
        </p:scale>
        <p:origin x="0" y="0"/>
      </p:cViewPr>
      <p:guideLst>
        <p:guide pos="1672" orient="horz"/>
        <p:guide pos="284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990166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0537910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375321" name="Google Shape;24;gc4718ee165_0_3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276351" name="Google Shape;25;gc4718ee165_0_3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30933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698663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271989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116870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053213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6305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527750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115832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129868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293858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829486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091102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916634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223092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653876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635184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60461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881822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18127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701398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835555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08936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731660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354265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03466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330080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376841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708054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082811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714218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309720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824951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386013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099697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952484" name="Google Shape;31;ga236f8d042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335599" name="Google Shape;32;ga236f8d042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370276" name="Google Shape;24;gc4718ee165_0_3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331546" name="Google Shape;25;gc4718ee165_0_3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range" preserve="0" showMasterPhAnim="0" showMasterSp="0" type="tx" userDrawn="1">
  <p:cSld name="TITLE_AND_BODY">
    <p:bg>
      <p:bgPr shadeToTitle="0">
        <a:gradFill>
          <a:gsLst>
            <a:gs pos="0">
              <a:srgbClr val="F67F00"/>
            </a:gs>
            <a:gs pos="100000">
              <a:srgbClr val="FFAE3B"/>
            </a:gs>
          </a:gsLst>
          <a:lin ang="7465411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0551302" name="Google Shape;12;p2"/>
          <p:cNvPicPr/>
          <p:nvPr/>
        </p:nvPicPr>
        <p:blipFill rotWithShape="1">
          <a:blip r:embed="rId2"/>
          <a:srcRect l="0" t="59" r="0" b="58"/>
          <a:stretch/>
        </p:blipFill>
        <p:spPr bwMode="auto">
          <a:xfrm>
            <a:off x="333137" y="1118462"/>
            <a:ext cx="11934523" cy="4445077"/>
          </a:xfrm>
          <a:prstGeom prst="rect">
            <a:avLst/>
          </a:prstGeom>
          <a:noFill/>
          <a:ln>
            <a:noFill/>
          </a:ln>
        </p:spPr>
      </p:pic>
      <p:sp>
        <p:nvSpPr>
          <p:cNvPr id="1144121844" name="Google Shape;13;p2"/>
          <p:cNvSpPr txBox="1">
            <a:spLocks noGrp="1"/>
          </p:cNvSpPr>
          <p:nvPr>
            <p:ph type="title"/>
          </p:nvPr>
        </p:nvSpPr>
        <p:spPr bwMode="auto">
          <a:xfrm>
            <a:off x="448925" y="118500"/>
            <a:ext cx="5631300" cy="13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  <a:defRPr sz="4200" b="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9pPr>
          </a:lstStyle>
          <a:p>
            <a:pPr>
              <a:defRPr/>
            </a:pPr>
            <a:endParaRPr/>
          </a:p>
        </p:txBody>
      </p:sp>
      <p:sp>
        <p:nvSpPr>
          <p:cNvPr id="16724403" name="Google Shape;14;p2"/>
          <p:cNvSpPr txBox="1">
            <a:spLocks noGrp="1"/>
          </p:cNvSpPr>
          <p:nvPr>
            <p:ph type="body" idx="1"/>
          </p:nvPr>
        </p:nvSpPr>
        <p:spPr bwMode="auto">
          <a:xfrm>
            <a:off x="448922" y="1840706"/>
            <a:ext cx="7810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2131558560" name="Google Shape;15;p2" descr="Image"/>
          <p:cNvPicPr/>
          <p:nvPr/>
        </p:nvPicPr>
        <p:blipFill rotWithShape="1">
          <a:blip r:embed="rId3"/>
          <a:stretch/>
        </p:blipFill>
        <p:spPr bwMode="auto">
          <a:xfrm>
            <a:off x="7072071" y="359811"/>
            <a:ext cx="1637378" cy="421928"/>
          </a:xfrm>
          <a:prstGeom prst="rect">
            <a:avLst/>
          </a:prstGeom>
          <a:noFill/>
          <a:ln>
            <a:noFill/>
          </a:ln>
        </p:spPr>
      </p:pic>
      <p:sp>
        <p:nvSpPr>
          <p:cNvPr id="762121508" name="Google Shape;16;p2"/>
          <p:cNvSpPr txBox="1">
            <a:spLocks noGrp="1"/>
          </p:cNvSpPr>
          <p:nvPr>
            <p:ph type="sldNum" idx="12"/>
          </p:nvPr>
        </p:nvSpPr>
        <p:spPr bwMode="auto">
          <a:xfrm>
            <a:off x="8709450" y="482203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" preserve="0" showMasterPhAnim="0" showMasterSp="1" userDrawn="1">
  <p:cSld name="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719186" name="Google Shape;18;p3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1300"/>
              <a:buNone/>
              <a:defRPr sz="2400">
                <a:solidFill>
                  <a:srgbClr val="FF9400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3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3670364" name="Google Shape;19;p3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034797880" name="Google Shape;20;p3"/>
          <p:cNvSpPr txBox="1">
            <a:spLocks noGrp="1"/>
          </p:cNvSpPr>
          <p:nvPr>
            <p:ph type="body" idx="1"/>
          </p:nvPr>
        </p:nvSpPr>
        <p:spPr bwMode="auto">
          <a:xfrm>
            <a:off x="439845" y="1066280"/>
            <a:ext cx="8264400" cy="3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200" lvl="0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●"/>
              <a:defRPr/>
            </a:lvl1pPr>
            <a:lvl2pPr marL="914400" lvl="1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○"/>
              <a:defRPr/>
            </a:lvl2pPr>
            <a:lvl3pPr marL="1371600" lvl="2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■"/>
              <a:defRPr/>
            </a:lvl3pPr>
            <a:lvl4pPr marL="1828800" lvl="3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●"/>
              <a:defRPr/>
            </a:lvl4pPr>
            <a:lvl5pPr marL="2286000" lvl="4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○"/>
              <a:defRPr/>
            </a:lvl5pPr>
            <a:lvl6pPr marL="2743200" lvl="5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■"/>
              <a:defRPr/>
            </a:lvl6pPr>
            <a:lvl7pPr marL="3200400" lvl="6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●"/>
              <a:defRPr/>
            </a:lvl7pPr>
            <a:lvl8pPr marL="3657600" lvl="7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○"/>
              <a:defRPr/>
            </a:lvl8pPr>
            <a:lvl9pPr marL="4114800" lvl="8" indent="-31115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076602" name="Google Shape;22;p4"/>
          <p:cNvSpPr txBox="1">
            <a:spLocks noGrp="1"/>
          </p:cNvSpPr>
          <p:nvPr>
            <p:ph type="sldNum" idx="12"/>
          </p:nvPr>
        </p:nvSpPr>
        <p:spPr bwMode="auto">
          <a:xfrm>
            <a:off x="4363668" y="4321968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55773" name="Rectangle 5"/>
          <p:cNvSpPr>
            <a:spLocks noChangeArrowheads="1" noGrp="1"/>
          </p:cNvSpPr>
          <p:nvPr>
            <p:ph type="sldNum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9498F59-BA0C-47CB-9C3C-0E673DEB4FD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7744323" name="Google Shape;6;p1"/>
          <p:cNvPicPr/>
          <p:nvPr/>
        </p:nvPicPr>
        <p:blipFill rotWithShape="1">
          <a:blip r:embed="rId6"/>
          <a:srcRect l="0" t="59" r="0" b="58"/>
          <a:stretch/>
        </p:blipFill>
        <p:spPr bwMode="auto">
          <a:xfrm>
            <a:off x="333137" y="1118462"/>
            <a:ext cx="11934523" cy="4445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34885006" name="Google Shape;7;p1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4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FF94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06766223" name="Google Shape;8;p1" descr="Image"/>
          <p:cNvPicPr/>
          <p:nvPr/>
        </p:nvPicPr>
        <p:blipFill rotWithShape="1">
          <a:blip r:embed="rId7"/>
          <a:stretch/>
        </p:blipFill>
        <p:spPr bwMode="auto">
          <a:xfrm>
            <a:off x="7068462" y="359810"/>
            <a:ext cx="1635792" cy="421522"/>
          </a:xfrm>
          <a:prstGeom prst="rect">
            <a:avLst/>
          </a:prstGeom>
          <a:noFill/>
          <a:ln>
            <a:noFill/>
          </a:ln>
        </p:spPr>
      </p:pic>
      <p:sp>
        <p:nvSpPr>
          <p:cNvPr id="1210747500" name="Google Shape;9;p1"/>
          <p:cNvSpPr txBox="1">
            <a:spLocks noGrp="1"/>
          </p:cNvSpPr>
          <p:nvPr>
            <p:ph type="body" idx="1"/>
          </p:nvPr>
        </p:nvSpPr>
        <p:spPr bwMode="auto">
          <a:xfrm>
            <a:off x="439845" y="1066280"/>
            <a:ext cx="8264400" cy="3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2pPr>
            <a:lvl3pPr marL="1371600" marR="0" lvl="2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4pPr>
            <a:lvl5pPr marL="2286000" marR="0" lvl="4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5pPr>
            <a:lvl6pPr marL="2743200" marR="0" lvl="5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6pPr>
            <a:lvl7pPr marL="3200400" marR="0" lvl="6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7pPr>
            <a:lvl8pPr marL="3657600" marR="0" lvl="7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8pPr>
            <a:lvl9pPr marL="4114800" marR="0" lvl="8" indent="-2286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08434894" name="Google Shape;10;p1"/>
          <p:cNvSpPr txBox="1">
            <a:spLocks noGrp="1"/>
          </p:cNvSpPr>
          <p:nvPr>
            <p:ph type="sldNum" idx="12"/>
          </p:nvPr>
        </p:nvSpPr>
        <p:spPr bwMode="auto">
          <a:xfrm>
            <a:off x="174900" y="482203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228238" name="Google Shape;29;p5"/>
          <p:cNvSpPr txBox="1">
            <a:spLocks noGrp="1"/>
          </p:cNvSpPr>
          <p:nvPr>
            <p:ph type="sldNum" idx="12"/>
          </p:nvPr>
        </p:nvSpPr>
        <p:spPr bwMode="auto">
          <a:xfrm>
            <a:off x="8709450" y="482203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799894379" name="Текст 5"/>
          <p:cNvSpPr txBox="1"/>
          <p:nvPr/>
        </p:nvSpPr>
        <p:spPr bwMode="auto">
          <a:xfrm>
            <a:off x="0" y="16990"/>
            <a:ext cx="7144775" cy="4540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2000" b="0">
                <a:solidFill>
                  <a:schemeClr val="bg1"/>
                </a:solidFill>
                <a:latin typeface="+mn-lt"/>
              </a:rPr>
              <a:t>Кафедра</a:t>
            </a:r>
            <a:r>
              <a:rPr lang="ru-RU" sz="2000" b="0">
                <a:solidFill>
                  <a:schemeClr val="bg1"/>
                </a:solidFill>
              </a:rPr>
              <a:t> </a:t>
            </a:r>
            <a:r>
              <a:rPr lang="ru-RU" sz="2000" b="0">
                <a:solidFill>
                  <a:schemeClr val="bg1"/>
                </a:solidFill>
                <a:latin typeface="+mn-lt"/>
              </a:rPr>
              <a:t>экологической безопасности телекоммуникаций </a:t>
            </a:r>
            <a:endParaRPr/>
          </a:p>
        </p:txBody>
      </p:sp>
      <p:sp>
        <p:nvSpPr>
          <p:cNvPr id="949783367" name="Текст 5"/>
          <p:cNvSpPr txBox="1"/>
          <p:nvPr/>
        </p:nvSpPr>
        <p:spPr bwMode="auto">
          <a:xfrm>
            <a:off x="-164823" y="343922"/>
            <a:ext cx="7339013" cy="455613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>
            <a:lvl1pPr>
              <a:spcBef>
                <a:spcPts val="0"/>
              </a:spcBef>
              <a:buClr>
                <a:srgbClr val="DD7E0E"/>
              </a:buClr>
              <a:buSzPct val="80000"/>
              <a:buFont typeface="Wingdings"/>
              <a:buChar char="§"/>
              <a:tabLst>
                <a:tab pos="179070" algn="l"/>
              </a:tabLst>
              <a:defRPr sz="2200">
                <a:solidFill>
                  <a:schemeClr val="tx1"/>
                </a:solidFill>
                <a:latin typeface="Arial"/>
                <a:cs typeface="Arial"/>
              </a:defRPr>
            </a:lvl1pPr>
            <a:lvl2pPr indent="-273050">
              <a:spcBef>
                <a:spcPts val="0"/>
              </a:spcBef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cs typeface="Arial"/>
              </a:defRPr>
            </a:lvl2pPr>
            <a:lvl3pPr indent="-179705">
              <a:spcBef>
                <a:spcPts val="0"/>
              </a:spcBef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cs typeface="Arial"/>
              </a:defRPr>
            </a:lvl3pPr>
            <a:lvl4pPr indent="-179705">
              <a:spcBef>
                <a:spcPts val="0"/>
              </a:spcBef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cs typeface="Arial"/>
              </a:defRPr>
            </a:lvl4pPr>
            <a:lvl5pPr indent="-273050">
              <a:spcBef>
                <a:spcPts val="0"/>
              </a:spcBef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5pPr>
            <a:lvl6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6pPr>
            <a:lvl7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7pPr>
            <a:lvl8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8pPr>
            <a:lvl9pPr indent="-27305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cs typeface="Arial"/>
              </a:defRPr>
            </a:lvl9pPr>
          </a:lstStyle>
          <a:p>
            <a:pPr algn="ctr">
              <a:lnSpc>
                <a:spcPct val="80000"/>
              </a:lnSpc>
              <a:spcBef>
                <a:spcPts val="0"/>
              </a:spcBef>
              <a:buSzTx/>
              <a:buFontTx/>
              <a:buNone/>
              <a:defRPr/>
            </a:pPr>
            <a:r>
              <a:rPr lang="ru-RU" sz="2000">
                <a:solidFill>
                  <a:schemeClr val="bg1"/>
                </a:solidFill>
                <a:latin typeface="+mn-lt"/>
                <a:ea typeface="+mn-ea"/>
              </a:rPr>
              <a:t>Дисциплина «Безопасность жизнедеятельности»</a:t>
            </a:r>
            <a:endParaRPr/>
          </a:p>
        </p:txBody>
      </p:sp>
      <p:sp>
        <p:nvSpPr>
          <p:cNvPr id="412165630" name="Текст 5"/>
          <p:cNvSpPr txBox="1"/>
          <p:nvPr/>
        </p:nvSpPr>
        <p:spPr bwMode="auto">
          <a:xfrm>
            <a:off x="238551" y="1036739"/>
            <a:ext cx="8799580" cy="110287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800" b="0">
                <a:solidFill>
                  <a:schemeClr val="bg1"/>
                </a:solidFill>
              </a:rPr>
              <a:t>Тема : Оценка устойчивости функционирования объектов экономики и безопасности жизнедеятельности населения и персонала в прогнозируемых условиях  чрезвычайных ситуаций: поражающие факторы, возникающие в результате взрыва.</a:t>
            </a: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1816954203" name="TextBox 1"/>
          <p:cNvSpPr txBox="1">
            <a:spLocks noChangeArrowheads="1"/>
          </p:cNvSpPr>
          <p:nvPr/>
        </p:nvSpPr>
        <p:spPr bwMode="auto">
          <a:xfrm>
            <a:off x="371752" y="3448721"/>
            <a:ext cx="6805676" cy="1128119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defRPr/>
            </a:pPr>
            <a:endParaRPr lang="ru-RU">
              <a:solidFill>
                <a:schemeClr val="bg2">
                  <a:lumMod val="50000"/>
                </a:schemeClr>
              </a:solidFill>
            </a:endParaRPr>
          </a:p>
          <a:p>
            <a:pPr>
              <a:buClr>
                <a:schemeClr val="accent2">
                  <a:lumMod val="75000"/>
                </a:schemeClr>
              </a:buClr>
              <a:buSzPct val="80000"/>
              <a:defRPr/>
            </a:pPr>
            <a:r>
              <a:rPr lang="ru-RU" sz="1800">
                <a:solidFill>
                  <a:schemeClr val="bg1"/>
                </a:solidFill>
                <a:latin typeface="+mn-lt"/>
                <a:ea typeface="+mn-ea"/>
                <a:cs typeface="Arial"/>
              </a:rPr>
              <a:t>Группа: ИКПИ-23</a:t>
            </a:r>
            <a:endParaRPr/>
          </a:p>
          <a:p>
            <a:pPr>
              <a:buClr>
                <a:schemeClr val="accent2">
                  <a:lumMod val="75000"/>
                </a:schemeClr>
              </a:buClr>
              <a:buSzPct val="80000"/>
              <a:defRPr/>
            </a:pPr>
            <a:r>
              <a:rPr lang="ru-RU" sz="1800">
                <a:solidFill>
                  <a:schemeClr val="bg1"/>
                </a:solidFill>
                <a:latin typeface="+mn-lt"/>
                <a:ea typeface="+mn-ea"/>
              </a:rPr>
              <a:t>Выполнил: студент Даненко  А.А.</a:t>
            </a:r>
            <a:endParaRPr/>
          </a:p>
          <a:p>
            <a:pPr>
              <a:buClr>
                <a:schemeClr val="accent2">
                  <a:lumMod val="75000"/>
                </a:schemeClr>
              </a:buClr>
              <a:buSzPct val="80000"/>
              <a:defRPr/>
            </a:pPr>
            <a:r>
              <a:rPr lang="ru-RU" sz="1800">
                <a:solidFill>
                  <a:schemeClr val="bg1"/>
                </a:solidFill>
                <a:latin typeface="+mn-lt"/>
                <a:ea typeface="+mn-ea"/>
                <a:cs typeface="Arial"/>
              </a:rPr>
              <a:t>Преподаватель: к. воен. н., доц. О.Л. Мальцева</a:t>
            </a:r>
            <a:endParaRPr/>
          </a:p>
        </p:txBody>
      </p:sp>
      <p:sp>
        <p:nvSpPr>
          <p:cNvPr id="1682140518" name="Текст 5"/>
          <p:cNvSpPr txBox="1"/>
          <p:nvPr/>
        </p:nvSpPr>
        <p:spPr bwMode="auto">
          <a:xfrm>
            <a:off x="2548038" y="4569388"/>
            <a:ext cx="3532187" cy="4556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400" b="0">
                <a:solidFill>
                  <a:schemeClr val="bg1"/>
                </a:solidFill>
                <a:latin typeface="+mn-lt"/>
              </a:rPr>
              <a:t>Санкт-Петербург 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400" b="0">
                <a:solidFill>
                  <a:schemeClr val="bg1"/>
                </a:solidFill>
                <a:latin typeface="+mn-lt"/>
              </a:rPr>
              <a:t>2025</a:t>
            </a:r>
            <a:endParaRPr lang="ru-RU" sz="1400">
              <a:solidFill>
                <a:schemeClr val="bg1"/>
              </a:solidFill>
              <a:latin typeface="+mn-lt"/>
              <a:cs typeface="Times New Roman"/>
            </a:endParaRPr>
          </a:p>
        </p:txBody>
      </p:sp>
      <p:sp>
        <p:nvSpPr>
          <p:cNvPr id="691636680" name="Текст 5"/>
          <p:cNvSpPr txBox="1"/>
          <p:nvPr/>
        </p:nvSpPr>
        <p:spPr bwMode="auto">
          <a:xfrm>
            <a:off x="238551" y="2377949"/>
            <a:ext cx="8799580" cy="56548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SzPct val="80000"/>
              <a:buFont typeface="Wingdings"/>
              <a:buNone/>
              <a:defRPr sz="2800" b="1">
                <a:solidFill>
                  <a:schemeClr val="accent2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538480" indent="-273050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–"/>
              <a:defRPr sz="28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717550" indent="-179705" algn="l" rtl="0">
              <a:spcBef>
                <a:spcPts val="0"/>
              </a:spcBef>
              <a:spcAft>
                <a:spcPts val="0"/>
              </a:spcAft>
              <a:buClr>
                <a:srgbClr val="DD7E0E"/>
              </a:buClr>
              <a:buFont typeface="Arial"/>
              <a:buChar char="•"/>
              <a:defRPr sz="16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3pPr>
            <a:lvl4pPr marL="897254" indent="-179705" algn="l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4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4pPr>
            <a:lvl5pPr marL="1076325" indent="-273050" algn="l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200">
                <a:solidFill>
                  <a:srgbClr val="595959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  <a:buClr>
                <a:schemeClr val="accent2">
                  <a:lumMod val="75000"/>
                </a:schemeClr>
              </a:buClr>
              <a:defRPr/>
            </a:pPr>
            <a:r>
              <a:rPr lang="ru-RU" sz="1800" b="0">
                <a:solidFill>
                  <a:schemeClr val="bg1"/>
                </a:solidFill>
                <a:latin typeface="Arial"/>
                <a:cs typeface="Arial"/>
              </a:rPr>
              <a:t>Задача 2 : Оценка БЖД людей и устойчивости функционирования объекта в </a:t>
            </a:r>
            <a:r>
              <a:rPr lang="ru-RU" sz="1800" b="0">
                <a:solidFill>
                  <a:schemeClr val="bg1"/>
                </a:solidFill>
                <a:latin typeface="Arial"/>
                <a:cs typeface="Arial"/>
              </a:rPr>
              <a:t>случаях воздействия УВ, СИ и сейсмической волны.</a:t>
            </a:r>
            <a:endParaRPr lang="ru-RU" sz="180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852908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/>
              <a:t>Содержание </a:t>
            </a:r>
            <a:endParaRPr/>
          </a:p>
        </p:txBody>
      </p:sp>
      <p:sp>
        <p:nvSpPr>
          <p:cNvPr id="1214715781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56195933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39800" y="910163"/>
            <a:ext cx="8264400" cy="37503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Введение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1. Общая характеристика объекта связи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2. Исходные данные для расчета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3. Оценка общей обстановки на объекте связи в случае ЧС</a:t>
            </a:r>
            <a:endParaRPr sz="2000" b="1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/>
              <a:t>4. Задачи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/>
              <a:t>5. Расчеты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/>
              <a:t>6. Результаты расчетов</a:t>
            </a:r>
            <a:endParaRPr/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 b="1"/>
              <a:t>Выводы</a:t>
            </a:r>
            <a:endParaRPr/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 b="1"/>
              <a:t>Инженерно-технические мероприятия</a:t>
            </a:r>
            <a:endParaRPr/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 b="1"/>
              <a:t>Литература </a:t>
            </a:r>
            <a:endParaRPr sz="20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954315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Введение</a:t>
            </a:r>
            <a:endParaRPr/>
          </a:p>
        </p:txBody>
      </p:sp>
      <p:sp>
        <p:nvSpPr>
          <p:cNvPr id="1192812482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3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096237012" name="TextBox 3"/>
          <p:cNvSpPr txBox="1"/>
          <p:nvPr/>
        </p:nvSpPr>
        <p:spPr bwMode="auto">
          <a:xfrm>
            <a:off x="484765" y="816426"/>
            <a:ext cx="844764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/>
              <a:t>Товарищ преподаватель, главным инженером СУС </a:t>
            </a:r>
            <a:r>
              <a:rPr lang="ru-RU" sz="1800"/>
              <a:t>н.п</a:t>
            </a:r>
            <a:r>
              <a:rPr lang="ru-RU" sz="1800"/>
              <a:t>. Васильковым Андреем Алексеевичем при уяснении задачи и оценки обстановки </a:t>
            </a:r>
            <a:r>
              <a:rPr lang="ru-RU" sz="1800" b="1"/>
              <a:t>варианта №85</a:t>
            </a:r>
            <a:r>
              <a:rPr lang="ru-RU" sz="1800"/>
              <a:t> было выявлено:</a:t>
            </a:r>
            <a:br>
              <a:rPr lang="ru-RU" sz="1800"/>
            </a:br>
            <a:r>
              <a:rPr lang="ru-RU" sz="1800"/>
              <a:t>  в результате нарушения правил хранения горюче-смазочных материалов(ГСМ) на складе произошел взрыв хранилища </a:t>
            </a:r>
            <a:r>
              <a:rPr lang="ru-RU" sz="1800"/>
              <a:t>дизильного</a:t>
            </a:r>
            <a:r>
              <a:rPr lang="ru-RU" sz="1800"/>
              <a:t> топлива на территории объекта - взрыв газовоздушной смени(ГВМ).</a:t>
            </a:r>
            <a:endParaRPr/>
          </a:p>
          <a:p>
            <a:pPr>
              <a:defRPr/>
            </a:pPr>
            <a:endParaRPr lang="ru-RU" sz="1800"/>
          </a:p>
          <a:p>
            <a:pPr>
              <a:defRPr/>
            </a:pPr>
            <a:r>
              <a:rPr lang="ru-RU" sz="1800"/>
              <a:t> R2 = </a:t>
            </a:r>
            <a:r>
              <a:rPr lang="ru-RU" sz="1800" b="1"/>
              <a:t>0.6</a:t>
            </a:r>
            <a:r>
              <a:rPr lang="ru-RU" sz="1800"/>
              <a:t> км - расстояние до места взрыва</a:t>
            </a:r>
            <a:endParaRPr/>
          </a:p>
          <a:p>
            <a:pPr>
              <a:defRPr/>
            </a:pPr>
            <a:r>
              <a:rPr lang="ru-RU" sz="1800"/>
              <a:t> Q = </a:t>
            </a:r>
            <a:r>
              <a:rPr lang="ru-RU" sz="1800" b="1"/>
              <a:t>70</a:t>
            </a:r>
            <a:r>
              <a:rPr lang="ru-RU" sz="1800"/>
              <a:t> т - количество ТНТ на складе промышленных ВВ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885628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>
              <a:defRPr/>
            </a:pPr>
            <a:r>
              <a:rPr lang="en-US"/>
              <a:t>1. </a:t>
            </a:r>
            <a:r>
              <a:rPr lang="ru-RU"/>
              <a:t>Общая характеристика объекта связи</a:t>
            </a:r>
            <a:br>
              <a:rPr lang="ru-RU"/>
            </a:br>
            <a:endParaRPr/>
          </a:p>
        </p:txBody>
      </p:sp>
      <p:sp>
        <p:nvSpPr>
          <p:cNvPr id="1361618026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4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161000996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42927" y="904130"/>
            <a:ext cx="8264400" cy="3732639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indent="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1. Объект связи (СУС) размещается на окраине </a:t>
            </a:r>
            <a:r>
              <a:rPr lang="ru-RU" sz="1400" b="1" i="1"/>
              <a:t>н.п</a:t>
            </a:r>
            <a:r>
              <a:rPr lang="ru-RU" sz="1400" b="1" i="1"/>
              <a:t>. Перекаты</a:t>
            </a:r>
            <a:r>
              <a:rPr lang="ru-RU" sz="1400"/>
              <a:t>, в котором проживают</a:t>
            </a:r>
            <a:r>
              <a:rPr lang="en-US" sz="1400"/>
              <a:t> </a:t>
            </a:r>
            <a:r>
              <a:rPr lang="ru-RU" sz="1400" b="1" i="1"/>
              <a:t>Nнп</a:t>
            </a:r>
            <a:r>
              <a:rPr lang="ru-RU" sz="1400" b="1" i="1"/>
              <a:t> = 500 </a:t>
            </a:r>
            <a:r>
              <a:rPr lang="ru-RU" sz="1400"/>
              <a:t>человек. Жители </a:t>
            </a:r>
            <a:r>
              <a:rPr lang="ru-RU" sz="1400"/>
              <a:t>н.п</a:t>
            </a:r>
            <a:r>
              <a:rPr lang="ru-RU" sz="1400"/>
              <a:t>. обеспечены  противогазами на 7</a:t>
            </a:r>
            <a:r>
              <a:rPr lang="ru-RU" sz="1400" b="1" i="1"/>
              <a:t>5%</a:t>
            </a:r>
            <a:r>
              <a:rPr lang="ru-RU" sz="1400"/>
              <a:t> .</a:t>
            </a:r>
            <a:endParaRPr/>
          </a:p>
          <a:p>
            <a:pPr marL="0" indent="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2. </a:t>
            </a:r>
            <a:r>
              <a:rPr lang="ru-RU" sz="1400"/>
              <a:t>Жилые дома в </a:t>
            </a:r>
            <a:r>
              <a:rPr lang="ru-RU" sz="1400" b="1" i="1"/>
              <a:t>н.п</a:t>
            </a:r>
            <a:r>
              <a:rPr lang="ru-RU" sz="1400" b="1" i="1"/>
              <a:t>. Перекаты </a:t>
            </a:r>
            <a:r>
              <a:rPr lang="ru-RU" sz="1400"/>
              <a:t>одноэтажные деревянные</a:t>
            </a:r>
            <a:r>
              <a:rPr lang="ru-RU" sz="1400" b="1" i="1"/>
              <a:t>,  </a:t>
            </a:r>
            <a:r>
              <a:rPr lang="ru-RU" sz="1400"/>
              <a:t>2- и 4-  этажные из кирпича с</a:t>
            </a:r>
            <a:r>
              <a:rPr lang="ru-RU" sz="1400"/>
              <a:t> </a:t>
            </a:r>
            <a:r>
              <a:rPr lang="en-US" sz="1400"/>
              <a:t>	</a:t>
            </a:r>
            <a:r>
              <a:rPr lang="ru-RU" sz="1400" b="1" i="1"/>
              <a:t>Косл</a:t>
            </a:r>
            <a:r>
              <a:rPr lang="ru-RU" sz="1400" b="1" i="1"/>
              <a:t> =</a:t>
            </a:r>
            <a:r>
              <a:rPr lang="ru-RU" sz="1400"/>
              <a:t> 7.</a:t>
            </a:r>
            <a:endParaRPr/>
          </a:p>
          <a:p>
            <a:pPr marL="0" indent="45720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3. Здания объекта связи 4</a:t>
            </a:r>
            <a:r>
              <a:rPr lang="ru-RU" sz="1400" b="1" i="1"/>
              <a:t>–этажные</a:t>
            </a:r>
            <a:r>
              <a:rPr lang="ru-RU" sz="1400"/>
              <a:t> из </a:t>
            </a:r>
            <a:r>
              <a:rPr lang="ru-RU" sz="1400" b="1" i="1"/>
              <a:t>железобетона</a:t>
            </a:r>
            <a:r>
              <a:rPr lang="ru-RU" sz="1400"/>
              <a:t> с коэффициентом ослабления </a:t>
            </a:r>
            <a:r>
              <a:rPr lang="en-US" sz="1400"/>
              <a:t>	</a:t>
            </a:r>
            <a:r>
              <a:rPr lang="ru-RU" sz="1400" b="1" i="1"/>
              <a:t>Косл</a:t>
            </a:r>
            <a:r>
              <a:rPr lang="ru-RU" sz="1400" b="1" i="1"/>
              <a:t> =</a:t>
            </a:r>
            <a:r>
              <a:rPr lang="ru-RU" sz="1400"/>
              <a:t> 7. </a:t>
            </a:r>
            <a:endParaRPr/>
          </a:p>
          <a:p>
            <a:pPr marL="0" indent="45720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4. Подвод электроэнергии к объекту связи осуществляется</a:t>
            </a:r>
            <a:r>
              <a:rPr lang="en-US" sz="1400"/>
              <a:t> </a:t>
            </a:r>
            <a:r>
              <a:rPr lang="ru-RU" sz="1400" b="1" i="1"/>
              <a:t>от 2 независимых</a:t>
            </a:r>
            <a:r>
              <a:rPr lang="en-US" sz="1400" b="1" i="1"/>
              <a:t> </a:t>
            </a:r>
            <a:r>
              <a:rPr lang="ru-RU" sz="1400" b="1" i="1"/>
              <a:t>трансформаторных подстанций на ЛЭП</a:t>
            </a:r>
            <a:r>
              <a:rPr lang="ru-RU" sz="1400"/>
              <a:t> подземным кабелем.</a:t>
            </a:r>
            <a:endParaRPr/>
          </a:p>
          <a:p>
            <a:pPr marL="0" indent="45720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5. Аварийная дизель-электрическая станция (ДЭС) размещается на территории объекта в</a:t>
            </a:r>
            <a:r>
              <a:rPr lang="en-US" sz="1400"/>
              <a:t> </a:t>
            </a:r>
            <a:r>
              <a:rPr lang="ru-RU" sz="1400"/>
              <a:t>одноэтажном здании из кирпича.</a:t>
            </a:r>
            <a:endParaRPr/>
          </a:p>
          <a:p>
            <a:pPr marL="0" indent="45720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6. Линии связи к СУС проложены подземным кабелем и воздушными  линиями связи на</a:t>
            </a:r>
            <a:r>
              <a:rPr lang="en-US" sz="1400"/>
              <a:t> </a:t>
            </a:r>
            <a:r>
              <a:rPr lang="ru-RU" sz="1400"/>
              <a:t>деревянных опорах (для проводных специальностей).</a:t>
            </a:r>
            <a:endParaRPr/>
          </a:p>
          <a:p>
            <a:pPr marL="0" indent="4572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ru-RU" sz="1400"/>
              <a:t>7. Дежурная смена на объекте составляет </a:t>
            </a:r>
            <a:r>
              <a:rPr lang="ru-RU" sz="1400" b="1" i="1"/>
              <a:t>Nос</a:t>
            </a:r>
            <a:r>
              <a:rPr lang="ru-RU" sz="1400" b="1" i="1"/>
              <a:t> = 45 </a:t>
            </a:r>
            <a:r>
              <a:rPr lang="ru-RU" sz="1400"/>
              <a:t>человек. Обеспеченность противогазами </a:t>
            </a:r>
            <a:r>
              <a:rPr lang="ru-RU" sz="1400" b="1" i="1"/>
              <a:t>100%</a:t>
            </a:r>
            <a:r>
              <a:rPr lang="ru-RU" sz="1400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223748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>
              <a:defRPr/>
            </a:pPr>
            <a:r>
              <a:rPr lang="en-US"/>
              <a:t>2. </a:t>
            </a:r>
            <a:r>
              <a:rPr lang="ru-RU"/>
              <a:t>Исходные данные для расчета</a:t>
            </a:r>
            <a:br>
              <a:rPr lang="ru-RU"/>
            </a:br>
            <a:br>
              <a:rPr lang="ru-RU"/>
            </a:br>
            <a:endParaRPr/>
          </a:p>
        </p:txBody>
      </p:sp>
      <p:sp>
        <p:nvSpPr>
          <p:cNvPr id="1202487284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5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691468502" name="Текстовое поле 1"/>
          <p:cNvSpPr txBox="1"/>
          <p:nvPr/>
        </p:nvSpPr>
        <p:spPr bwMode="auto">
          <a:xfrm>
            <a:off x="1374416" y="4373089"/>
            <a:ext cx="2583815" cy="5835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</a:rPr>
              <a:t>Сторона каждого квадрата </a:t>
            </a:r>
            <a:endParaRPr/>
          </a:p>
          <a:p>
            <a:pPr algn="ctr">
              <a:defRPr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</a:rPr>
              <a:t>карты равна 1 километру</a:t>
            </a:r>
            <a:endParaRPr/>
          </a:p>
        </p:txBody>
      </p:sp>
      <p:sp>
        <p:nvSpPr>
          <p:cNvPr id="1670449292" name="TextBox 3"/>
          <p:cNvSpPr txBox="1"/>
          <p:nvPr/>
        </p:nvSpPr>
        <p:spPr bwMode="auto">
          <a:xfrm>
            <a:off x="260814" y="782443"/>
            <a:ext cx="864393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600"/>
              <a:t>Хранилище ГСМ находится на расстоянии R2 = </a:t>
            </a:r>
            <a:r>
              <a:rPr lang="ru-RU" sz="1600" b="1"/>
              <a:t>0</a:t>
            </a:r>
            <a:r>
              <a:rPr lang="ru-RU" sz="1600"/>
              <a:t>,</a:t>
            </a:r>
            <a:r>
              <a:rPr lang="ru-RU" sz="1600" b="1" i="1"/>
              <a:t>6</a:t>
            </a:r>
            <a:r>
              <a:rPr lang="ru-RU" sz="1600"/>
              <a:t> км (</a:t>
            </a:r>
            <a:r>
              <a:rPr lang="ru-RU" sz="1600" b="1" i="1"/>
              <a:t>600 </a:t>
            </a:r>
            <a:r>
              <a:rPr lang="ru-RU" sz="1600"/>
              <a:t>м) от аварийной ДЭС и содержит 70 т дизельного топлива. Ёмкости с топливом находятся открыто и под землёй.</a:t>
            </a:r>
            <a:endParaRPr/>
          </a:p>
        </p:txBody>
      </p:sp>
      <p:pic>
        <p:nvPicPr>
          <p:cNvPr id="556711157" name="Рисунок 2" descr="Изображение выглядит как текст, зарисовка, рисунок, дизайн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79711" y="2028994"/>
            <a:ext cx="7475837" cy="74681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903687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>
              <a:defRPr/>
            </a:pPr>
            <a:r>
              <a:rPr lang="en-US"/>
              <a:t>3. </a:t>
            </a:r>
            <a:r>
              <a:rPr lang="ru-RU"/>
              <a:t>Оценка общей обстановки на объекте СУС в случае ЧС</a:t>
            </a:r>
            <a:br>
              <a:rPr lang="ru-RU"/>
            </a:br>
            <a:br>
              <a:rPr lang="ru-RU"/>
            </a:br>
            <a:br>
              <a:rPr lang="ru-RU"/>
            </a:br>
            <a:endParaRPr/>
          </a:p>
        </p:txBody>
      </p:sp>
      <p:sp>
        <p:nvSpPr>
          <p:cNvPr id="1805959546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6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661431384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36672" y="1068331"/>
            <a:ext cx="8264400" cy="314683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1. Методом прогнозирования определили потенциально опасные объекты на территории объекта, </a:t>
            </a:r>
            <a:r>
              <a:rPr lang="ru-RU"/>
              <a:t>н.п</a:t>
            </a:r>
            <a:r>
              <a:rPr lang="ru-RU"/>
              <a:t>. Перекаты и на территории, прилегающей к объекту. Ими являются:</a:t>
            </a:r>
            <a:endParaRPr/>
          </a:p>
          <a:p>
            <a:pPr marL="0" indent="45720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- хранилище промышленных ВВ (ТНТ).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2. В результате ЧС могут возникнуть следующие поражающие факторы:</a:t>
            </a:r>
            <a:endParaRPr/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/>
              <a:t>УВ, СВ и СИ в случае взрыва склада промышленных ВВ (ТНТ),</a:t>
            </a:r>
            <a:endParaRPr/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/>
              <a:t>сейсмические волны в результате землетрясения интенсивностью </a:t>
            </a:r>
            <a:endParaRPr/>
          </a:p>
          <a:p>
            <a:pPr marL="0" indent="45720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b="1" i="1"/>
              <a:t>I = 5</a:t>
            </a:r>
            <a:r>
              <a:rPr lang="ru-RU" b="1" i="1"/>
              <a:t> баллов</a:t>
            </a:r>
            <a:r>
              <a:rPr lang="ru-RU"/>
              <a:t>.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732073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7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792798830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663786" y="301311"/>
            <a:ext cx="5682169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ru-RU"/>
              <a:t>3. Таблица прочностных характеристик </a:t>
            </a:r>
            <a:endParaRPr lang="ru-RU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/>
          </a:p>
        </p:txBody>
      </p:sp>
      <p:graphicFrame>
        <p:nvGraphicFramePr>
          <p:cNvPr id="1946035232" name="Таблица 2"/>
          <p:cNvGraphicFramePr>
            <a:graphicFrameLocks xmlns:a="http://schemas.openxmlformats.org/drawingml/2006/main" noGrp="1"/>
          </p:cNvGraphicFramePr>
          <p:nvPr/>
        </p:nvGraphicFramePr>
        <p:xfrm rot="0">
          <a:off x="663575" y="850900"/>
          <a:ext cx="8079105" cy="422395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43828"/>
                <a:gridCol w="1477286"/>
                <a:gridCol w="1278995"/>
                <a:gridCol w="1278996"/>
              </a:tblGrid>
              <a:tr h="252730">
                <a:tc rowSpan="2">
                  <a:txBody>
                    <a:bodyPr/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Элементы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объектов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связи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Поражающие факторы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81940">
                <a:tc vMerge="1"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Sup>
                                  <m:sSubSupPr>
                                    <m:alnScr m:val="off"/>
                                    <m:ctrlPr>
                                      <a:rPr lang="en-US" sz="10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m:rPr/>
                                      <a:rPr lang="en-US" sz="100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∆</m:t>
                                    </m:r>
                                    <m:r>
                                      <m:rPr/>
                                      <a:rPr lang="zh-CN" sz="1000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10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  <a:cs typeface="Cambria Math"/>
                                      </a:rPr>
                                      <m:t>ф</m:t>
                                    </m:r>
                                  </m:sub>
                                  <m:sup>
                                    <m:r>
                                      <m:rPr/>
                                      <a:rPr lang="en-US" sz="1000" i="1">
                                        <a:solidFill>
                                          <a:schemeClr val="tx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  <a:cs typeface="Cambria Math"/>
                                      </a:rPr>
                                      <m:t>ТНТ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кПа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en-US" sz="100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 m:val="on"/>
                                      </m:rPr>
                                      <a:rPr lang="en-US" sz="1000">
                                        <a:latin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1000" i="1">
                                        <a:latin typeface="Cambria Math"/>
                                        <a:cs typeface="Cambria Math"/>
                                      </a:rPr>
                                      <m:t>тнт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кДж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/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м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I, </a:t>
                      </a: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баллы</a:t>
                      </a:r>
                      <a:endParaRPr/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Одноэтажные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здания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из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дерева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8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2-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х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этажные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здания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кирпичные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х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этажные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здания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кирпичные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2500</a:t>
                      </a: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2-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х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этажные</a:t>
                      </a: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железобетонные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8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701040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Антенные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опоры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для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АФУ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:</a:t>
                      </a:r>
                      <a:endParaRPr/>
                    </a:p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деревянные</a:t>
                      </a:r>
                      <a:endParaRPr/>
                    </a:p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металлические</a:t>
                      </a:r>
                      <a:endParaRPr/>
                    </a:p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железобетонные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&gt;2500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&gt;2500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6,0</a:t>
                      </a:r>
                      <a:endParaRPr/>
                    </a:p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4,5</a:t>
                      </a:r>
                      <a:endParaRPr/>
                    </a:p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Кабель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подземный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800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Подземные (надземные) кабельные линии связи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Кабель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наземный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Изоляторы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керамические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6,5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Изоляционные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материалы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2000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Оконные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переплеты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дверные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проемы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окрашенные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в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темные</a:t>
                      </a: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endParaRPr/>
                    </a:p>
                    <a:p>
                      <a:pPr>
                        <a:buNone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цвета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endParaRPr lang="en-US" sz="10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  <a:defRPr/>
                      </a:pPr>
                      <a:r>
                        <a:rPr lang="ru-RU" sz="10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6,0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548061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4. Задачи</a:t>
            </a:r>
            <a:endParaRPr/>
          </a:p>
        </p:txBody>
      </p:sp>
      <p:sp>
        <p:nvSpPr>
          <p:cNvPr id="2004406708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8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370700629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42927" y="778400"/>
            <a:ext cx="8264400" cy="37503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000"/>
              <a:t>Расстояние от склада ГСМ до ДЭС R2 =</a:t>
            </a:r>
            <a:r>
              <a:rPr lang="ru-RU" sz="2000" b="1"/>
              <a:t> 0,6 км;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 sz="2000" b="1"/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/>
              <a:t>Определить:</a:t>
            </a:r>
            <a:endParaRPr lang="ru-RU"/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000" b="1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1. Избыточное давление во фронте ударной волны ∆</a:t>
            </a:r>
            <a:r>
              <a:rPr lang="ru-RU"/>
              <a:t>Р</a:t>
            </a:r>
            <a:r>
              <a:rPr lang="ru-RU" baseline="-25000"/>
              <a:t>ф</a:t>
            </a:r>
            <a:r>
              <a:rPr lang="ru-RU" baseline="30000"/>
              <a:t>гвс</a:t>
            </a:r>
            <a:r>
              <a:rPr lang="ru-RU"/>
              <a:t> = </a:t>
            </a:r>
            <a:r>
              <a:rPr lang="ru-RU" b="1"/>
              <a:t>15.793</a:t>
            </a:r>
            <a:r>
              <a:rPr lang="ru-RU"/>
              <a:t> кПа,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>
                <a:solidFill>
                  <a:schemeClr val="tx1"/>
                </a:solidFill>
              </a:rPr>
              <a:t>2. Радиусы зон действий бризантного действия,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>
                <a:solidFill>
                  <a:schemeClr val="tx1"/>
                </a:solidFill>
              </a:rPr>
              <a:t>3. Мощность СИ </a:t>
            </a:r>
            <a:r>
              <a:rPr lang="ru-RU" b="1">
                <a:solidFill>
                  <a:schemeClr val="tx1"/>
                </a:solidFill>
              </a:rPr>
              <a:t>Uгсм</a:t>
            </a:r>
            <a:r>
              <a:rPr lang="ru-RU">
                <a:solidFill>
                  <a:schemeClr val="tx1"/>
                </a:solidFill>
              </a:rPr>
              <a:t> = </a:t>
            </a:r>
            <a:r>
              <a:rPr lang="ru-RU" b="1">
                <a:solidFill>
                  <a:schemeClr val="tx1"/>
                </a:solidFill>
              </a:rPr>
              <a:t>13.55</a:t>
            </a:r>
            <a:r>
              <a:rPr lang="ru-RU"/>
              <a:t> </a:t>
            </a:r>
            <a:r>
              <a:rPr lang="ru-RU"/>
              <a:t>кДж/м</a:t>
            </a:r>
            <a:r>
              <a:rPr lang="ru-RU" baseline="30000"/>
              <a:t>2</a:t>
            </a:r>
            <a:endParaRPr lang="ru-RU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2800" baseline="30000"/>
              <a:t>4. </a:t>
            </a:r>
            <a:r>
              <a:rPr lang="en-US" sz="2800" baseline="30000"/>
              <a:t>Место</a:t>
            </a:r>
            <a:r>
              <a:rPr lang="en-US" sz="2800" baseline="30000"/>
              <a:t> </a:t>
            </a:r>
            <a:r>
              <a:rPr lang="en-US" sz="2800" baseline="30000"/>
              <a:t>размещение</a:t>
            </a:r>
            <a:r>
              <a:rPr lang="en-US" sz="2800" baseline="30000"/>
              <a:t> </a:t>
            </a:r>
            <a:r>
              <a:rPr lang="en-US" sz="2800" baseline="30000"/>
              <a:t>склада</a:t>
            </a:r>
            <a:r>
              <a:rPr lang="en-US" sz="2800" baseline="30000"/>
              <a:t> ГСМ </a:t>
            </a:r>
            <a:r>
              <a:rPr lang="en-US" sz="2800" baseline="30000"/>
              <a:t>на</a:t>
            </a:r>
            <a:r>
              <a:rPr lang="en-US" sz="2800" baseline="30000"/>
              <a:t> </a:t>
            </a:r>
            <a:r>
              <a:rPr lang="en-US" sz="2800" baseline="30000"/>
              <a:t>топографической</a:t>
            </a:r>
            <a:r>
              <a:rPr lang="en-US" sz="2800" baseline="30000"/>
              <a:t> </a:t>
            </a:r>
            <a:r>
              <a:rPr lang="en-US" sz="2800" baseline="30000"/>
              <a:t>карте</a:t>
            </a:r>
            <a:endParaRPr lang="en-US" sz="2800" baseline="3000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Сделать выводы.</a:t>
            </a:r>
            <a:endParaRPr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/>
              <a:t>Выработать предложения.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922549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5. Расчеты</a:t>
            </a:r>
            <a:endParaRPr/>
          </a:p>
        </p:txBody>
      </p:sp>
      <p:sp>
        <p:nvSpPr>
          <p:cNvPr id="258244789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9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055819519" name="Рисунок 1" descr="Изображение выглядит как текст, Шрифт, снимок экрана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844085"/>
            <a:ext cx="9144000" cy="2281437"/>
          </a:xfrm>
          <a:prstGeom prst="rect">
            <a:avLst/>
          </a:prstGeom>
        </p:spPr>
      </p:pic>
      <p:pic>
        <p:nvPicPr>
          <p:cNvPr id="677771747" name="Рисунок 2" descr="Изображение выглядит как белый, текст, зарисовка, дизайн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6314" y="3379334"/>
            <a:ext cx="609600" cy="1438275"/>
          </a:xfrm>
          <a:prstGeom prst="rect">
            <a:avLst/>
          </a:prstGeom>
        </p:spPr>
      </p:pic>
      <p:pic>
        <p:nvPicPr>
          <p:cNvPr id="1250381077" name="Рисунок 3" descr="Изображение выглядит как Шрифт, текст, Графика, символ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51434" y="3202377"/>
            <a:ext cx="2124075" cy="895350"/>
          </a:xfrm>
          <a:prstGeom prst="rect">
            <a:avLst/>
          </a:prstGeom>
        </p:spPr>
      </p:pic>
      <p:pic>
        <p:nvPicPr>
          <p:cNvPr id="965339445" name="Рисунок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48379" y="4263247"/>
            <a:ext cx="1127364" cy="434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30995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5. Расчеты</a:t>
            </a:r>
            <a:endParaRPr/>
          </a:p>
        </p:txBody>
      </p:sp>
      <p:sp>
        <p:nvSpPr>
          <p:cNvPr id="1871859497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10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208660293" name="Рисунок 2" descr="Изображение выглядит как текст, Шрифт, белый, снимок экрана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0513" y="3033032"/>
            <a:ext cx="1133475" cy="1771650"/>
          </a:xfrm>
          <a:prstGeom prst="rect">
            <a:avLst/>
          </a:prstGeom>
        </p:spPr>
      </p:pic>
      <p:pic>
        <p:nvPicPr>
          <p:cNvPr id="1112374793" name="Рисунок 3" descr="Изображение выглядит как текст, Шрифт, снимок экрана, лин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0209" y="899092"/>
            <a:ext cx="7962386" cy="1932011"/>
          </a:xfrm>
          <a:prstGeom prst="rect">
            <a:avLst/>
          </a:prstGeom>
        </p:spPr>
      </p:pic>
      <p:pic>
        <p:nvPicPr>
          <p:cNvPr id="1988374784" name="Рисунок 4" descr="Изображение выглядит как текст, Шрифт, линия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419612" y="2960473"/>
            <a:ext cx="4219575" cy="952500"/>
          </a:xfrm>
          <a:prstGeom prst="rect">
            <a:avLst/>
          </a:prstGeom>
        </p:spPr>
      </p:pic>
      <p:pic>
        <p:nvPicPr>
          <p:cNvPr id="1163883613" name="Рисунок 5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423087" y="4162296"/>
            <a:ext cx="876299" cy="371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125013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11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031825583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5. Расчеты</a:t>
            </a:r>
            <a:endParaRPr/>
          </a:p>
        </p:txBody>
      </p:sp>
      <p:pic>
        <p:nvPicPr>
          <p:cNvPr id="225004422" name="Рисунок 1" descr="Изображение выглядит как текст, снимок экрана, Шрифт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4837" y="869111"/>
            <a:ext cx="7934325" cy="2628900"/>
          </a:xfrm>
          <a:prstGeom prst="rect">
            <a:avLst/>
          </a:prstGeom>
        </p:spPr>
      </p:pic>
      <p:pic>
        <p:nvPicPr>
          <p:cNvPr id="1903554962" name="Рисунок 2" descr="Изображение выглядит как текст, белый, Шрифт, дизайн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8522" y="3489565"/>
            <a:ext cx="917994" cy="1474757"/>
          </a:xfrm>
          <a:prstGeom prst="rect">
            <a:avLst/>
          </a:prstGeom>
        </p:spPr>
      </p:pic>
      <p:pic>
        <p:nvPicPr>
          <p:cNvPr id="1630370703" name="Рисунок 3" descr="Изображение выглядит как Шрифт, текст, линия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533525" y="3460792"/>
            <a:ext cx="2439431" cy="762774"/>
          </a:xfrm>
          <a:prstGeom prst="rect">
            <a:avLst/>
          </a:prstGeom>
        </p:spPr>
      </p:pic>
      <p:pic>
        <p:nvPicPr>
          <p:cNvPr id="432163656" name="Рисунок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535971" y="4547286"/>
            <a:ext cx="866775" cy="34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51195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12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902695681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5. Расчеты</a:t>
            </a:r>
            <a:endParaRPr/>
          </a:p>
        </p:txBody>
      </p:sp>
      <p:pic>
        <p:nvPicPr>
          <p:cNvPr id="1116641793" name="Рисунок 1" descr="Изображение выглядит как текст, снимок экрана, Шриф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5325" y="908277"/>
            <a:ext cx="7753350" cy="2543175"/>
          </a:xfrm>
          <a:prstGeom prst="rect">
            <a:avLst/>
          </a:prstGeom>
        </p:spPr>
      </p:pic>
      <p:pic>
        <p:nvPicPr>
          <p:cNvPr id="445516541" name="Рисунок 2" descr="Изображение выглядит как текст, Шрифт, белый, типография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92604" y="3453493"/>
            <a:ext cx="590549" cy="1257300"/>
          </a:xfrm>
          <a:prstGeom prst="rect">
            <a:avLst/>
          </a:prstGeom>
        </p:spPr>
      </p:pic>
      <p:pic>
        <p:nvPicPr>
          <p:cNvPr id="519803119" name="Рисунок 3" descr="Изображение выглядит как Шрифт, текст, линия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280211" y="3446505"/>
            <a:ext cx="2320497" cy="598275"/>
          </a:xfrm>
          <a:prstGeom prst="rect">
            <a:avLst/>
          </a:prstGeom>
        </p:spPr>
      </p:pic>
      <p:pic>
        <p:nvPicPr>
          <p:cNvPr id="1114159468" name="Рисунок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78539" y="4218159"/>
            <a:ext cx="1049551" cy="5146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249960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13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332516776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5. Расчеты</a:t>
            </a:r>
            <a:endParaRPr/>
          </a:p>
        </p:txBody>
      </p:sp>
      <p:pic>
        <p:nvPicPr>
          <p:cNvPr id="947231376" name="Рисунок 1" descr="Изображение выглядит как текст, Шрифт, снимок экрана, бел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600" y="1032948"/>
            <a:ext cx="7924800" cy="1285875"/>
          </a:xfrm>
          <a:prstGeom prst="rect">
            <a:avLst/>
          </a:prstGeom>
        </p:spPr>
      </p:pic>
      <p:pic>
        <p:nvPicPr>
          <p:cNvPr id="92884454" name="Рисунок 2" descr="Изображение выглядит как текст, Шрифт, белый, число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13075" y="2871401"/>
            <a:ext cx="581025" cy="914400"/>
          </a:xfrm>
          <a:prstGeom prst="rect">
            <a:avLst/>
          </a:prstGeom>
        </p:spPr>
      </p:pic>
      <p:sp>
        <p:nvSpPr>
          <p:cNvPr id="458906794" name="TextBox 4"/>
          <p:cNvSpPr txBox="1"/>
          <p:nvPr/>
        </p:nvSpPr>
        <p:spPr bwMode="auto">
          <a:xfrm>
            <a:off x="1314140" y="2860791"/>
            <a:ext cx="1434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ru-RU" sz="1800"/>
              <a:t>1.7 * r1</a:t>
            </a:r>
            <a:endParaRPr/>
          </a:p>
        </p:txBody>
      </p:sp>
      <p:pic>
        <p:nvPicPr>
          <p:cNvPr id="1938188772" name="Рисунок 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283944" y="3439941"/>
            <a:ext cx="1000125" cy="333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497356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14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556260304" name="Прямоугольник 3"/>
          <p:cNvSpPr/>
          <p:nvPr/>
        </p:nvSpPr>
        <p:spPr bwMode="auto">
          <a:xfrm>
            <a:off x="442595" y="782320"/>
            <a:ext cx="8148320" cy="36817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46050">
              <a:defRPr/>
            </a:pPr>
            <a:r>
              <a:rPr lang="ru-RU" sz="1800"/>
              <a:t>4</a:t>
            </a:r>
            <a:r>
              <a:rPr lang="ru-RU" sz="1800"/>
              <a:t>. Определяем </a:t>
            </a:r>
            <a:r>
              <a:rPr lang="ru-RU" sz="1800" b="1" i="1"/>
              <a:t>балл землетрясения (интенсивность)</a:t>
            </a:r>
            <a:endParaRPr/>
          </a:p>
          <a:p>
            <a:pPr marL="146050">
              <a:defRPr/>
            </a:pPr>
            <a:endParaRPr lang="ru-RU" sz="1800" b="1" i="1"/>
          </a:p>
          <a:p>
            <a:pPr marL="146050">
              <a:defRPr/>
            </a:pPr>
            <a:endParaRPr lang="ru-RU" sz="1800" b="1" i="1"/>
          </a:p>
          <a:p>
            <a:pPr marL="146050">
              <a:defRPr/>
            </a:pPr>
            <a:endParaRPr lang="ru-RU" sz="1800" b="1" i="1"/>
          </a:p>
          <a:p>
            <a:pPr marL="146050" indent="0" algn="just">
              <a:buNone/>
              <a:defRPr/>
            </a:pPr>
            <a:endParaRPr lang="en-US" sz="1800" b="1" i="1">
              <a:latin typeface="Cambria Math"/>
              <a:ea typeface="Cambria Math"/>
              <a:cs typeface="Cambria Math"/>
            </a:endParaRPr>
          </a:p>
          <a:p>
            <a:pPr marL="146050" indent="0" algn="just">
              <a:buNone/>
              <a:defRPr/>
            </a:pPr>
            <a:endParaRPr lang="en-US" sz="1800" b="1" i="1">
              <a:latin typeface="Cambria Math"/>
              <a:ea typeface="Cambria Math"/>
              <a:cs typeface="Cambria Math"/>
            </a:endParaRPr>
          </a:p>
          <a:p>
            <a:pPr marL="146050" indent="0" algn="just">
              <a:buNone/>
              <a:defRPr/>
            </a:pPr>
            <a:endParaRPr lang="en-US" sz="1800" b="1" i="1">
              <a:latin typeface="Cambria Math"/>
              <a:ea typeface="Cambria Math"/>
              <a:cs typeface="Cambria Math"/>
            </a:endParaRPr>
          </a:p>
          <a:p>
            <a:pPr marL="146050" indent="0" algn="just">
              <a:buNone/>
              <a:defRPr/>
            </a:pPr>
            <a:endParaRPr lang="en-US" sz="1800">
              <a:latin typeface="Cambria Math"/>
            </a:endParaRPr>
          </a:p>
          <a:p>
            <a:pPr marL="146050" indent="0" algn="just">
              <a:buNone/>
              <a:defRPr/>
            </a:pPr>
            <a:endParaRPr lang="en-US" sz="1800">
              <a:latin typeface="Cambria Math"/>
            </a:endParaRPr>
          </a:p>
          <a:p>
            <a:pPr marL="146050" indent="0" algn="just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800">
                          <a:latin typeface="Cambria Math"/>
                        </a:rPr>
                        <m:t>I</m:t>
                      </m:r>
                      <m:r>
                        <m:rPr>
                          <m:nor m:val="on"/>
                        </m:rPr>
                        <a:rPr lang="ru-RU" sz="1800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= </a:t>
            </a:r>
            <a:r>
              <a:rPr lang="en-US" sz="1800" b="1" i="1"/>
              <a:t>5</a:t>
            </a:r>
            <a:r>
              <a:rPr lang="ru-RU" sz="1800" b="1" i="1"/>
              <a:t> баллов</a:t>
            </a:r>
            <a:endParaRPr lang="ru-RU" sz="1800"/>
          </a:p>
          <a:p>
            <a:pPr marL="146050" indent="0" algn="just">
              <a:buNone/>
              <a:defRPr/>
            </a:pPr>
            <a:endParaRPr lang="ru-RU" sz="1800"/>
          </a:p>
          <a:p>
            <a:pPr marL="146050">
              <a:defRPr/>
            </a:pPr>
            <a:endParaRPr lang="ru-RU" sz="1800" baseline="30000"/>
          </a:p>
          <a:p>
            <a:pPr marL="146050">
              <a:defRPr/>
            </a:pPr>
            <a:endParaRPr lang="ru-RU" sz="1800" baseline="30000"/>
          </a:p>
          <a:p>
            <a:pPr marL="146050">
              <a:defRPr/>
            </a:pPr>
            <a:endParaRPr lang="ru-RU" sz="1800" baseline="30000"/>
          </a:p>
          <a:p>
            <a:pPr marL="146050">
              <a:defRPr/>
            </a:pPr>
            <a:endParaRPr lang="ru-RU" sz="1800" baseline="30000"/>
          </a:p>
          <a:p>
            <a:pPr marL="146050">
              <a:defRPr/>
            </a:pPr>
            <a:endParaRPr lang="en-US" sz="1800" baseline="30000"/>
          </a:p>
          <a:p>
            <a:pPr marL="146050" indent="0">
              <a:buNone/>
              <a:defRPr/>
            </a:pPr>
            <a:endParaRPr lang="en-US" sz="1800" baseline="30000"/>
          </a:p>
        </p:txBody>
      </p:sp>
      <p:sp>
        <p:nvSpPr>
          <p:cNvPr id="51454094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5. Расчеты</a:t>
            </a:r>
            <a:endParaRPr/>
          </a:p>
        </p:txBody>
      </p:sp>
      <p:pic>
        <p:nvPicPr>
          <p:cNvPr id="476803839" name="Изображение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2595" y="1550035"/>
            <a:ext cx="8268335" cy="1124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9072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Выводы: </a:t>
            </a:r>
            <a:endParaRPr/>
          </a:p>
        </p:txBody>
      </p:sp>
      <p:sp>
        <p:nvSpPr>
          <p:cNvPr id="1617747730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15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982492714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294640" y="739140"/>
            <a:ext cx="8771255" cy="40513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/>
              <a:t>1. </a:t>
            </a:r>
            <a:r>
              <a:rPr lang="en-US" sz="1400"/>
              <a:t>Объект</a:t>
            </a:r>
            <a:r>
              <a:rPr lang="en-US" sz="1400"/>
              <a:t> </a:t>
            </a:r>
            <a:r>
              <a:rPr lang="en-US" sz="1400"/>
              <a:t>находится</a:t>
            </a:r>
            <a:r>
              <a:rPr lang="en-US" sz="1400"/>
              <a:t> </a:t>
            </a:r>
            <a:r>
              <a:rPr lang="en-US" sz="1400"/>
              <a:t>в</a:t>
            </a:r>
            <a:r>
              <a:rPr lang="en-US" sz="1400"/>
              <a:t> </a:t>
            </a:r>
            <a:r>
              <a:rPr lang="en-US" sz="1400"/>
              <a:t>зоне</a:t>
            </a:r>
            <a:r>
              <a:rPr lang="en-US" sz="1400"/>
              <a:t> </a:t>
            </a:r>
            <a:r>
              <a:rPr lang="en-US" sz="1400"/>
              <a:t>слабых</a:t>
            </a:r>
            <a:r>
              <a:rPr lang="en-US" sz="1400"/>
              <a:t> </a:t>
            </a:r>
            <a:r>
              <a:rPr lang="en-US" sz="1400"/>
              <a:t>разрушений</a:t>
            </a:r>
            <a:r>
              <a:rPr lang="en-US" sz="1400"/>
              <a:t> (</a:t>
            </a:r>
            <a:r>
              <a:rPr lang="en-US" sz="1400"/>
              <a:t>Δ</a:t>
            </a:r>
            <a:r>
              <a:rPr lang="en-US" sz="1400"/>
              <a:t>Рф</a:t>
            </a:r>
            <a:r>
              <a:rPr lang="en-US" sz="1400"/>
              <a:t> </a:t>
            </a:r>
            <a:r>
              <a:rPr lang="en-US" sz="1400"/>
              <a:t>ТНТ</a:t>
            </a:r>
            <a:r>
              <a:rPr lang="en-US" sz="1400"/>
              <a:t> &lt; 20 </a:t>
            </a:r>
            <a:r>
              <a:rPr lang="en-US" sz="1400"/>
              <a:t>кПа</a:t>
            </a:r>
            <a:r>
              <a:rPr lang="en-US" sz="1400"/>
              <a:t>). </a:t>
            </a:r>
            <a:r>
              <a:rPr lang="en-US" sz="1400"/>
              <a:t>Радиус</a:t>
            </a:r>
            <a:r>
              <a:rPr lang="en-US" sz="1400"/>
              <a:t> </a:t>
            </a:r>
            <a:r>
              <a:rPr lang="en-US" sz="1400"/>
              <a:t>зоны</a:t>
            </a:r>
            <a:r>
              <a:rPr lang="en-US" sz="1400"/>
              <a:t> </a:t>
            </a:r>
            <a:r>
              <a:rPr lang="en-US" sz="1400"/>
              <a:t>слабых</a:t>
            </a:r>
            <a:r>
              <a:rPr lang="en-US" sz="1400"/>
              <a:t> </a:t>
            </a:r>
            <a:r>
              <a:rPr lang="en-US" sz="1400"/>
              <a:t>разрушений</a:t>
            </a:r>
            <a:r>
              <a:rPr lang="en-US" sz="1400"/>
              <a:t> </a:t>
            </a:r>
            <a:r>
              <a:rPr lang="en-US" sz="1400"/>
              <a:t>составляет</a:t>
            </a:r>
            <a:r>
              <a:rPr lang="en-US" sz="1400"/>
              <a:t> </a:t>
            </a:r>
            <a:r>
              <a:rPr lang="en-US" sz="1400"/>
              <a:t>r</a:t>
            </a:r>
            <a:r>
              <a:rPr lang="en-US" sz="1400"/>
              <a:t>₂</a:t>
            </a:r>
            <a:r>
              <a:rPr lang="en-US" sz="1400"/>
              <a:t> = 818,451 </a:t>
            </a:r>
            <a:r>
              <a:rPr lang="en-US" sz="1400"/>
              <a:t>м</a:t>
            </a:r>
            <a:r>
              <a:rPr lang="en-US" sz="1400"/>
              <a:t>.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/>
              <a:t>2. </a:t>
            </a:r>
            <a:r>
              <a:rPr lang="ru-RU" sz="1400">
                <a:cs typeface="Times New Roman"/>
              </a:rPr>
              <a:t>От воздействия ударной волны получат повреждения (разрушения) следующие объекты:</a:t>
            </a:r>
            <a:endParaRPr/>
          </a:p>
          <a:p>
            <a:pPr marL="742950" lvl="1" indent="-285750" algn="l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cs typeface="Times New Roman"/>
              </a:rPr>
              <a:t>Одноэтажные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деревянные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дома</a:t>
            </a:r>
            <a:r>
              <a:rPr lang="en-US" sz="1400">
                <a:cs typeface="Times New Roman"/>
              </a:rPr>
              <a:t> (</a:t>
            </a:r>
            <a:r>
              <a:rPr lang="en-US" sz="1400">
                <a:cs typeface="Times New Roman"/>
              </a:rPr>
              <a:t>повреждение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окон</a:t>
            </a:r>
            <a:r>
              <a:rPr lang="en-US" sz="1400">
                <a:cs typeface="Times New Roman"/>
              </a:rPr>
              <a:t>, </a:t>
            </a:r>
            <a:r>
              <a:rPr lang="en-US" sz="1400">
                <a:cs typeface="Times New Roman"/>
              </a:rPr>
              <a:t>кровли</a:t>
            </a:r>
            <a:r>
              <a:rPr lang="en-US" sz="1400">
                <a:cs typeface="Times New Roman"/>
              </a:rPr>
              <a:t>, </a:t>
            </a:r>
            <a:r>
              <a:rPr lang="en-US" sz="1400">
                <a:cs typeface="Times New Roman"/>
              </a:rPr>
              <a:t>легких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перегородок</a:t>
            </a:r>
            <a:r>
              <a:rPr lang="en-US" sz="1400">
                <a:cs typeface="Times New Roman"/>
              </a:rPr>
              <a:t>)</a:t>
            </a:r>
            <a:endParaRPr/>
          </a:p>
          <a:p>
            <a:pPr marL="742950" lvl="1" indent="-285750" algn="l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cs typeface="Times New Roman"/>
              </a:rPr>
              <a:t>2-</a:t>
            </a:r>
            <a:r>
              <a:rPr lang="en-US" sz="1400">
                <a:cs typeface="Times New Roman"/>
              </a:rPr>
              <a:t>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этажные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кирпичные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здания</a:t>
            </a:r>
            <a:r>
              <a:rPr lang="en-US" sz="1400">
                <a:cs typeface="Times New Roman"/>
              </a:rPr>
              <a:t> (</a:t>
            </a:r>
            <a:r>
              <a:rPr lang="en-US" sz="1400">
                <a:cs typeface="Times New Roman"/>
              </a:rPr>
              <a:t>частичное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разрушение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остекления</a:t>
            </a:r>
            <a:r>
              <a:rPr lang="en-US" sz="1400">
                <a:cs typeface="Times New Roman"/>
              </a:rPr>
              <a:t>, </a:t>
            </a:r>
            <a:r>
              <a:rPr lang="en-US" sz="1400">
                <a:cs typeface="Times New Roman"/>
              </a:rPr>
              <a:t>повреждение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дверных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заполнений</a:t>
            </a:r>
            <a:r>
              <a:rPr lang="en-US" sz="1400">
                <a:cs typeface="Times New Roman"/>
              </a:rPr>
              <a:t>)</a:t>
            </a:r>
            <a:endParaRPr/>
          </a:p>
          <a:p>
            <a:pPr marL="742950" lvl="1" indent="-285750" algn="l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cs typeface="Times New Roman"/>
              </a:rPr>
              <a:t>4-</a:t>
            </a:r>
            <a:r>
              <a:rPr lang="en-US" sz="1400">
                <a:cs typeface="Times New Roman"/>
              </a:rPr>
              <a:t>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этажные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кирпичные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здания</a:t>
            </a:r>
            <a:r>
              <a:rPr lang="en-US" sz="1400">
                <a:cs typeface="Times New Roman"/>
              </a:rPr>
              <a:t> (</a:t>
            </a:r>
            <a:r>
              <a:rPr lang="en-US" sz="1400">
                <a:cs typeface="Times New Roman"/>
              </a:rPr>
              <a:t>незначительные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повреждения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оконных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блоков</a:t>
            </a:r>
            <a:r>
              <a:rPr lang="en-US" sz="1400">
                <a:cs typeface="Times New Roman"/>
              </a:rPr>
              <a:t>)</a:t>
            </a:r>
            <a:endParaRPr/>
          </a:p>
          <a:p>
            <a:pPr marL="742950" lvl="1" indent="-285750" algn="l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cs typeface="Times New Roman"/>
              </a:rPr>
              <a:t>Антенные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опоры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всех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типов</a:t>
            </a:r>
            <a:r>
              <a:rPr lang="en-US" sz="1400">
                <a:cs typeface="Times New Roman"/>
              </a:rPr>
              <a:t> (</a:t>
            </a:r>
            <a:r>
              <a:rPr lang="en-US" sz="1400">
                <a:cs typeface="Times New Roman"/>
              </a:rPr>
              <a:t>деформации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элементов</a:t>
            </a:r>
            <a:r>
              <a:rPr lang="en-US" sz="1400">
                <a:cs typeface="Times New Roman"/>
              </a:rPr>
              <a:t>, </a:t>
            </a:r>
            <a:r>
              <a:rPr lang="en-US" sz="1400">
                <a:cs typeface="Times New Roman"/>
              </a:rPr>
              <a:t>смещение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фундаментов</a:t>
            </a:r>
            <a:r>
              <a:rPr lang="en-US" sz="1400">
                <a:cs typeface="Times New Roman"/>
              </a:rPr>
              <a:t>)</a:t>
            </a:r>
            <a:endParaRPr/>
          </a:p>
          <a:p>
            <a:pPr marL="742950" lvl="1" indent="-285750" algn="l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cs typeface="Times New Roman"/>
              </a:rPr>
              <a:t>Незакрепленная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радиоаппаратура</a:t>
            </a:r>
            <a:r>
              <a:rPr lang="en-US" sz="1400">
                <a:cs typeface="Times New Roman"/>
              </a:rPr>
              <a:t> (</a:t>
            </a:r>
            <a:r>
              <a:rPr lang="en-US" sz="1400">
                <a:cs typeface="Times New Roman"/>
              </a:rPr>
              <a:t>смещение</a:t>
            </a:r>
            <a:r>
              <a:rPr lang="en-US" sz="1400">
                <a:cs typeface="Times New Roman"/>
              </a:rPr>
              <a:t>, </a:t>
            </a:r>
            <a:r>
              <a:rPr lang="en-US" sz="1400">
                <a:cs typeface="Times New Roman"/>
              </a:rPr>
              <a:t>падение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с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рабочих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мест</a:t>
            </a:r>
            <a:r>
              <a:rPr lang="en-US" sz="1400">
                <a:cs typeface="Times New Roman"/>
              </a:rPr>
              <a:t>)</a:t>
            </a:r>
            <a:endParaRPr/>
          </a:p>
          <a:p>
            <a:pPr marL="0" lvl="1" algn="l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1400"/>
              <a:t>3. </a:t>
            </a:r>
            <a:r>
              <a:rPr lang="en-US" sz="1400"/>
              <a:t>От</a:t>
            </a:r>
            <a:r>
              <a:rPr lang="en-US" sz="1400"/>
              <a:t> </a:t>
            </a:r>
            <a:r>
              <a:rPr lang="en-US" sz="1400"/>
              <a:t>воздействии</a:t>
            </a:r>
            <a:r>
              <a:rPr lang="en-US" sz="1400"/>
              <a:t> СИ </a:t>
            </a:r>
            <a:r>
              <a:rPr lang="en-US" sz="1400"/>
              <a:t>могут</a:t>
            </a:r>
            <a:r>
              <a:rPr lang="en-US" sz="1400"/>
              <a:t> </a:t>
            </a:r>
            <a:r>
              <a:rPr lang="en-US" sz="1400"/>
              <a:t>загореться</a:t>
            </a:r>
            <a:r>
              <a:rPr lang="en-US" sz="1400"/>
              <a:t> </a:t>
            </a:r>
            <a:r>
              <a:rPr lang="en-US" sz="1400"/>
              <a:t>элементы</a:t>
            </a:r>
            <a:r>
              <a:rPr lang="en-US" sz="1400"/>
              <a:t> </a:t>
            </a:r>
            <a:r>
              <a:rPr lang="en-US" sz="1400"/>
              <a:t>объекта</a:t>
            </a:r>
            <a:endParaRPr lang="ru-RU" sz="1400">
              <a:cs typeface="Times New Roman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cs typeface="Times New Roman"/>
              </a:rPr>
              <a:t>Деревянные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части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зданий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и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сооружений</a:t>
            </a:r>
            <a:r>
              <a:rPr lang="en-US" sz="1400">
                <a:cs typeface="Times New Roman"/>
              </a:rPr>
              <a:t> (</a:t>
            </a:r>
            <a:r>
              <a:rPr lang="en-US" sz="1400">
                <a:cs typeface="Times New Roman"/>
              </a:rPr>
              <a:t>обугливание</a:t>
            </a:r>
            <a:r>
              <a:rPr lang="en-US" sz="1400">
                <a:cs typeface="Times New Roman"/>
              </a:rPr>
              <a:t>, </a:t>
            </a:r>
            <a:r>
              <a:rPr lang="en-US" sz="1400">
                <a:cs typeface="Times New Roman"/>
              </a:rPr>
              <a:t>возгорание</a:t>
            </a:r>
            <a:r>
              <a:rPr lang="en-US" sz="1400">
                <a:cs typeface="Times New Roman"/>
              </a:rPr>
              <a:t>)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cs typeface="Times New Roman"/>
              </a:rPr>
              <a:t>Деревянные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опоры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антенно</a:t>
            </a:r>
            <a:r>
              <a:rPr lang="en-US" sz="1400">
                <a:cs typeface="Times New Roman"/>
              </a:rPr>
              <a:t>-</a:t>
            </a:r>
            <a:r>
              <a:rPr lang="en-US" sz="1400">
                <a:cs typeface="Times New Roman"/>
              </a:rPr>
              <a:t>фидерных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устройств</a:t>
            </a:r>
            <a:r>
              <a:rPr lang="en-US" sz="1400">
                <a:cs typeface="Times New Roman"/>
              </a:rPr>
              <a:t> (</a:t>
            </a:r>
            <a:r>
              <a:rPr lang="en-US" sz="1400">
                <a:cs typeface="Times New Roman"/>
              </a:rPr>
              <a:t>воспламенение</a:t>
            </a:r>
            <a:r>
              <a:rPr lang="en-US" sz="1400">
                <a:cs typeface="Times New Roman"/>
              </a:rPr>
              <a:t>)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cs typeface="Times New Roman"/>
              </a:rPr>
              <a:t>Изоляционные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материалы</a:t>
            </a:r>
            <a:r>
              <a:rPr lang="en-US" sz="1400">
                <a:cs typeface="Times New Roman"/>
              </a:rPr>
              <a:t> (</a:t>
            </a:r>
            <a:r>
              <a:rPr lang="en-US" sz="1400">
                <a:cs typeface="Times New Roman"/>
              </a:rPr>
              <a:t>оплавление</a:t>
            </a:r>
            <a:r>
              <a:rPr lang="en-US" sz="1400">
                <a:cs typeface="Times New Roman"/>
              </a:rPr>
              <a:t>, </a:t>
            </a:r>
            <a:r>
              <a:rPr lang="en-US" sz="1400">
                <a:cs typeface="Times New Roman"/>
              </a:rPr>
              <a:t>потеря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свойств</a:t>
            </a:r>
            <a:r>
              <a:rPr lang="en-US" sz="1400">
                <a:cs typeface="Times New Roman"/>
              </a:rPr>
              <a:t>)</a:t>
            </a:r>
            <a:endParaRPr lang="ru-RU" sz="1400">
              <a:cs typeface="Times New Roman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ru-RU" sz="1400">
                <a:cs typeface="Times New Roman"/>
              </a:rPr>
              <a:t>4. </a:t>
            </a:r>
            <a:r>
              <a:rPr lang="ru-RU" sz="1400">
                <a:cs typeface="Times New Roman"/>
              </a:rPr>
              <a:t>Открыто расположенные люди могут получить травмы </a:t>
            </a:r>
            <a:r>
              <a:rPr lang="en-US" sz="1400">
                <a:cs typeface="Times New Roman"/>
              </a:rPr>
              <a:t>1-</a:t>
            </a:r>
            <a:r>
              <a:rPr lang="en-US" sz="1400">
                <a:cs typeface="Times New Roman"/>
              </a:rPr>
              <a:t>й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степени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тяжести</a:t>
            </a:r>
            <a:r>
              <a:rPr lang="en-US" sz="1400">
                <a:cs typeface="Times New Roman"/>
              </a:rPr>
              <a:t> (</a:t>
            </a:r>
            <a:r>
              <a:rPr lang="en-US" sz="1400">
                <a:cs typeface="Times New Roman"/>
              </a:rPr>
              <a:t>легкая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степень</a:t>
            </a:r>
            <a:r>
              <a:rPr lang="en-US" sz="1400">
                <a:cs typeface="Times New Roman"/>
              </a:rPr>
              <a:t>), </a:t>
            </a:r>
            <a:r>
              <a:rPr lang="en-US" sz="1400">
                <a:cs typeface="Times New Roman"/>
              </a:rPr>
              <a:t>а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люди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находящиеся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в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помещениях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и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на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рабочих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площадках</a:t>
            </a:r>
            <a:r>
              <a:rPr lang="en-US" sz="1400">
                <a:cs typeface="Times New Roman"/>
              </a:rPr>
              <a:t> – </a:t>
            </a:r>
            <a:r>
              <a:rPr lang="en-US" sz="1400">
                <a:cs typeface="Times New Roman"/>
              </a:rPr>
              <a:t>травмы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в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результате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воздействия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вторичных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поражающих</a:t>
            </a:r>
            <a:r>
              <a:rPr lang="en-US" sz="1400">
                <a:cs typeface="Times New Roman"/>
              </a:rPr>
              <a:t> </a:t>
            </a:r>
            <a:r>
              <a:rPr lang="en-US" sz="1400">
                <a:cs typeface="Times New Roman"/>
              </a:rPr>
              <a:t>факторов</a:t>
            </a:r>
            <a:r>
              <a:rPr lang="en-US" sz="1400">
                <a:cs typeface="Times New Roman"/>
              </a:rPr>
              <a:t>.</a:t>
            </a:r>
            <a:endParaRPr lang="en-US" sz="1400">
              <a:cs typeface="Times New Roman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Font typeface="Arial"/>
              <a:buNone/>
              <a:defRPr/>
            </a:pPr>
            <a:endParaRPr lang="en-US" sz="1400">
              <a:cs typeface="Times New Roman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sz="1400">
              <a:cs typeface="Times New Roman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 sz="1400">
              <a:cs typeface="Times New Roman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 sz="1400"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95535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16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728664599" name="Текст 2"/>
          <p:cNvSpPr>
            <a:spLocks noGrp="1"/>
          </p:cNvSpPr>
          <p:nvPr>
            <p:ph type="body" idx="1"/>
          </p:nvPr>
        </p:nvSpPr>
        <p:spPr bwMode="auto">
          <a:xfrm>
            <a:off x="440055" y="281305"/>
            <a:ext cx="6529705" cy="98488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b="1">
                <a:solidFill>
                  <a:srgbClr val="FF9400"/>
                </a:solidFill>
              </a:rPr>
              <a:t>Оценка БЖД жителей </a:t>
            </a:r>
            <a:r>
              <a:rPr lang="ru-RU" b="1">
                <a:solidFill>
                  <a:srgbClr val="FF9400"/>
                </a:solidFill>
              </a:rPr>
              <a:t>н.п</a:t>
            </a:r>
            <a:r>
              <a:rPr lang="ru-RU" b="1">
                <a:solidFill>
                  <a:srgbClr val="FF9400"/>
                </a:solidFill>
              </a:rPr>
              <a:t>., персонала объекта и устойчивость функционирования объекта в случае землетрясения с интенсивностью </a:t>
            </a:r>
            <a:r>
              <a:rPr lang="en-US" b="1">
                <a:solidFill>
                  <a:srgbClr val="FF9400"/>
                </a:solidFill>
              </a:rPr>
              <a:t>I</a:t>
            </a:r>
            <a:r>
              <a:rPr lang="ru-RU" b="1">
                <a:solidFill>
                  <a:srgbClr val="FF9400"/>
                </a:solidFill>
              </a:rPr>
              <a:t> = 5 баллов.</a:t>
            </a:r>
            <a:endParaRPr/>
          </a:p>
        </p:txBody>
      </p:sp>
      <p:sp>
        <p:nvSpPr>
          <p:cNvPr id="1953941473" name="Прямоугольник 1"/>
          <p:cNvSpPr/>
          <p:nvPr/>
        </p:nvSpPr>
        <p:spPr bwMode="auto">
          <a:xfrm>
            <a:off x="440055" y="1276985"/>
            <a:ext cx="8263890" cy="332295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ru-RU" sz="1500"/>
              <a:t>1. 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В результате землетрясения интенсивностью</a:t>
            </a:r>
            <a:r>
              <a:rPr lang="ru-RU" sz="1500" b="1" i="1">
                <a:solidFill>
                  <a:srgbClr val="4D4E4F"/>
                </a:solidFill>
                <a:cs typeface="Times New Roman"/>
              </a:rPr>
              <a:t> I = 5 баллов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 получат повреждения следующие элементы объекта и 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н.п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. Перекаты: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1500" b="1" i="1">
                <a:solidFill>
                  <a:srgbClr val="4D4E4F"/>
                </a:solidFill>
                <a:cs typeface="Times New Roman"/>
              </a:rPr>
              <a:t>здания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—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кирпичные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здания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получат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трещины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в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стенах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повреждение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дымовых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труб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перегородок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;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деревянные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дома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—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смещение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фундамента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повреждение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конструкций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;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1500" b="1" i="1">
                <a:solidFill>
                  <a:srgbClr val="4D4E4F"/>
                </a:solidFill>
                <a:cs typeface="Times New Roman"/>
              </a:rPr>
              <a:t>здание</a:t>
            </a:r>
            <a:r>
              <a:rPr lang="en-US" sz="1500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 b="1" i="1">
                <a:solidFill>
                  <a:srgbClr val="4D4E4F"/>
                </a:solidFill>
                <a:cs typeface="Times New Roman"/>
              </a:rPr>
              <a:t>СУС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—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незначительные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трещины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в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отделке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повреждение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остекления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легких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перегородок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;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1500" b="1" i="1">
                <a:solidFill>
                  <a:srgbClr val="4D4E4F"/>
                </a:solidFill>
                <a:cs typeface="Times New Roman"/>
              </a:rPr>
              <a:t>аппаратура</a:t>
            </a:r>
            <a:r>
              <a:rPr lang="en-US" sz="1500" b="1" i="1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 b="1" i="1">
                <a:solidFill>
                  <a:srgbClr val="4D4E4F"/>
                </a:solidFill>
                <a:cs typeface="Times New Roman"/>
              </a:rPr>
              <a:t>связи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—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падение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незакрепленного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оборудования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повреждение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хрупких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элементов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(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изоляторы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релейные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стойки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).</a:t>
            </a:r>
            <a:endParaRPr/>
          </a:p>
          <a:p>
            <a:pPr>
              <a:defRPr/>
            </a:pPr>
            <a:endParaRPr lang="ru-RU" sz="1500">
              <a:solidFill>
                <a:srgbClr val="4D4E4F"/>
              </a:solidFill>
              <a:cs typeface="Times New Roman"/>
            </a:endParaRPr>
          </a:p>
          <a:p>
            <a:pPr algn="l">
              <a:buSzTx/>
              <a:buNone/>
              <a:defRPr/>
            </a:pPr>
            <a:r>
              <a:rPr lang="en-US" sz="1500">
                <a:solidFill>
                  <a:srgbClr val="4D4E4F"/>
                </a:solidFill>
                <a:cs typeface="Times New Roman"/>
              </a:rPr>
              <a:t>2. Люди могут получить травмы разной степени тяжести в результате воздействия вторичных поражающих факторов</a:t>
            </a:r>
            <a:r>
              <a:rPr lang="ru-RU" sz="1500">
                <a:solidFill>
                  <a:srgbClr val="4D4E4F"/>
                </a:solidFill>
                <a:cs typeface="Times New Roman"/>
              </a:rPr>
              <a:t>:</a:t>
            </a:r>
            <a:endParaRPr/>
          </a:p>
          <a:p>
            <a:pPr marL="285750" indent="-285750" algn="l">
              <a:buSzTx/>
              <a:buFont typeface="Arial"/>
              <a:buChar char="•"/>
              <a:defRPr/>
            </a:pPr>
            <a:r>
              <a:rPr lang="en-US" sz="1500">
                <a:solidFill>
                  <a:srgbClr val="4D4E4F"/>
                </a:solidFill>
                <a:cs typeface="Times New Roman"/>
              </a:rPr>
              <a:t>травмы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от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падающих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конструкций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,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осколков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стекла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обрушения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кровли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;</a:t>
            </a:r>
            <a:endParaRPr/>
          </a:p>
          <a:p>
            <a:pPr marL="285750" indent="-285750" algn="l">
              <a:buSzTx/>
              <a:buFont typeface="Arial"/>
              <a:buChar char="•"/>
              <a:defRPr/>
            </a:pPr>
            <a:r>
              <a:rPr lang="en-US" sz="1500">
                <a:solidFill>
                  <a:srgbClr val="4D4E4F"/>
                </a:solidFill>
                <a:cs typeface="Times New Roman"/>
              </a:rPr>
              <a:t>ушибы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переломы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при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падении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мебели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оборудования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внутри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 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помещений</a:t>
            </a:r>
            <a:r>
              <a:rPr lang="en-US" sz="1500">
                <a:solidFill>
                  <a:srgbClr val="4D4E4F"/>
                </a:solidFill>
                <a:cs typeface="Times New Roman"/>
              </a:rPr>
              <a:t>.</a:t>
            </a:r>
            <a:endParaRPr/>
          </a:p>
          <a:p>
            <a:pPr>
              <a:defRPr/>
            </a:pPr>
            <a:endParaRPr lang="en-US" sz="1500">
              <a:solidFill>
                <a:srgbClr val="4D4E4F"/>
              </a:solidFill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292355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Инженерно-технические мероприятия: </a:t>
            </a:r>
            <a:endParaRPr/>
          </a:p>
        </p:txBody>
      </p:sp>
      <p:sp>
        <p:nvSpPr>
          <p:cNvPr id="1510491433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17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34054683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38149" y="693420"/>
            <a:ext cx="8264525" cy="4418965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1"/>
              <a:t>Для</a:t>
            </a:r>
            <a:r>
              <a:rPr lang="en-US" sz="1400" b="1" i="1"/>
              <a:t> </a:t>
            </a:r>
            <a:r>
              <a:rPr lang="en-US" sz="1400" b="1" i="1"/>
              <a:t>защиты</a:t>
            </a:r>
            <a:r>
              <a:rPr lang="en-US" sz="1400" b="1" i="1"/>
              <a:t> </a:t>
            </a:r>
            <a:r>
              <a:rPr lang="en-US" sz="1400" b="1" i="1"/>
              <a:t>от</a:t>
            </a:r>
            <a:r>
              <a:rPr lang="en-US" sz="1400" b="1" i="1"/>
              <a:t> </a:t>
            </a:r>
            <a:r>
              <a:rPr lang="en-US" sz="1400" b="1" i="1"/>
              <a:t>сейсмических</a:t>
            </a:r>
            <a:r>
              <a:rPr lang="en-US" sz="1400" b="1" i="1"/>
              <a:t> </a:t>
            </a:r>
            <a:r>
              <a:rPr lang="en-US" sz="1400" b="1" i="1"/>
              <a:t>воздействий</a:t>
            </a:r>
            <a:r>
              <a:rPr lang="en-US" sz="1400" b="1" i="1"/>
              <a:t> </a:t>
            </a:r>
            <a:r>
              <a:rPr lang="en-US" sz="1400" b="1" i="1"/>
              <a:t>интенсивностью</a:t>
            </a:r>
            <a:r>
              <a:rPr lang="en-US" sz="1400" b="1" i="1"/>
              <a:t> </a:t>
            </a:r>
            <a:r>
              <a:rPr lang="en-US" sz="1400" b="1" i="1"/>
              <a:t>до</a:t>
            </a:r>
            <a:r>
              <a:rPr lang="en-US" sz="1400" b="1" i="1"/>
              <a:t> </a:t>
            </a:r>
            <a:r>
              <a:rPr lang="ru-RU" sz="1400" b="1" i="1"/>
              <a:t>5</a:t>
            </a:r>
            <a:r>
              <a:rPr lang="en-US" sz="1400" b="1" i="1"/>
              <a:t> </a:t>
            </a:r>
            <a:r>
              <a:rPr lang="en-US" sz="1400" b="1" i="1"/>
              <a:t>баллов</a:t>
            </a:r>
            <a:r>
              <a:rPr lang="ru-RU" sz="1400" b="1" i="1"/>
              <a:t> </a:t>
            </a:r>
            <a:r>
              <a:rPr lang="ru-RU" sz="1400"/>
              <a:t>необходимо</a:t>
            </a:r>
            <a:r>
              <a:rPr lang="en-US" sz="1400"/>
              <a:t> </a:t>
            </a:r>
            <a:r>
              <a:rPr lang="en-US" sz="1400"/>
              <a:t>усиление</a:t>
            </a:r>
            <a:r>
              <a:rPr lang="en-US" sz="1400"/>
              <a:t> </a:t>
            </a:r>
            <a:r>
              <a:rPr lang="en-US" sz="1400"/>
              <a:t>строительных</a:t>
            </a:r>
            <a:r>
              <a:rPr lang="en-US" sz="1400"/>
              <a:t> </a:t>
            </a:r>
            <a:r>
              <a:rPr lang="en-US" sz="1400"/>
              <a:t>конструкций</a:t>
            </a:r>
            <a:r>
              <a:rPr lang="en-US" sz="1400"/>
              <a:t> </a:t>
            </a:r>
            <a:r>
              <a:rPr lang="en-US" sz="1400"/>
              <a:t>зданий</a:t>
            </a:r>
            <a:r>
              <a:rPr lang="en-US" sz="1400"/>
              <a:t>. </a:t>
            </a:r>
            <a:r>
              <a:rPr lang="en-US" sz="1400"/>
              <a:t>В</a:t>
            </a:r>
            <a:r>
              <a:rPr lang="en-US" sz="1400"/>
              <a:t> </a:t>
            </a:r>
            <a:r>
              <a:rPr lang="en-US" sz="1400"/>
              <a:t>кирпичных</a:t>
            </a:r>
            <a:r>
              <a:rPr lang="en-US" sz="1400"/>
              <a:t> </a:t>
            </a:r>
            <a:r>
              <a:rPr lang="en-US" sz="1400"/>
              <a:t>зданиях</a:t>
            </a:r>
            <a:r>
              <a:rPr lang="en-US" sz="1400"/>
              <a:t> </a:t>
            </a:r>
            <a:r>
              <a:rPr lang="ru-RU" sz="1400"/>
              <a:t>устанвоить </a:t>
            </a:r>
            <a:r>
              <a:rPr lang="en-US" sz="1400"/>
              <a:t> </a:t>
            </a:r>
            <a:r>
              <a:rPr lang="en-US" sz="1400"/>
              <a:t>сейсмопояса</a:t>
            </a:r>
            <a:r>
              <a:rPr lang="en-US" sz="1400"/>
              <a:t>, </a:t>
            </a:r>
            <a:r>
              <a:rPr lang="en-US" sz="1400"/>
              <a:t>в</a:t>
            </a:r>
            <a:r>
              <a:rPr lang="en-US" sz="1400"/>
              <a:t> </a:t>
            </a:r>
            <a:r>
              <a:rPr lang="en-US" sz="1400"/>
              <a:t>железобетонных</a:t>
            </a:r>
            <a:r>
              <a:rPr lang="en-US" sz="1400"/>
              <a:t> </a:t>
            </a:r>
            <a:r>
              <a:rPr lang="en-US" sz="1400"/>
              <a:t>конструкциях</a:t>
            </a:r>
            <a:r>
              <a:rPr lang="en-US" sz="1400"/>
              <a:t> — </a:t>
            </a:r>
            <a:r>
              <a:rPr lang="en-US" sz="1400"/>
              <a:t>диафрагмы</a:t>
            </a:r>
            <a:r>
              <a:rPr lang="en-US" sz="1400"/>
              <a:t> </a:t>
            </a:r>
            <a:r>
              <a:rPr lang="en-US" sz="1400"/>
              <a:t>жесткости</a:t>
            </a:r>
            <a:r>
              <a:rPr lang="en-US" sz="1400"/>
              <a:t>, </a:t>
            </a:r>
            <a:r>
              <a:rPr lang="en-US" sz="1400"/>
              <a:t>а</a:t>
            </a:r>
            <a:r>
              <a:rPr lang="en-US" sz="1400"/>
              <a:t> </a:t>
            </a:r>
            <a:r>
              <a:rPr lang="en-US" sz="1400"/>
              <a:t>между</a:t>
            </a:r>
            <a:r>
              <a:rPr lang="en-US" sz="1400"/>
              <a:t> </a:t>
            </a:r>
            <a:r>
              <a:rPr lang="en-US" sz="1400"/>
              <a:t>корпусами</a:t>
            </a:r>
            <a:r>
              <a:rPr lang="en-US" sz="1400"/>
              <a:t> </a:t>
            </a:r>
            <a:r>
              <a:rPr lang="en-US" sz="1400"/>
              <a:t>предусмотрены</a:t>
            </a:r>
            <a:r>
              <a:rPr lang="en-US" sz="1400"/>
              <a:t> </a:t>
            </a:r>
            <a:r>
              <a:rPr lang="en-US" sz="1400"/>
              <a:t>сейсмические</a:t>
            </a:r>
            <a:r>
              <a:rPr lang="en-US" sz="1400"/>
              <a:t> </a:t>
            </a:r>
            <a:r>
              <a:rPr lang="en-US" sz="1400"/>
              <a:t>швы</a:t>
            </a:r>
            <a:r>
              <a:rPr lang="en-US" sz="1400"/>
              <a:t>. 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 b="1" i="1"/>
              <a:t>Для</a:t>
            </a:r>
            <a:r>
              <a:rPr lang="en-US" sz="1400" b="1" i="1"/>
              <a:t> </a:t>
            </a:r>
            <a:r>
              <a:rPr lang="en-US" sz="1400" b="1" i="1"/>
              <a:t>защит</a:t>
            </a:r>
            <a:r>
              <a:rPr lang="ru-RU" sz="1400" b="1" i="1"/>
              <a:t>ы</a:t>
            </a:r>
            <a:r>
              <a:rPr lang="en-US" sz="1400" b="1" i="1"/>
              <a:t> </a:t>
            </a:r>
            <a:r>
              <a:rPr lang="en-US" sz="1400" b="1" i="1"/>
              <a:t>аппаратуры</a:t>
            </a:r>
            <a:r>
              <a:rPr lang="en-US" sz="1400" b="1" i="1"/>
              <a:t> </a:t>
            </a:r>
            <a:r>
              <a:rPr lang="en-US" sz="1400" b="1" i="1"/>
              <a:t>связи</a:t>
            </a:r>
            <a:r>
              <a:rPr lang="en-US" sz="1400" b="1" i="1"/>
              <a:t>:</a:t>
            </a:r>
            <a:r>
              <a:rPr lang="en-US" sz="1400"/>
              <a:t> </a:t>
            </a:r>
            <a:r>
              <a:rPr lang="en-US" sz="1400"/>
              <a:t>сейсмостойкое</a:t>
            </a:r>
            <a:r>
              <a:rPr lang="en-US" sz="1400"/>
              <a:t> </a:t>
            </a:r>
            <a:r>
              <a:rPr lang="en-US" sz="1400"/>
              <a:t>крепление</a:t>
            </a:r>
            <a:r>
              <a:rPr lang="en-US" sz="1400"/>
              <a:t> </a:t>
            </a:r>
            <a:r>
              <a:rPr lang="en-US" sz="1400"/>
              <a:t>аппаратных</a:t>
            </a:r>
            <a:r>
              <a:rPr lang="en-US" sz="1400"/>
              <a:t> </a:t>
            </a:r>
            <a:r>
              <a:rPr lang="en-US" sz="1400"/>
              <a:t>стоек</a:t>
            </a:r>
            <a:r>
              <a:rPr lang="en-US" sz="1400"/>
              <a:t>,  </a:t>
            </a:r>
            <a:r>
              <a:rPr lang="en-US" sz="1400"/>
              <a:t>амортизирующие</a:t>
            </a:r>
            <a:r>
              <a:rPr lang="en-US" sz="1400"/>
              <a:t> </a:t>
            </a:r>
            <a:r>
              <a:rPr lang="en-US" sz="1400"/>
              <a:t>опоры</a:t>
            </a:r>
            <a:r>
              <a:rPr lang="en-US" sz="1400"/>
              <a:t> </a:t>
            </a:r>
            <a:r>
              <a:rPr lang="en-US" sz="1400"/>
              <a:t>для</a:t>
            </a:r>
            <a:r>
              <a:rPr lang="en-US" sz="1400"/>
              <a:t> </a:t>
            </a:r>
            <a:r>
              <a:rPr lang="en-US" sz="1400"/>
              <a:t>чувствительного</a:t>
            </a:r>
            <a:r>
              <a:rPr lang="en-US" sz="1400"/>
              <a:t> </a:t>
            </a:r>
            <a:r>
              <a:rPr lang="en-US" sz="1400"/>
              <a:t>оборудования</a:t>
            </a:r>
            <a:r>
              <a:rPr lang="en-US" sz="1400"/>
              <a:t> </a:t>
            </a:r>
            <a:r>
              <a:rPr lang="en-US" sz="1400"/>
              <a:t>и</a:t>
            </a:r>
            <a:r>
              <a:rPr lang="en-US" sz="1400"/>
              <a:t> </a:t>
            </a:r>
            <a:r>
              <a:rPr lang="en-US" sz="1400"/>
              <a:t>гибкие</a:t>
            </a:r>
            <a:r>
              <a:rPr lang="en-US" sz="1400"/>
              <a:t> </a:t>
            </a:r>
            <a:r>
              <a:rPr lang="en-US" sz="1400"/>
              <a:t>соединения</a:t>
            </a:r>
            <a:r>
              <a:rPr lang="en-US" sz="1400"/>
              <a:t> </a:t>
            </a:r>
            <a:r>
              <a:rPr lang="en-US" sz="1400"/>
              <a:t>кабельных</a:t>
            </a:r>
            <a:r>
              <a:rPr lang="en-US" sz="1400"/>
              <a:t> </a:t>
            </a:r>
            <a:r>
              <a:rPr lang="en-US" sz="1400"/>
              <a:t>вводов</a:t>
            </a:r>
            <a:r>
              <a:rPr lang="en-US" sz="1400"/>
              <a:t>.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1"/>
              <a:t>Для</a:t>
            </a:r>
            <a:r>
              <a:rPr lang="en-US" sz="1400" b="1" i="1"/>
              <a:t> </a:t>
            </a:r>
            <a:r>
              <a:rPr lang="en-US" sz="1400" b="1" i="1"/>
              <a:t>обеспечения</a:t>
            </a:r>
            <a:r>
              <a:rPr lang="en-US" sz="1400" b="1" i="1"/>
              <a:t> </a:t>
            </a:r>
            <a:r>
              <a:rPr lang="en-US" sz="1400" b="1" i="1"/>
              <a:t>защиты</a:t>
            </a:r>
            <a:r>
              <a:rPr lang="en-US" sz="1400" b="1" i="1"/>
              <a:t> </a:t>
            </a:r>
            <a:r>
              <a:rPr lang="en-US" sz="1400" b="1" i="1"/>
              <a:t>от</a:t>
            </a:r>
            <a:r>
              <a:rPr lang="en-US" sz="1400" b="1" i="1"/>
              <a:t> </a:t>
            </a:r>
            <a:r>
              <a:rPr lang="en-US" sz="1400" b="1" i="1"/>
              <a:t>ударной</a:t>
            </a:r>
            <a:r>
              <a:rPr lang="en-US" sz="1400" b="1" i="1"/>
              <a:t> </a:t>
            </a:r>
            <a:r>
              <a:rPr lang="en-US" sz="1400" b="1" i="1"/>
              <a:t>волны</a:t>
            </a:r>
            <a:r>
              <a:rPr lang="en-US" sz="1400" b="1" i="1"/>
              <a:t> </a:t>
            </a:r>
            <a:r>
              <a:rPr lang="en-US" sz="1400" b="1" i="1"/>
              <a:t>мощностью</a:t>
            </a:r>
            <a:r>
              <a:rPr lang="en-US" sz="1400" b="1" i="1"/>
              <a:t> </a:t>
            </a:r>
            <a:r>
              <a:rPr lang="en-US" sz="1400" b="1" i="1"/>
              <a:t>до</a:t>
            </a:r>
            <a:r>
              <a:rPr lang="en-US" sz="1400" b="1" i="1"/>
              <a:t> </a:t>
            </a:r>
            <a:r>
              <a:rPr lang="ru-RU" sz="1400" b="1" i="1"/>
              <a:t>18</a:t>
            </a:r>
            <a:r>
              <a:rPr lang="en-US" sz="1400" b="1" i="1"/>
              <a:t> </a:t>
            </a:r>
            <a:r>
              <a:rPr lang="en-US" sz="1400" b="1" i="1"/>
              <a:t>кПа</a:t>
            </a:r>
            <a:r>
              <a:rPr lang="en-US" sz="1400" b="1" i="1"/>
              <a:t> </a:t>
            </a:r>
            <a:r>
              <a:rPr lang="ru-RU" sz="1400"/>
              <a:t>необходимы</a:t>
            </a:r>
            <a:r>
              <a:rPr lang="en-US" sz="1400"/>
              <a:t> </a:t>
            </a:r>
            <a:r>
              <a:rPr lang="en-US" sz="1400"/>
              <a:t>работы</a:t>
            </a:r>
            <a:r>
              <a:rPr lang="en-US" sz="1400"/>
              <a:t> </a:t>
            </a:r>
            <a:r>
              <a:rPr lang="en-US" sz="1400"/>
              <a:t>по</a:t>
            </a:r>
            <a:r>
              <a:rPr lang="en-US" sz="1400"/>
              <a:t> </a:t>
            </a:r>
            <a:r>
              <a:rPr lang="en-US" sz="1400"/>
              <a:t>укреплению</a:t>
            </a:r>
            <a:r>
              <a:rPr lang="en-US" sz="1400"/>
              <a:t> </a:t>
            </a:r>
            <a:r>
              <a:rPr lang="en-US" sz="1400"/>
              <a:t>ограждающих</a:t>
            </a:r>
            <a:r>
              <a:rPr lang="en-US" sz="1400"/>
              <a:t> </a:t>
            </a:r>
            <a:r>
              <a:rPr lang="en-US" sz="1400"/>
              <a:t>конструкций</a:t>
            </a:r>
            <a:r>
              <a:rPr lang="ru-RU" sz="1400"/>
              <a:t>: н</a:t>
            </a:r>
            <a:r>
              <a:rPr lang="en-US" sz="1400"/>
              <a:t>а</a:t>
            </a:r>
            <a:r>
              <a:rPr lang="en-US" sz="1400"/>
              <a:t> </a:t>
            </a:r>
            <a:r>
              <a:rPr lang="en-US" sz="1400"/>
              <a:t>окна</a:t>
            </a:r>
            <a:r>
              <a:rPr lang="en-US" sz="1400"/>
              <a:t> </a:t>
            </a:r>
            <a:r>
              <a:rPr lang="ru-RU" sz="1400"/>
              <a:t>нанести </a:t>
            </a:r>
            <a:r>
              <a:rPr lang="en-US" sz="1400"/>
              <a:t>противоосколочн</a:t>
            </a:r>
            <a:r>
              <a:rPr lang="ru-RU" sz="1400"/>
              <a:t>ую</a:t>
            </a:r>
            <a:r>
              <a:rPr lang="en-US" sz="1400"/>
              <a:t> </a:t>
            </a:r>
            <a:r>
              <a:rPr lang="en-US" sz="1400"/>
              <a:t>пленк</a:t>
            </a:r>
            <a:r>
              <a:rPr lang="ru-RU" sz="1400"/>
              <a:t>у</a:t>
            </a:r>
            <a:r>
              <a:rPr lang="en-US" sz="1400"/>
              <a:t>, </a:t>
            </a:r>
            <a:r>
              <a:rPr lang="ru-RU" sz="1400"/>
              <a:t>усилить</a:t>
            </a:r>
            <a:r>
              <a:rPr lang="en-US" sz="1400"/>
              <a:t> </a:t>
            </a:r>
            <a:r>
              <a:rPr lang="en-US" sz="1400"/>
              <a:t>дверные</a:t>
            </a:r>
            <a:r>
              <a:rPr lang="en-US" sz="1400"/>
              <a:t> </a:t>
            </a:r>
            <a:r>
              <a:rPr lang="en-US" sz="1400"/>
              <a:t>блоки</a:t>
            </a:r>
            <a:r>
              <a:rPr lang="en-US" sz="1400"/>
              <a:t> </a:t>
            </a:r>
            <a:r>
              <a:rPr lang="en-US" sz="1400"/>
              <a:t>и</a:t>
            </a:r>
            <a:r>
              <a:rPr lang="en-US" sz="1400"/>
              <a:t> </a:t>
            </a:r>
            <a:r>
              <a:rPr lang="ru-RU" sz="1400"/>
              <a:t>установить </a:t>
            </a:r>
            <a:r>
              <a:rPr lang="en-US" sz="1400"/>
              <a:t>противовзрывные</a:t>
            </a:r>
            <a:r>
              <a:rPr lang="en-US" sz="1400"/>
              <a:t> </a:t>
            </a:r>
            <a:r>
              <a:rPr lang="en-US" sz="1400"/>
              <a:t>экраны</a:t>
            </a:r>
            <a:r>
              <a:rPr lang="en-US" sz="1400"/>
              <a:t>.</a:t>
            </a:r>
            <a:endParaRPr/>
          </a:p>
          <a:p>
            <a:pPr marL="0" indent="45720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1400" b="1" i="1"/>
              <a:t>Против</a:t>
            </a:r>
            <a:r>
              <a:rPr lang="en-US" sz="1400" b="1" i="1"/>
              <a:t> </a:t>
            </a:r>
            <a:r>
              <a:rPr lang="en-US" sz="1400" b="1" i="1"/>
              <a:t>светового</a:t>
            </a:r>
            <a:r>
              <a:rPr lang="en-US" sz="1400" b="1" i="1"/>
              <a:t> </a:t>
            </a:r>
            <a:r>
              <a:rPr lang="en-US" sz="1400" b="1" i="1"/>
              <a:t>излучения</a:t>
            </a:r>
            <a:r>
              <a:rPr lang="en-US" sz="1400" b="1" i="1"/>
              <a:t> </a:t>
            </a:r>
            <a:r>
              <a:rPr lang="en-US" sz="1400" b="1" i="1"/>
              <a:t>интенсивностью</a:t>
            </a:r>
            <a:r>
              <a:rPr lang="en-US" sz="1400" b="1" i="1"/>
              <a:t> </a:t>
            </a:r>
            <a:r>
              <a:rPr lang="en-US" sz="1400" b="1" i="1"/>
              <a:t>до</a:t>
            </a:r>
            <a:r>
              <a:rPr lang="en-US" sz="1400" b="1" i="1"/>
              <a:t> </a:t>
            </a:r>
            <a:r>
              <a:rPr lang="ru-RU" sz="1400" b="1"/>
              <a:t>17.422</a:t>
            </a:r>
            <a:r>
              <a:rPr lang="ru-RU" sz="1400" b="1" i="1"/>
              <a:t> </a:t>
            </a:r>
            <a:r>
              <a:rPr lang="en-US" sz="1400" b="1" i="1"/>
              <a:t>кДж</a:t>
            </a:r>
            <a:r>
              <a:rPr lang="en-US" sz="1400" b="1" i="1"/>
              <a:t>/</a:t>
            </a:r>
            <a:r>
              <a:rPr lang="en-US" sz="1400" b="1" i="1"/>
              <a:t>м²</a:t>
            </a:r>
            <a:r>
              <a:rPr lang="en-US" sz="1400"/>
              <a:t> </a:t>
            </a:r>
            <a:r>
              <a:rPr lang="ru-RU" sz="1400"/>
              <a:t>реализовать </a:t>
            </a:r>
            <a:r>
              <a:rPr lang="en-US" sz="1400"/>
              <a:t>противопожарные</a:t>
            </a:r>
            <a:r>
              <a:rPr lang="en-US" sz="1400"/>
              <a:t> </a:t>
            </a:r>
            <a:r>
              <a:rPr lang="en-US" sz="1400"/>
              <a:t>мероприятия</a:t>
            </a:r>
            <a:r>
              <a:rPr lang="en-US" sz="1400"/>
              <a:t>, </a:t>
            </a:r>
            <a:r>
              <a:rPr lang="en-US" sz="1400"/>
              <a:t>включающие</a:t>
            </a:r>
            <a:r>
              <a:rPr lang="en-US" sz="1400"/>
              <a:t> </a:t>
            </a:r>
            <a:r>
              <a:rPr lang="en-US" sz="1400"/>
              <a:t>огнезащитную</a:t>
            </a:r>
            <a:r>
              <a:rPr lang="en-US" sz="1400"/>
              <a:t> </a:t>
            </a:r>
            <a:r>
              <a:rPr lang="en-US" sz="1400"/>
              <a:t>пропитку</a:t>
            </a:r>
            <a:r>
              <a:rPr lang="en-US" sz="1400"/>
              <a:t> </a:t>
            </a:r>
            <a:r>
              <a:rPr lang="en-US" sz="1400"/>
              <a:t>деревянных</a:t>
            </a:r>
            <a:r>
              <a:rPr lang="en-US" sz="1400"/>
              <a:t> </a:t>
            </a:r>
            <a:r>
              <a:rPr lang="en-US" sz="1400"/>
              <a:t>конструкций</a:t>
            </a:r>
            <a:r>
              <a:rPr lang="en-US" sz="1400"/>
              <a:t>, </a:t>
            </a:r>
            <a:r>
              <a:rPr lang="en-US" sz="1400"/>
              <a:t>устройство</a:t>
            </a:r>
            <a:r>
              <a:rPr lang="en-US" sz="1400"/>
              <a:t> </a:t>
            </a:r>
            <a:r>
              <a:rPr lang="en-US" sz="1400"/>
              <a:t>противопожарных</a:t>
            </a:r>
            <a:r>
              <a:rPr lang="en-US" sz="1400"/>
              <a:t> </a:t>
            </a:r>
            <a:r>
              <a:rPr lang="en-US" sz="1400"/>
              <a:t>разрывов</a:t>
            </a:r>
            <a:r>
              <a:rPr lang="en-US" sz="1400"/>
              <a:t> </a:t>
            </a:r>
            <a:r>
              <a:rPr lang="en-US" sz="1400"/>
              <a:t>и</a:t>
            </a:r>
            <a:r>
              <a:rPr lang="en-US" sz="1400"/>
              <a:t> </a:t>
            </a:r>
            <a:r>
              <a:rPr lang="en-US" sz="1400"/>
              <a:t>установку</a:t>
            </a:r>
            <a:r>
              <a:rPr lang="en-US" sz="1400"/>
              <a:t> </a:t>
            </a:r>
            <a:r>
              <a:rPr lang="en-US" sz="1400"/>
              <a:t>теплоотражающих</a:t>
            </a:r>
            <a:r>
              <a:rPr lang="en-US" sz="1400"/>
              <a:t> </a:t>
            </a:r>
            <a:r>
              <a:rPr lang="en-US" sz="1400"/>
              <a:t>экранов</a:t>
            </a:r>
            <a:r>
              <a:rPr lang="en-US" sz="1400"/>
              <a:t>. </a:t>
            </a:r>
            <a:r>
              <a:rPr lang="ru-RU" sz="1400"/>
              <a:t>К</a:t>
            </a:r>
            <a:r>
              <a:rPr lang="en-US" sz="1400"/>
              <a:t>ритическое</a:t>
            </a:r>
            <a:r>
              <a:rPr lang="en-US" sz="1400"/>
              <a:t> </a:t>
            </a:r>
            <a:r>
              <a:rPr lang="en-US" sz="1400"/>
              <a:t>оборудование</a:t>
            </a:r>
            <a:r>
              <a:rPr lang="en-US" sz="1400"/>
              <a:t> </a:t>
            </a:r>
            <a:r>
              <a:rPr lang="ru-RU" sz="1400"/>
              <a:t>требует </a:t>
            </a:r>
            <a:r>
              <a:rPr lang="en-US" sz="1400"/>
              <a:t>дополнительную</a:t>
            </a:r>
            <a:r>
              <a:rPr lang="en-US" sz="1400"/>
              <a:t> </a:t>
            </a:r>
            <a:r>
              <a:rPr lang="en-US" sz="1400"/>
              <a:t>термоизоляцию</a:t>
            </a:r>
            <a:r>
              <a:rPr lang="en-US" sz="1400"/>
              <a:t>.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1"/>
              <a:t>Защита</a:t>
            </a:r>
            <a:r>
              <a:rPr lang="en-US" sz="1400" b="1" i="1"/>
              <a:t> </a:t>
            </a:r>
            <a:r>
              <a:rPr lang="en-US" sz="1400" b="1" i="1"/>
              <a:t>персонала</a:t>
            </a:r>
            <a:r>
              <a:rPr lang="en-US" sz="1400"/>
              <a:t> </a:t>
            </a:r>
            <a:r>
              <a:rPr lang="ru-RU" sz="1400" b="1" i="1"/>
              <a:t>и жителей </a:t>
            </a:r>
            <a:r>
              <a:rPr lang="ru-RU" sz="1400"/>
              <a:t>должна быть обеспечена </a:t>
            </a:r>
            <a:r>
              <a:rPr lang="en-US" sz="1400"/>
              <a:t>за</a:t>
            </a:r>
            <a:r>
              <a:rPr lang="en-US" sz="1400"/>
              <a:t> </a:t>
            </a:r>
            <a:r>
              <a:rPr lang="en-US" sz="1400"/>
              <a:t>счет</a:t>
            </a:r>
            <a:r>
              <a:rPr lang="en-US" sz="1400"/>
              <a:t> </a:t>
            </a:r>
            <a:r>
              <a:rPr lang="en-US" sz="1400"/>
              <a:t>оборудования</a:t>
            </a:r>
            <a:r>
              <a:rPr lang="en-US" sz="1400"/>
              <a:t> </a:t>
            </a:r>
            <a:r>
              <a:rPr lang="en-US" sz="1400"/>
              <a:t>убежищ</a:t>
            </a:r>
            <a:r>
              <a:rPr lang="en-US" sz="1400"/>
              <a:t> </a:t>
            </a:r>
            <a:r>
              <a:rPr lang="en-US" sz="1400"/>
              <a:t>в</a:t>
            </a:r>
            <a:r>
              <a:rPr lang="en-US" sz="1400"/>
              <a:t> </a:t>
            </a:r>
            <a:r>
              <a:rPr lang="en-US" sz="1400"/>
              <a:t>подвальных</a:t>
            </a:r>
            <a:r>
              <a:rPr lang="en-US" sz="1400"/>
              <a:t> </a:t>
            </a:r>
            <a:r>
              <a:rPr lang="en-US" sz="1400"/>
              <a:t>помещениях</a:t>
            </a:r>
            <a:r>
              <a:rPr lang="en-US" sz="1400"/>
              <a:t> </a:t>
            </a:r>
            <a:r>
              <a:rPr lang="en-US" sz="1400"/>
              <a:t>с</a:t>
            </a:r>
            <a:r>
              <a:rPr lang="en-US" sz="1400"/>
              <a:t> </a:t>
            </a:r>
            <a:r>
              <a:rPr lang="en-US" sz="1400"/>
              <a:t>системами</a:t>
            </a:r>
            <a:r>
              <a:rPr lang="en-US" sz="1400"/>
              <a:t> </a:t>
            </a:r>
            <a:r>
              <a:rPr lang="en-US" sz="1400"/>
              <a:t>фильтровентиляции</a:t>
            </a:r>
            <a:r>
              <a:rPr lang="en-US" sz="1400"/>
              <a:t> </a:t>
            </a:r>
            <a:r>
              <a:rPr lang="en-US" sz="1400"/>
              <a:t>и</a:t>
            </a:r>
            <a:r>
              <a:rPr lang="en-US" sz="1400"/>
              <a:t> </a:t>
            </a:r>
            <a:r>
              <a:rPr lang="en-US" sz="1400" b="1" i="1"/>
              <a:t>созданием</a:t>
            </a:r>
            <a:r>
              <a:rPr lang="en-US" sz="1400" b="1" i="1"/>
              <a:t> </a:t>
            </a:r>
            <a:r>
              <a:rPr lang="en-US" sz="1400" b="1" i="1"/>
              <a:t>запасов</a:t>
            </a:r>
            <a:r>
              <a:rPr lang="en-US" sz="1400" b="1" i="1"/>
              <a:t> </a:t>
            </a:r>
            <a:r>
              <a:rPr lang="en-US" sz="1400" b="1" i="1"/>
              <a:t>средств</a:t>
            </a:r>
            <a:r>
              <a:rPr lang="en-US" sz="1400" b="1" i="1"/>
              <a:t> </a:t>
            </a:r>
            <a:r>
              <a:rPr lang="en-US" sz="1400" b="1" i="1"/>
              <a:t>защиты</a:t>
            </a:r>
            <a:r>
              <a:rPr lang="ru-RU" sz="1400" b="1" i="1"/>
              <a:t> для </a:t>
            </a:r>
            <a:r>
              <a:rPr lang="en-US" sz="1400" b="1" i="1"/>
              <a:t>100% </a:t>
            </a:r>
            <a:r>
              <a:rPr lang="ru-RU" sz="1400" b="1" i="1"/>
              <a:t>персонала и жителей </a:t>
            </a:r>
            <a:r>
              <a:rPr lang="ru-RU" sz="1400" b="1" i="1"/>
              <a:t>в </a:t>
            </a:r>
            <a:r>
              <a:rPr lang="ru-RU" sz="1400" b="1" i="1"/>
              <a:t>н.п</a:t>
            </a:r>
            <a:r>
              <a:rPr lang="ru-RU" sz="1400" b="1" i="1"/>
              <a:t>. Перекаты</a:t>
            </a:r>
            <a:r>
              <a:rPr lang="en-US" sz="1400" b="1" i="1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552753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Инженерно-технические мероприятия: </a:t>
            </a:r>
            <a:endParaRPr/>
          </a:p>
        </p:txBody>
      </p:sp>
      <p:sp>
        <p:nvSpPr>
          <p:cNvPr id="658794996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18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253464275" name="Google Shape;36;p6"/>
          <p:cNvSpPr txBox="1">
            <a:spLocks noGrp="1"/>
          </p:cNvSpPr>
          <p:nvPr>
            <p:ph type="body" idx="1"/>
          </p:nvPr>
        </p:nvSpPr>
        <p:spPr bwMode="auto">
          <a:xfrm>
            <a:off x="438149" y="916940"/>
            <a:ext cx="8264525" cy="3406775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1"/>
              <a:t>В</a:t>
            </a:r>
            <a:r>
              <a:rPr lang="en-US" sz="1400" b="1" i="1"/>
              <a:t> </a:t>
            </a:r>
            <a:r>
              <a:rPr lang="en-US" sz="1400" b="1" i="1"/>
              <a:t>радиусе</a:t>
            </a:r>
            <a:r>
              <a:rPr lang="en-US" sz="1400" b="1" i="1"/>
              <a:t> r</a:t>
            </a:r>
            <a:r>
              <a:rPr lang="en-US" sz="1400" b="1" i="1"/>
              <a:t>₁</a:t>
            </a:r>
            <a:r>
              <a:rPr lang="en-US" sz="1400" b="1" i="1"/>
              <a:t> = 523,51 </a:t>
            </a:r>
            <a:r>
              <a:rPr lang="en-US" sz="1400" b="1" i="1"/>
              <a:t>м</a:t>
            </a:r>
            <a:r>
              <a:rPr lang="en-US" sz="1400" b="1" i="1"/>
              <a:t> </a:t>
            </a:r>
            <a:r>
              <a:rPr lang="en-US" sz="1400"/>
              <a:t>- </a:t>
            </a:r>
            <a:r>
              <a:rPr lang="en-US" sz="1400"/>
              <a:t>зона</a:t>
            </a:r>
            <a:r>
              <a:rPr lang="en-US" sz="1400"/>
              <a:t> </a:t>
            </a:r>
            <a:r>
              <a:rPr lang="en-US" sz="1400"/>
              <a:t>средних</a:t>
            </a:r>
            <a:r>
              <a:rPr lang="en-US" sz="1400"/>
              <a:t> </a:t>
            </a:r>
            <a:r>
              <a:rPr lang="en-US" sz="1400"/>
              <a:t>разрушений</a:t>
            </a:r>
            <a:r>
              <a:rPr lang="en-US" sz="1400"/>
              <a:t>: </a:t>
            </a:r>
            <a:r>
              <a:rPr lang="en-US" sz="1400"/>
              <a:t>приоритетное</a:t>
            </a:r>
            <a:r>
              <a:rPr lang="en-US" sz="1400"/>
              <a:t> </a:t>
            </a:r>
            <a:r>
              <a:rPr lang="en-US" sz="1400"/>
              <a:t>усиление</a:t>
            </a:r>
            <a:r>
              <a:rPr lang="en-US" sz="1400"/>
              <a:t> </a:t>
            </a:r>
            <a:r>
              <a:rPr lang="en-US" sz="1400"/>
              <a:t>конструкций</a:t>
            </a:r>
            <a:r>
              <a:rPr lang="en-US" sz="1400"/>
              <a:t>, </a:t>
            </a:r>
            <a:r>
              <a:rPr lang="en-US" sz="1400"/>
              <a:t>противопожарная</a:t>
            </a:r>
            <a:r>
              <a:rPr lang="en-US" sz="1400"/>
              <a:t> </a:t>
            </a:r>
            <a:r>
              <a:rPr lang="en-US" sz="1400"/>
              <a:t>защита</a:t>
            </a:r>
            <a:r>
              <a:rPr lang="ru-RU" sz="1400"/>
              <a:t>.</a:t>
            </a:r>
            <a:endParaRPr lang="en-US" sz="1400" b="1" i="1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1"/>
              <a:t>В</a:t>
            </a:r>
            <a:r>
              <a:rPr lang="en-US" sz="1400" b="1" i="1"/>
              <a:t> </a:t>
            </a:r>
            <a:r>
              <a:rPr lang="en-US" sz="1400" b="1" i="1"/>
              <a:t>радиусе</a:t>
            </a:r>
            <a:r>
              <a:rPr lang="en-US" sz="1400" b="1" i="1"/>
              <a:t> r</a:t>
            </a:r>
            <a:r>
              <a:rPr lang="en-US" sz="1400" b="1" i="1"/>
              <a:t>₂</a:t>
            </a:r>
            <a:r>
              <a:rPr lang="en-US" sz="1400" b="1" i="1"/>
              <a:t> = 889,967 </a:t>
            </a:r>
            <a:r>
              <a:rPr lang="en-US" sz="1400" b="1" i="1"/>
              <a:t>м</a:t>
            </a:r>
            <a:r>
              <a:rPr lang="en-US" sz="1400" b="1" i="1"/>
              <a:t> </a:t>
            </a:r>
            <a:r>
              <a:rPr lang="en-US" sz="1400"/>
              <a:t>- </a:t>
            </a:r>
            <a:r>
              <a:rPr lang="en-US" sz="1400"/>
              <a:t>зона</a:t>
            </a:r>
            <a:r>
              <a:rPr lang="en-US" sz="1400"/>
              <a:t> </a:t>
            </a:r>
            <a:r>
              <a:rPr lang="en-US" sz="1400"/>
              <a:t>слабых</a:t>
            </a:r>
            <a:r>
              <a:rPr lang="en-US" sz="1400"/>
              <a:t> </a:t>
            </a:r>
            <a:r>
              <a:rPr lang="en-US" sz="1400"/>
              <a:t>разрушений</a:t>
            </a:r>
            <a:r>
              <a:rPr lang="en-US" sz="1400"/>
              <a:t>: </a:t>
            </a:r>
            <a:r>
              <a:rPr lang="en-US" sz="1400"/>
              <a:t>стандартные</a:t>
            </a:r>
            <a:r>
              <a:rPr lang="en-US" sz="1400"/>
              <a:t> </a:t>
            </a:r>
            <a:r>
              <a:rPr lang="en-US" sz="1400"/>
              <a:t>меры</a:t>
            </a:r>
            <a:r>
              <a:rPr lang="en-US" sz="1400"/>
              <a:t> </a:t>
            </a:r>
            <a:r>
              <a:rPr lang="en-US" sz="1400"/>
              <a:t>укрепления</a:t>
            </a:r>
            <a:r>
              <a:rPr lang="en-US" sz="1400"/>
              <a:t>, </a:t>
            </a:r>
            <a:r>
              <a:rPr lang="en-US" sz="1400"/>
              <a:t>защита</a:t>
            </a:r>
            <a:r>
              <a:rPr lang="en-US" sz="1400"/>
              <a:t> </a:t>
            </a:r>
            <a:r>
              <a:rPr lang="en-US" sz="1400"/>
              <a:t>остекления</a:t>
            </a:r>
            <a:r>
              <a:rPr lang="ru-RU" sz="1400"/>
              <a:t>.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4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 b="1" i="1"/>
              <a:t>Оборудование защитных сооружений:</a:t>
            </a:r>
            <a:endParaRPr lang="ru-RU" sz="14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/>
              <a:t>Приспособление</a:t>
            </a:r>
            <a:r>
              <a:rPr lang="en-US" sz="1400"/>
              <a:t> </a:t>
            </a:r>
            <a:r>
              <a:rPr lang="en-US" sz="1400"/>
              <a:t>подвальных</a:t>
            </a:r>
            <a:r>
              <a:rPr lang="en-US" sz="1400"/>
              <a:t> </a:t>
            </a:r>
            <a:r>
              <a:rPr lang="en-US" sz="1400"/>
              <a:t>помещений</a:t>
            </a:r>
            <a:r>
              <a:rPr lang="en-US" sz="1400"/>
              <a:t> </a:t>
            </a:r>
            <a:r>
              <a:rPr lang="en-US" sz="1400"/>
              <a:t>под</a:t>
            </a:r>
            <a:r>
              <a:rPr lang="en-US" sz="1400"/>
              <a:t> </a:t>
            </a:r>
            <a:r>
              <a:rPr lang="en-US" sz="1400"/>
              <a:t>убежища</a:t>
            </a:r>
            <a:r>
              <a:rPr lang="en-US" sz="1400"/>
              <a:t> </a:t>
            </a:r>
            <a:r>
              <a:rPr lang="en-US" sz="1400"/>
              <a:t>с</a:t>
            </a:r>
            <a:r>
              <a:rPr lang="en-US" sz="1400"/>
              <a:t> </a:t>
            </a:r>
            <a:r>
              <a:rPr lang="en-US" sz="1400"/>
              <a:t>коэффициентом</a:t>
            </a:r>
            <a:r>
              <a:rPr lang="en-US" sz="1400"/>
              <a:t> </a:t>
            </a:r>
            <a:endParaRPr/>
          </a:p>
          <a:p>
            <a:pPr lvl="1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/>
              <a:t>ослабления</a:t>
            </a:r>
            <a:r>
              <a:rPr lang="en-US" sz="1400"/>
              <a:t> </a:t>
            </a:r>
            <a:r>
              <a:rPr lang="en-US" sz="1400"/>
              <a:t>Косл</a:t>
            </a:r>
            <a:r>
              <a:rPr lang="en-US" sz="1400"/>
              <a:t> ≥ 7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4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1"/>
              <a:t>Организационные</a:t>
            </a:r>
            <a:r>
              <a:rPr lang="en-US" sz="1400" b="1" i="1"/>
              <a:t> </a:t>
            </a:r>
            <a:r>
              <a:rPr lang="en-US" sz="1400" b="1" i="1"/>
              <a:t>мероприятия</a:t>
            </a:r>
            <a:r>
              <a:rPr lang="en-US" sz="1400" b="1" i="1"/>
              <a:t>:</a:t>
            </a:r>
            <a:endParaRPr lang="en-US" sz="14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/>
              <a:t>Разработка</a:t>
            </a:r>
            <a:r>
              <a:rPr lang="en-US" sz="1400"/>
              <a:t> </a:t>
            </a:r>
            <a:r>
              <a:rPr lang="en-US" sz="1400"/>
              <a:t>системы</a:t>
            </a:r>
            <a:r>
              <a:rPr lang="en-US" sz="1400"/>
              <a:t> </a:t>
            </a:r>
            <a:r>
              <a:rPr lang="en-US" sz="1400"/>
              <a:t>оповещения</a:t>
            </a:r>
            <a:r>
              <a:rPr lang="en-US" sz="1400"/>
              <a:t> </a:t>
            </a:r>
            <a:r>
              <a:rPr lang="en-US" sz="1400"/>
              <a:t>с</a:t>
            </a:r>
            <a:r>
              <a:rPr lang="en-US" sz="1400"/>
              <a:t> </a:t>
            </a:r>
            <a:r>
              <a:rPr lang="en-US" sz="1400"/>
              <a:t>дублирующими</a:t>
            </a:r>
            <a:r>
              <a:rPr lang="en-US" sz="1400"/>
              <a:t> </a:t>
            </a:r>
            <a:r>
              <a:rPr lang="en-US" sz="1400"/>
              <a:t>каналами</a:t>
            </a:r>
            <a:r>
              <a:rPr lang="en-US" sz="1400"/>
              <a:t> </a:t>
            </a:r>
            <a:r>
              <a:rPr lang="en-US" sz="1400"/>
              <a:t>связи</a:t>
            </a:r>
            <a:endParaRPr lang="en-US" sz="1400"/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/>
              <a:t>Проведение</a:t>
            </a:r>
            <a:r>
              <a:rPr lang="en-US" sz="1400"/>
              <a:t> </a:t>
            </a:r>
            <a:r>
              <a:rPr lang="en-US" sz="1400"/>
              <a:t>регулярных</a:t>
            </a:r>
            <a:r>
              <a:rPr lang="en-US" sz="1400"/>
              <a:t> </a:t>
            </a:r>
            <a:r>
              <a:rPr lang="en-US" sz="1400"/>
              <a:t>учений</a:t>
            </a:r>
            <a:r>
              <a:rPr lang="en-US" sz="1400"/>
              <a:t> </a:t>
            </a:r>
            <a:r>
              <a:rPr lang="en-US" sz="1400"/>
              <a:t>по</a:t>
            </a:r>
            <a:r>
              <a:rPr lang="en-US" sz="1400"/>
              <a:t> </a:t>
            </a:r>
            <a:r>
              <a:rPr lang="en-US" sz="1400"/>
              <a:t>эвакуации</a:t>
            </a:r>
            <a:r>
              <a:rPr lang="en-US" sz="1400"/>
              <a:t> </a:t>
            </a:r>
            <a:r>
              <a:rPr lang="en-US" sz="1400"/>
              <a:t>и</a:t>
            </a:r>
            <a:r>
              <a:rPr lang="en-US" sz="1400"/>
              <a:t> </a:t>
            </a:r>
            <a:r>
              <a:rPr lang="en-US" sz="1400"/>
              <a:t>противоаварийным</a:t>
            </a:r>
            <a:r>
              <a:rPr lang="en-US" sz="1400"/>
              <a:t> </a:t>
            </a:r>
            <a:r>
              <a:rPr lang="en-US" sz="1400"/>
              <a:t>действиям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79620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42927" y="337700"/>
            <a:ext cx="6256200" cy="4407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Литература </a:t>
            </a:r>
            <a:endParaRPr/>
          </a:p>
        </p:txBody>
      </p:sp>
      <p:sp>
        <p:nvSpPr>
          <p:cNvPr id="1509260003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704250" y="481658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19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500890244" name="Прямоугольник 1"/>
          <p:cNvSpPr/>
          <p:nvPr/>
        </p:nvSpPr>
        <p:spPr bwMode="auto">
          <a:xfrm>
            <a:off x="347072" y="1012987"/>
            <a:ext cx="856327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defRPr/>
            </a:pPr>
            <a:r>
              <a:rPr lang="ru-RU" sz="1600">
                <a:latin typeface="Times New Roman"/>
              </a:rPr>
              <a:t>1. Воздвиженский Ю. М., Панихидников С. А. Безопасность жизнедеятельности на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предприятиях связи в условиях чрезвычайных ситуациях / СПбГУТ. – СПб., 2013.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2. Воздвиженский Ю.М. Методические рекомендации для практических занятий и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задания для студентов всех направлений (специальностей) по оценке устойчивости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функционирования объектов связи в чрезвычайных ситуациях/Ю. М. Воздвиженский, В. А.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Феоктистов, В. К. Иванов. СПбГУТ, – СПб., 2014.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3. Воздвиженский Ю. М. Безопасность жизнедеятельности на предприятиях связи /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Ю.М. Воздвиженский, Н. Н Короткова, Е. Н. Костромина, С.А. Овчинников, Г. Н. </a:t>
            </a:r>
            <a:r>
              <a:rPr lang="ru-RU" sz="1600">
                <a:latin typeface="Times New Roman"/>
              </a:rPr>
              <a:t>Бучин</a:t>
            </a:r>
            <a:r>
              <a:rPr lang="ru-RU" sz="1600">
                <a:latin typeface="Times New Roman"/>
              </a:rPr>
              <a:t>.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СПбГУТ, – СПб., 2009.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4. Воздвиженский Ю. М., Короткова Н.А. Безопасность жизнедеятельности. Некоторые</a:t>
            </a:r>
            <a:br>
              <a:rPr lang="ru-RU" sz="1600">
                <a:latin typeface="Times New Roman"/>
              </a:rPr>
            </a:br>
            <a:r>
              <a:rPr lang="ru-RU" sz="1600">
                <a:latin typeface="Times New Roman"/>
              </a:rPr>
              <a:t>аспекты психологии поведения человека в чрезвычайных ситуациях./ СПбГУТ. –СПб., 2005.</a:t>
            </a:r>
            <a:endParaRPr/>
          </a:p>
          <a:p>
            <a:pPr indent="457200">
              <a:defRPr/>
            </a:pPr>
            <a:r>
              <a:rPr lang="ru-RU" sz="1600">
                <a:latin typeface="Times New Roman"/>
              </a:rPr>
              <a:t>5. Нормы радиационной безопасности (НРБ-99): Гигиенические нормативы. – М.: Центр санитарно-эпидемиологического нормирования, гигиенической сертификации и экспертизы Минздрава России, 1999. – 116 с.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363831" name="Google Shape;27;p5"/>
          <p:cNvSpPr txBox="1">
            <a:spLocks noGrp="1"/>
          </p:cNvSpPr>
          <p:nvPr>
            <p:ph type="title"/>
          </p:nvPr>
        </p:nvSpPr>
        <p:spPr bwMode="auto">
          <a:xfrm>
            <a:off x="410014" y="1383029"/>
            <a:ext cx="5631300" cy="1307400"/>
          </a:xfrm>
          <a:prstGeom prst="rect">
            <a:avLst/>
          </a:prstGeom>
        </p:spPr>
        <p:txBody>
          <a:bodyPr spcFirstLastPara="1" wrap="square" lIns="19025" tIns="19025" rIns="19025" bIns="190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000" b="1"/>
              <a:t>Спасибо за внимание</a:t>
            </a:r>
            <a:endParaRPr sz="4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4000" b="1"/>
          </a:p>
        </p:txBody>
      </p:sp>
      <p:sp>
        <p:nvSpPr>
          <p:cNvPr id="796293459" name="Google Shape;28;p5"/>
          <p:cNvSpPr txBox="1">
            <a:spLocks noGrp="1"/>
          </p:cNvSpPr>
          <p:nvPr>
            <p:ph type="body" idx="1"/>
          </p:nvPr>
        </p:nvSpPr>
        <p:spPr bwMode="auto">
          <a:xfrm>
            <a:off x="293279" y="4175344"/>
            <a:ext cx="7810500" cy="4464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/>
              <a:t>дата</a:t>
            </a:r>
            <a:endParaRPr sz="2200"/>
          </a:p>
        </p:txBody>
      </p:sp>
      <p:sp>
        <p:nvSpPr>
          <p:cNvPr id="1354490138" name="Google Shape;29;p5"/>
          <p:cNvSpPr txBox="1">
            <a:spLocks noGrp="1"/>
          </p:cNvSpPr>
          <p:nvPr>
            <p:ph type="sldNum" idx="12"/>
          </p:nvPr>
        </p:nvSpPr>
        <p:spPr bwMode="auto">
          <a:xfrm>
            <a:off x="8709450" y="4822031"/>
            <a:ext cx="206100" cy="145500"/>
          </a:xfrm>
          <a:prstGeom prst="rect">
            <a:avLst/>
          </a:prstGeom>
        </p:spPr>
        <p:txBody>
          <a:bodyPr spcFirstLastPara="1" wrap="square" lIns="19025" tIns="19025" rIns="19025" bIns="190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/>
            </a:pPr>
            <a:fld id="{00000000-1234-1234-1234-123412341234}" type="slidenum">
              <a:rPr lang="en-US"/>
              <a:t>20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</dc:title>
  <dc:creator/>
  <cp:lastModifiedBy/>
  <cp:revision>79</cp:revision>
  <dcterms:created xsi:type="dcterms:W3CDTF">2025-11-12T07:27:00Z</dcterms:created>
  <dcterms:modified xsi:type="dcterms:W3CDTF">2025-12-02T11:31:01Z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BE353808599F40A197F462CC795B46B4_12</vt:lpwstr>
  </property>
  <property fmtid="{D5CDD505-2E9C-101B-9397-08002B2CF9AE}" pid="3" name="KSOProductBuildVer">
    <vt:lpwstr>1049-12.2.0.23155</vt:lpwstr>
  </property>
</Properties>
</file>